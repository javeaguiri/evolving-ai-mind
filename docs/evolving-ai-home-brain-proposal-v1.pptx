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af44bcb-6e63-bd8c-c845-9c53f7624322}">
          <p14:sldIdLst>
            <p14:sldId id="256"/>
            <p14:sldId id="257"/>
            <p14:sldId id="258"/>
          </p14:sldIdLst>
        </p14:section>
        <p14:section name="Vision" id="{ac1a17e8-bf6b-7f1c-fc98-58a5e09b1923}">
          <p14:sldIdLst>
            <p14:sldId id="259"/>
            <p14:sldId id="260"/>
            <p14:sldId id="261"/>
          </p14:sldIdLst>
        </p14:section>
        <p14:section name="Market" id="{d070449c-74c7-1215-a820-14aaff303615}">
          <p14:sldIdLst>
            <p14:sldId id="262"/>
            <p14:sldId id="263"/>
            <p14:sldId id="264"/>
            <p14:sldId id="265"/>
            <p14:sldId id="266"/>
            <p14:sldId id="267"/>
            <p14:sldId id="268"/>
            <p14:sldId id="269"/>
            <p14:sldId id="270"/>
          </p14:sldIdLst>
        </p14:section>
        <p14:section name="Architecture and cost" id="{43b6b406-3fcf-e358-0338-a7169d8cd21f}">
          <p14:sldIdLst>
            <p14:sldId id="271"/>
            <p14:sldId id="272"/>
            <p14:sldId id="273"/>
            <p14:sldId id="274"/>
          </p14:sldIdLst>
        </p14:section>
        <p14:section name="Future work" id="{bee409fb-e4d8-6d7d-1ba5-20870aaeea0a}">
          <p14:sldIdLst>
            <p14:sldId id="275"/>
            <p14:sldId id="276"/>
            <p14:sldId id="277"/>
          </p14:sldIdLst>
        </p14:section>
        <p14:section name="Business and partnership" id="{7d181929-34e7-35bf-a22a-46ac700bc81c}">
          <p14:sldIdLst>
            <p14:sldId id="278"/>
            <p14:sldId id="279"/>
            <p14:sldId id="280"/>
          </p14:sldIdLst>
        </p14:section>
        <p14:section name="Close" id="{97c0063b-80dc-1a40-0656-f5a9ffa1f52a}">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Complete</c:v>
                </c:pt>
              </c:strCache>
            </c:strRef>
          </c:tx>
          <c:spPr>
            <a:solidFill>
              <a:srgbClr val="2F7F76"/>
            </a:solidFill>
            <a:effectLst/>
          </c:spPr>
          <c:invertIfNegative val="0"/>
          <c:dLbls>
            <c:numFmt formatCode="&quot;    &quot;0&quot;%&quot;" sourceLinked="0"/>
            <c:txPr>
              <a:bodyPr/>
              <a:lstStyle/>
              <a:p>
                <a:pPr>
                  <a:defRPr b="0" i="0" strike="noStrike" sz="1400" u="none">
                    <a:solidFill>
                      <a:srgbClr val="1B2B2A"/>
                    </a:solidFill>
                    <a:latin typeface="Arial"/>
                  </a:defRPr>
                </a:pPr>
              </a:p>
            </c:txPr>
            <c:showLegendKey val="0"/>
            <c:showVal val="1"/>
            <c:showCatName val="0"/>
            <c:showSerName val="0"/>
            <c:showPercent val="0"/>
            <c:showBubbleSize val="0"/>
            <c:showLeaderLines val="0"/>
          </c:dLbls>
          <c:cat>
            <c:multiLvlStrRef>
              <c:f>Sheet1!$A$2:$A$8</c:f>
              <c:multiLvlStrCache>
                <c:ptCount val="7"/>
                <c:lvl>
                  <c:pt idx="0">
                    <c:v>Architecture (Lambda, SQS, three tiers)</c:v>
                  </c:pt>
                  <c:pt idx="1">
                    <c:v>Database design (entities, schemas, intelligence tables, workflow tables)</c:v>
                  </c:pt>
                  <c:pt idx="2">
                    <c:v>Process layer (LLM, intents, workflow steps)</c:v>
                  </c:pt>
                  <c:pt idx="3">
                    <c:v>Agentic process</c:v>
                  </c:pt>
                  <c:pt idx="4">
                    <c:v>Experience: Slack</c:v>
                  </c:pt>
                  <c:pt idx="5">
                    <c:v>Service layer: tables, entities, domains</c:v>
                  </c:pt>
                  <c:pt idx="6">
                    <c:v>Start const. Home brain app and ext.
(AWS S3, documents, images, voice, Alexa, ID firewall)</c:v>
                  </c:pt>
                </c:lvl>
              </c:multiLvlStrCache>
            </c:multiLvlStrRef>
          </c:cat>
          <c:val>
            <c:numRef>
              <c:f>Sheet1!$B$2:$B$8</c:f>
              <c:numCache>
                <c:formatCode>General</c:formatCode>
                <c:ptCount val="7"/>
                <c:pt idx="0">
                  <c:v>100</c:v>
                </c:pt>
                <c:pt idx="1">
                  <c:v>85</c:v>
                </c:pt>
                <c:pt idx="2">
                  <c:v>98</c:v>
                </c:pt>
                <c:pt idx="3">
                  <c:v>95</c:v>
                </c:pt>
                <c:pt idx="4">
                  <c:v>95</c:v>
                </c:pt>
                <c:pt idx="5">
                  <c:v>85</c:v>
                </c:pt>
                <c:pt idx="6">
                  <c:v>0</c:v>
                </c:pt>
              </c:numCache>
            </c:numRef>
          </c:val>
        </c:ser>
        <c:dLbls>
          <c:numFmt formatCode="&quot;    &quot;0&quot;%&quot;" sourceLinked="0"/>
          <c:txPr>
            <a:bodyPr/>
            <a:lstStyle/>
            <a:p>
              <a:pPr>
                <a:defRPr b="0" i="0" strike="noStrike" sz="1400" u="none">
                  <a:solidFill>
                    <a:srgbClr val="1B2B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B2A"/>
                </a:solidFill>
                <a:latin typeface="Arial"/>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Draft in English for iteration; the final deck will be translated to Spanish.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Credentials: 25+ years of enterprise software development (Java, REST services, relational databases), 10 years of SaaS, 5 years of cloud development and AWS. Proof: the open source project at github.com/javeaguiri/evolving-ai-mind. Repository facts (1,316 commits, AGPL-3.0, AWS serverless stack, $10-14 a month AWS cost) were read from the public page and README in Oct 2026; the commit count will change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Self-assessed completion by layer: architecture 100%; database design (entity and schema registration, intelligence tables such as step types, intent map and configuration, and workflow tables) 85%, reduced to account for the multi-tenant changes; process layer (LLM integration, intent processor, workflow step processor) 98%; agentic process 95%, with the last 5% being the switch of domain creation from workflow to agentic; Slack experience 95%; service layer tables, entities and domains 85%; construction of the Home brain app and extensions (custom app and website, plus the items below) is at 0%, with the app structure ready. Not started (0%): the Home brain app and extensions bar covers integration with AWS S3 for files and media; processing and generating documents and images; voice recognition and Alexa integration; and the identity firewall for AI calls (stable pseudonym per user, user-id in call metadata, separate identity vault). Video is out of scope for now. These mirror the product-experience future-work slide. Remaining work also includes adapting the system to multi-tenant. Testing covers unit tests, health pings, workflow simulation and LLM diagnostic testing (workflow replay, transcript follow-up queries and troubleshooting); no percentage was given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replace a patchwork of single-purpose apps with one natural-language assistant that covers the whole household.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control is the entry point, but it is one of many domains the same assistant handles.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scenarios built from the use cases you described: planning, home control, kids learning, TV and finances, and anticipating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space has its own slide next, with prices and features checked in public sources in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Oct 2026: OpenAI dots announcement (Sept 29, 2026) and the author’s own price check; xAI Grok Bot coverage (launched Aug 2026; user reports of $30 and $300 plans, one comparison lists $120 per seat); Meta Muse launched Sept 8, 2026 with a free tier, Power $20 and Maximum $100, US and Canada; Instinct (Spear Street Technology) is invite-only, with a reported $1B Series C and privacy concerns. Prices for Grok Bot and Instinct conflict across sources. Privacy facts on Muse: Meta says Muse conversations and VM data are not shared with its ad systems, but that is a policy commitment rather than a technical barrier; interactions may train models unless the user opts out; a Surfshark analysis found Muse discloses potential collection of 31 of Apple’s 35 data types versus an average of 13 for major AI apps. Avoid saying Meta sells personal data: say it is ad-funded.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come from the OpenAI announcement dated Sept 29, 2026. The page does not say whether Spain is an eligible market, and the roughly $200 a month price for dots was checked by the author in Oct 2026; the Business Premium price has not been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Oct 2026: Alexa+ is free with Prime and $19.99 a month without in the US; Google Home Premium Standard is €10 a month and Advanced €18 in the Google EU store; Apple’s AI Siri came with iOS 27 and the home hub is still unannounced (reports of internal testing); Home Assistant is open source with an optional Nabu Casa Cloud at €7.50 a month in the EU.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Oct 2026: Notion Plus $10 and Business $20 per member per month billed annually, agent credits about $10 per 1,000; Zapier Free 100 tasks, Professional from $19.99 a month billed annually for 750 tasks, agents priced separately; Make Free 1,000 credits and Core about $9 a month annually for 10,000 credits; IFTTT Free 2 applets, Pro $2.99, Pro+ about $9 (one source says $14.99).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checked Oct 2026: Cozi Free, Gold $39 and Max $79 a year; Skylight screens about $160, $300 and $600 with Plus at $39 to $79 a year; SmartThings is a free app with hubs from about $35 to $150, and Samsung plans paid API tiers from Oct 2026 starting at $4.99 a month for individual developers; Matter 1.5 adds camera support and is backed by the major platforms. SmartThings API fees matter if we bridge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Smart-home platforms are positioned as integration partners (device bridges) rather than competitors. The roughly 10x lower fee is measured against dots (about $200 a month, checked Oct 2026). Meta Muse has a free tier and a $20 Power plan, so against Muse the price is on 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the competitors’ services are paid for by something other than the household alone. Meta earns almost all of its revenue from advertising and says Muse data is kept out of its ad systems, which is a policy commitment rather than a technical barrier; Muse may use interactions to train models unless the user opts out. Alexa+ is bundled with Prime; Google sells Home Premium as a subscription; Apple sells hardware. Our model is subscription-only. Caution: avoid claiming that anyone sells personal data unless a source says so, and avoid claiming data never reaches AI providers, since requests do go to model providers; the safe claim is no ads and no sale of household data. Identity firewall (in development, part of Home brain app and extensions): AI providers would see a stable pseudonym per user (an opaque keyed hash passed as the user-id in call metadata, as provider terms require), not a person or a home; identities and transcripts stay in a separate access-controlled vault and can be provided to authorities under valid legal process. This is pseudonymity, not anonymity: users may knowingly type personal details into a conversation and the system does not try to stop that. Needs legal review (provider terms, GDPR, disclosure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Differentiators drawn from the system 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architecture for a non-technical audience. Serverless and asynchronous, so cost scales with use. Memory (episodic, semantic and procedural) is built and sits in the Process tier. The relational database is being made multi-tenant: one shared RDS with a private schema per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Homes create their own tailored domains. Platform tables (PGC_) are shared across all homes; domain tables (PGD_) such as inventory, stock portfolios and study sessions or flashcards live in each home’s own schema so two homes never collide. Each home has its own database user with access only to its schema, all on one enterprise RDS instance. Scaling path: schema per home through the MVP and first rollout; later options for thousands of homes are shared tables with a home id and row-level security for common domains, a flexible records table for custom domains, or splitting homes across several databases. Prefixing table names with a user id does not help, since the total table count is what strains Postgres.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subscription target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€20/month subscription, actual cost down to €10/month. If €20 includes 21% Spanish VAT, net revenue is about €16.50 per home. ROI is deliberately not modelled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 identified: own app/website; always-on; document, image and voice input; image, document and speech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to 100-10,000 homes is open: tenant model, operations, support, and per-home cost all need work. Identity firewall (in development, part of Home brain app and extensions): AI providers would see a stable pseudonym per user (an opaque keyed hash passed as the user-id in call metadata, as provider terms require), not a person or a home; identities and transcripts stay in a separate access-controlled vault and can be provided to authorities under valid legal process. This is pseudonymity, not anonymity: users may knowingly type personal details into a conversation and the system does not try to stop that. Needs legal review (provider terms, GDPR, disclosure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partnership agreement, MVP complete, rollout to a small known base (employees, friends, testers), go-live, and marketing and distribution. Feedback and hardening is a gate before go-live, tied to confirming the real cost per home against the target. Exit criteria are proposals. The legal and privacy review covers AI provider terms, GDPR roles, and the process for responding to legal requests, including the identity firewall.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ROI is intentionally not shown: it depends on the partnership structure, which is the open question for David.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David sees this as a differentiator for building or reforming houses, these are the ways it could fit the plan. All options are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ROI model depends on the answers to these questions. Licensing: the repository is AGPL-3.0, which requires sharing source for modified versions run as a network service; as the copyright holder, a separate commercial license is an option. This should be confirmed with a lawyer.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6309360" cy="16459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840480"/>
            <a:ext cx="6126480" cy="137160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evolving-ai-mind  ·  Proposal draft v1</a:t>
            </a:r>
            <a:endParaRPr lang="en-US" sz="10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evolving-ai-mind  ·  Proposal draft v1</a:t>
            </a:r>
            <a:endParaRPr lang="en-US" sz="10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C4B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github.com/javeaguiri/evolving-ai-mind"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slideLayout" Target="../slideLayouts/slideLayout3.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3.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6309360" cy="365760"/>
          </a:xfrm>
          <a:prstGeom prst="rect">
            <a:avLst/>
          </a:prstGeom>
          <a:noFill/>
          <a:ln/>
        </p:spPr>
        <p:txBody>
          <a:bodyPr wrap="square" lIns="0" tIns="0" rIns="0" bIns="0" rtlCol="0" anchor="t"/>
          <a:lstStyle/>
          <a:p>
            <a:pPr indent="0" marL="0">
              <a:buNone/>
            </a:pPr>
            <a:r>
              <a:rPr lang="en-US" sz="1600" b="1" dirty="0">
                <a:solidFill>
                  <a:schemeClr val="accent4"/>
                </a:solidFill>
              </a:rPr>
              <a:t>evolving-ai-mind  ·  Proposal draft v1</a:t>
            </a:r>
            <a:endParaRPr lang="en-US" sz="1600" dirty="0"/>
          </a:p>
        </p:txBody>
      </p:sp>
      <p:sp>
        <p:nvSpPr>
          <p:cNvPr id="3" name="Text 0"/>
          <p:cNvSpPr/>
          <p:nvPr>
            <p:ph idx="100" type="title" hasCustomPrompt="1"/>
          </p:nvPr>
        </p:nvSpPr>
        <p:spPr>
          <a:xfrm>
            <a:off x="731520" y="2011680"/>
            <a:ext cx="6309360" cy="1645920"/>
          </a:xfrm>
          <a:prstGeom prst="rect">
            <a:avLst/>
          </a:prstGeom>
          <a:noFill/>
          <a:ln/>
        </p:spPr>
        <p:txBody>
          <a:bodyPr wrap="square" lIns="0" tIns="0" rIns="0" bIns="0" rtlCol="0" anchor="t"/>
          <a:lstStyle/>
          <a:p>
            <a:pPr algn="l" indent="0" marL="0">
              <a:buNone/>
            </a:pPr>
            <a:r>
              <a:rPr lang="en-US" sz="4800" b="1" dirty="0">
                <a:solidFill>
                  <a:schemeClr val="bg1"/>
                </a:solidFill>
              </a:rPr>
              <a:t>One assistant for the whole home</a:t>
            </a:r>
            <a:endParaRPr lang="en-US" sz="4800" dirty="0"/>
          </a:p>
        </p:txBody>
      </p:sp>
      <p:sp>
        <p:nvSpPr>
          <p:cNvPr id="4" name="Text 0"/>
          <p:cNvSpPr/>
          <p:nvPr>
            <p:ph idx="101" type="body" hasCustomPrompt="1"/>
          </p:nvPr>
        </p:nvSpPr>
        <p:spPr>
          <a:xfrm>
            <a:off x="731520" y="3840480"/>
            <a:ext cx="6126480" cy="1371600"/>
          </a:xfrm>
          <a:prstGeom prst="rect">
            <a:avLst/>
          </a:prstGeom>
          <a:noFill/>
          <a:ln/>
        </p:spPr>
        <p:txBody>
          <a:bodyPr wrap="square" lIns="0" tIns="0" rIns="0" bIns="0" rtlCol="0" anchor="t"/>
          <a:lstStyle/>
          <a:p>
            <a:pPr algn="l" indent="0" marL="0">
              <a:buNone/>
            </a:pPr>
            <a:r>
              <a:rPr lang="en-US" sz="2000" dirty="0">
                <a:solidFill>
                  <a:schemeClr val="accent3"/>
                </a:solidFill>
              </a:rPr>
              <a:t>A self-evolving assistant for homeowners and renters: home control, finances, planning, learning and more.</a:t>
            </a:r>
            <a:endParaRPr lang="en-US" sz="2000" dirty="0"/>
          </a:p>
        </p:txBody>
      </p:sp>
      <p:sp>
        <p:nvSpPr>
          <p:cNvPr id="5" name="Text 3"/>
          <p:cNvSpPr txBox="1"/>
          <p:nvPr/>
        </p:nvSpPr>
        <p:spPr>
          <a:xfrm>
            <a:off x="731520" y="6126480"/>
            <a:ext cx="3657600" cy="274320"/>
          </a:xfrm>
          <a:prstGeom prst="rect">
            <a:avLst/>
          </a:prstGeom>
          <a:noFill/>
          <a:ln/>
        </p:spPr>
        <p:txBody>
          <a:bodyPr wrap="square" lIns="0" tIns="0" rIns="0" bIns="0" rtlCol="0" anchor="t"/>
          <a:lstStyle/>
          <a:p>
            <a:pPr indent="0" marL="0">
              <a:buNone/>
            </a:pPr>
            <a:r>
              <a:rPr lang="en-US" sz="1200" dirty="0">
                <a:solidFill>
                  <a:schemeClr val="accent3"/>
                </a:solidFill>
              </a:rPr>
              <a:t>© Javea Guiri</a:t>
            </a:r>
            <a:endParaRPr lang="en-US" sz="1200" dirty="0"/>
          </a:p>
        </p:txBody>
      </p:sp>
      <p:sp>
        <p:nvSpPr>
          <p:cNvPr id="6" name="orbit-1"/>
          <p:cNvSpPr/>
          <p:nvPr/>
        </p:nvSpPr>
        <p:spPr>
          <a:xfrm>
            <a:off x="7772400" y="1691640"/>
            <a:ext cx="3474720" cy="3474720"/>
          </a:xfrm>
          <a:prstGeom prst="ellipse">
            <a:avLst/>
          </a:prstGeom>
          <a:ln w="12700">
            <a:solidFill>
              <a:schemeClr val="accent5"/>
            </a:solidFill>
            <a:prstDash val="dash"/>
          </a:ln>
        </p:spPr>
      </p:sp>
      <p:sp>
        <p:nvSpPr>
          <p:cNvPr id="7" name="line-2"/>
          <p:cNvSpPr/>
          <p:nvPr/>
        </p:nvSpPr>
        <p:spPr>
          <a:xfrm>
            <a:off x="9509760" y="1691640"/>
            <a:ext cx="0" cy="1737360"/>
          </a:xfrm>
          <a:prstGeom prst="line">
            <a:avLst/>
          </a:prstGeom>
          <a:noFill/>
          <a:ln w="19050">
            <a:solidFill>
              <a:schemeClr val="accent3"/>
            </a:solidFill>
            <a:prstDash val="solid"/>
          </a:ln>
        </p:spPr>
      </p:sp>
      <p:sp>
        <p:nvSpPr>
          <p:cNvPr id="8" name="line-3"/>
          <p:cNvSpPr/>
          <p:nvPr/>
        </p:nvSpPr>
        <p:spPr>
          <a:xfrm flipH="1">
            <a:off x="9509760" y="2560320"/>
            <a:ext cx="1504598" cy="868680"/>
          </a:xfrm>
          <a:prstGeom prst="line">
            <a:avLst/>
          </a:prstGeom>
          <a:noFill/>
          <a:ln w="19050">
            <a:solidFill>
              <a:schemeClr val="accent3"/>
            </a:solidFill>
            <a:prstDash val="solid"/>
          </a:ln>
        </p:spPr>
      </p:sp>
      <p:sp>
        <p:nvSpPr>
          <p:cNvPr id="9" name="line-4"/>
          <p:cNvSpPr/>
          <p:nvPr/>
        </p:nvSpPr>
        <p:spPr>
          <a:xfrm>
            <a:off x="9509760" y="3429000"/>
            <a:ext cx="1504598" cy="868680"/>
          </a:xfrm>
          <a:prstGeom prst="line">
            <a:avLst/>
          </a:prstGeom>
          <a:noFill/>
          <a:ln w="19050">
            <a:solidFill>
              <a:schemeClr val="accent3"/>
            </a:solidFill>
            <a:prstDash val="solid"/>
          </a:ln>
        </p:spPr>
      </p:sp>
      <p:sp>
        <p:nvSpPr>
          <p:cNvPr id="10" name="line-5"/>
          <p:cNvSpPr/>
          <p:nvPr/>
        </p:nvSpPr>
        <p:spPr>
          <a:xfrm>
            <a:off x="9509760" y="3429000"/>
            <a:ext cx="0" cy="1737360"/>
          </a:xfrm>
          <a:prstGeom prst="line">
            <a:avLst/>
          </a:prstGeom>
          <a:noFill/>
          <a:ln w="19050">
            <a:solidFill>
              <a:schemeClr val="accent3"/>
            </a:solidFill>
            <a:prstDash val="solid"/>
          </a:ln>
        </p:spPr>
      </p:sp>
      <p:sp>
        <p:nvSpPr>
          <p:cNvPr id="11" name="line-6"/>
          <p:cNvSpPr/>
          <p:nvPr/>
        </p:nvSpPr>
        <p:spPr>
          <a:xfrm flipH="1">
            <a:off x="8005162" y="3429000"/>
            <a:ext cx="1504598" cy="868680"/>
          </a:xfrm>
          <a:prstGeom prst="line">
            <a:avLst/>
          </a:prstGeom>
          <a:noFill/>
          <a:ln w="19050">
            <a:solidFill>
              <a:schemeClr val="accent3"/>
            </a:solidFill>
            <a:prstDash val="solid"/>
          </a:ln>
        </p:spPr>
      </p:sp>
      <p:sp>
        <p:nvSpPr>
          <p:cNvPr id="12" name="line-7"/>
          <p:cNvSpPr/>
          <p:nvPr/>
        </p:nvSpPr>
        <p:spPr>
          <a:xfrm>
            <a:off x="8005162" y="2560320"/>
            <a:ext cx="1504598" cy="868680"/>
          </a:xfrm>
          <a:prstGeom prst="line">
            <a:avLst/>
          </a:prstGeom>
          <a:noFill/>
          <a:ln w="19050">
            <a:solidFill>
              <a:schemeClr val="accent3"/>
            </a:solidFill>
            <a:prstDash val="solid"/>
          </a:ln>
        </p:spPr>
      </p:sp>
      <p:sp>
        <p:nvSpPr>
          <p:cNvPr id="13" name="icon-circle-8"/>
          <p:cNvSpPr/>
          <p:nvPr/>
        </p:nvSpPr>
        <p:spPr>
          <a:xfrm>
            <a:off x="9098280" y="1280160"/>
            <a:ext cx="822960" cy="822960"/>
          </a:xfrm>
          <a:prstGeom prst="ellipse">
            <a:avLst/>
          </a:prstGeom>
          <a:solidFill>
            <a:schemeClr val="accent2"/>
          </a:solidFill>
          <a:ln/>
        </p:spPr>
      </p:sp>
      <p:pic>
        <p:nvPicPr>
          <p:cNvPr id="14" name="icon-bulb-9" descr="bulb icon">    </p:cNvPr>
          <p:cNvPicPr>
            <a:picLocks noChangeAspect="1"/>
          </p:cNvPicPr>
          <p:nvPr/>
        </p:nvPicPr>
        <p:blipFill>
          <a:blip r:embed="rId1"/>
          <a:stretch>
            <a:fillRect/>
          </a:stretch>
        </p:blipFill>
        <p:spPr>
          <a:xfrm>
            <a:off x="9304020" y="1485900"/>
            <a:ext cx="411480" cy="411480"/>
          </a:xfrm>
          <a:prstGeom prst="rect">
            <a:avLst/>
          </a:prstGeom>
        </p:spPr>
      </p:pic>
      <p:sp>
        <p:nvSpPr>
          <p:cNvPr id="15" name="icon-circle-10"/>
          <p:cNvSpPr/>
          <p:nvPr/>
        </p:nvSpPr>
        <p:spPr>
          <a:xfrm>
            <a:off x="10602878" y="2148840"/>
            <a:ext cx="822960" cy="822960"/>
          </a:xfrm>
          <a:prstGeom prst="ellipse">
            <a:avLst/>
          </a:prstGeom>
          <a:solidFill>
            <a:schemeClr val="accent2"/>
          </a:solidFill>
          <a:ln/>
        </p:spPr>
      </p:sp>
      <p:pic>
        <p:nvPicPr>
          <p:cNvPr id="16" name="icon-wallet-11" descr="wallet icon">    </p:cNvPr>
          <p:cNvPicPr>
            <a:picLocks noChangeAspect="1"/>
          </p:cNvPicPr>
          <p:nvPr/>
        </p:nvPicPr>
        <p:blipFill>
          <a:blip r:embed="rId2"/>
          <a:stretch>
            <a:fillRect/>
          </a:stretch>
        </p:blipFill>
        <p:spPr>
          <a:xfrm>
            <a:off x="10808618" y="2354580"/>
            <a:ext cx="411480" cy="411480"/>
          </a:xfrm>
          <a:prstGeom prst="rect">
            <a:avLst/>
          </a:prstGeom>
        </p:spPr>
      </p:pic>
      <p:sp>
        <p:nvSpPr>
          <p:cNvPr id="17" name="icon-circle-12"/>
          <p:cNvSpPr/>
          <p:nvPr/>
        </p:nvSpPr>
        <p:spPr>
          <a:xfrm>
            <a:off x="10602878" y="3886200"/>
            <a:ext cx="822960" cy="822960"/>
          </a:xfrm>
          <a:prstGeom prst="ellipse">
            <a:avLst/>
          </a:prstGeom>
          <a:solidFill>
            <a:schemeClr val="accent2"/>
          </a:solidFill>
          <a:ln/>
        </p:spPr>
      </p:sp>
      <p:pic>
        <p:nvPicPr>
          <p:cNvPr id="18" name="icon-tv-13" descr="tv icon">    </p:cNvPr>
          <p:cNvPicPr>
            <a:picLocks noChangeAspect="1"/>
          </p:cNvPicPr>
          <p:nvPr/>
        </p:nvPicPr>
        <p:blipFill>
          <a:blip r:embed="rId3"/>
          <a:stretch>
            <a:fillRect/>
          </a:stretch>
        </p:blipFill>
        <p:spPr>
          <a:xfrm>
            <a:off x="10808618" y="4091940"/>
            <a:ext cx="411480" cy="411480"/>
          </a:xfrm>
          <a:prstGeom prst="rect">
            <a:avLst/>
          </a:prstGeom>
        </p:spPr>
      </p:pic>
      <p:sp>
        <p:nvSpPr>
          <p:cNvPr id="19" name="icon-circle-14"/>
          <p:cNvSpPr/>
          <p:nvPr/>
        </p:nvSpPr>
        <p:spPr>
          <a:xfrm>
            <a:off x="9098280" y="4754880"/>
            <a:ext cx="822960" cy="822960"/>
          </a:xfrm>
          <a:prstGeom prst="ellipse">
            <a:avLst/>
          </a:prstGeom>
          <a:solidFill>
            <a:schemeClr val="accent2"/>
          </a:solidFill>
          <a:ln/>
        </p:spPr>
      </p:sp>
      <p:pic>
        <p:nvPicPr>
          <p:cNvPr id="20" name="icon-learn-15" descr="learn icon">    </p:cNvPr>
          <p:cNvPicPr>
            <a:picLocks noChangeAspect="1"/>
          </p:cNvPicPr>
          <p:nvPr/>
        </p:nvPicPr>
        <p:blipFill>
          <a:blip r:embed="rId4"/>
          <a:stretch>
            <a:fillRect/>
          </a:stretch>
        </p:blipFill>
        <p:spPr>
          <a:xfrm>
            <a:off x="9304020" y="4960620"/>
            <a:ext cx="411480" cy="411480"/>
          </a:xfrm>
          <a:prstGeom prst="rect">
            <a:avLst/>
          </a:prstGeom>
        </p:spPr>
      </p:pic>
      <p:sp>
        <p:nvSpPr>
          <p:cNvPr id="21" name="icon-circle-16"/>
          <p:cNvSpPr/>
          <p:nvPr/>
        </p:nvSpPr>
        <p:spPr>
          <a:xfrm>
            <a:off x="7593682" y="3886200"/>
            <a:ext cx="822960" cy="822960"/>
          </a:xfrm>
          <a:prstGeom prst="ellipse">
            <a:avLst/>
          </a:prstGeom>
          <a:solidFill>
            <a:schemeClr val="accent2"/>
          </a:solidFill>
          <a:ln/>
        </p:spPr>
      </p:sp>
      <p:pic>
        <p:nvPicPr>
          <p:cNvPr id="22" name="icon-calendar-17" descr="calendar icon">    </p:cNvPr>
          <p:cNvPicPr>
            <a:picLocks noChangeAspect="1"/>
          </p:cNvPicPr>
          <p:nvPr/>
        </p:nvPicPr>
        <p:blipFill>
          <a:blip r:embed="rId5"/>
          <a:stretch>
            <a:fillRect/>
          </a:stretch>
        </p:blipFill>
        <p:spPr>
          <a:xfrm>
            <a:off x="7799422" y="4091940"/>
            <a:ext cx="411480" cy="411480"/>
          </a:xfrm>
          <a:prstGeom prst="rect">
            <a:avLst/>
          </a:prstGeom>
        </p:spPr>
      </p:pic>
      <p:sp>
        <p:nvSpPr>
          <p:cNvPr id="23" name="icon-circle-18"/>
          <p:cNvSpPr/>
          <p:nvPr/>
        </p:nvSpPr>
        <p:spPr>
          <a:xfrm>
            <a:off x="7593682" y="2148840"/>
            <a:ext cx="822960" cy="822960"/>
          </a:xfrm>
          <a:prstGeom prst="ellipse">
            <a:avLst/>
          </a:prstGeom>
          <a:solidFill>
            <a:schemeClr val="accent2"/>
          </a:solidFill>
          <a:ln/>
        </p:spPr>
      </p:sp>
      <p:pic>
        <p:nvPicPr>
          <p:cNvPr id="24" name="icon-brain-19" descr="brain icon">    </p:cNvPr>
          <p:cNvPicPr>
            <a:picLocks noChangeAspect="1"/>
          </p:cNvPicPr>
          <p:nvPr/>
        </p:nvPicPr>
        <p:blipFill>
          <a:blip r:embed="rId6"/>
          <a:stretch>
            <a:fillRect/>
          </a:stretch>
        </p:blipFill>
        <p:spPr>
          <a:xfrm>
            <a:off x="7799422" y="2354580"/>
            <a:ext cx="411480" cy="411480"/>
          </a:xfrm>
          <a:prstGeom prst="rect">
            <a:avLst/>
          </a:prstGeom>
        </p:spPr>
      </p:pic>
      <p:sp>
        <p:nvSpPr>
          <p:cNvPr id="25" name="icon-circle-20"/>
          <p:cNvSpPr/>
          <p:nvPr/>
        </p:nvSpPr>
        <p:spPr>
          <a:xfrm>
            <a:off x="8778240" y="2697480"/>
            <a:ext cx="1463040" cy="1463040"/>
          </a:xfrm>
          <a:prstGeom prst="ellipse">
            <a:avLst/>
          </a:prstGeom>
          <a:solidFill>
            <a:schemeClr val="accent1"/>
          </a:solidFill>
          <a:ln/>
        </p:spPr>
      </p:sp>
      <p:pic>
        <p:nvPicPr>
          <p:cNvPr id="26" name="icon-home-21" descr="home icon">    </p:cNvPr>
          <p:cNvPicPr>
            <a:picLocks noChangeAspect="1"/>
          </p:cNvPicPr>
          <p:nvPr/>
        </p:nvPicPr>
        <p:blipFill>
          <a:blip r:embed="rId7"/>
          <a:stretch>
            <a:fillRect/>
          </a:stretch>
        </p:blipFill>
        <p:spPr>
          <a:xfrm>
            <a:off x="9144000" y="306324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Who is building this</a:t>
            </a:r>
            <a:endParaRPr lang="en-US" sz="3600" dirty="0"/>
          </a:p>
        </p:txBody>
      </p:sp>
      <p:sp>
        <p:nvSpPr>
          <p:cNvPr id="3" name="card-22"/>
          <p:cNvSpPr/>
          <p:nvPr/>
        </p:nvSpPr>
        <p:spPr>
          <a:xfrm>
            <a:off x="548640" y="1508760"/>
            <a:ext cx="3514344" cy="2423160"/>
          </a:xfrm>
          <a:prstGeom prst="roundRect">
            <a:avLst>
              <a:gd name="adj" fmla="val 4528"/>
            </a:avLst>
          </a:prstGeom>
          <a:solidFill>
            <a:schemeClr val="tx2"/>
          </a:solidFill>
          <a:ln/>
        </p:spPr>
      </p:sp>
      <p:sp>
        <p:nvSpPr>
          <p:cNvPr id="4" name="icon-circle-23"/>
          <p:cNvSpPr/>
          <p:nvPr/>
        </p:nvSpPr>
        <p:spPr>
          <a:xfrm>
            <a:off x="822960" y="1783080"/>
            <a:ext cx="640080" cy="640080"/>
          </a:xfrm>
          <a:prstGeom prst="ellipse">
            <a:avLst/>
          </a:prstGeom>
          <a:solidFill>
            <a:schemeClr val="accent1"/>
          </a:solidFill>
          <a:ln/>
        </p:spPr>
      </p:sp>
      <p:pic>
        <p:nvPicPr>
          <p:cNvPr id="5" name="icon-building-24" descr="building icon">    </p:cNvPr>
          <p:cNvPicPr>
            <a:picLocks noChangeAspect="1"/>
          </p:cNvPicPr>
          <p:nvPr/>
        </p:nvPicPr>
        <p:blipFill>
          <a:blip r:embed="rId1"/>
          <a:stretch>
            <a:fillRect/>
          </a:stretch>
        </p:blipFill>
        <p:spPr>
          <a:xfrm>
            <a:off x="982980" y="1943100"/>
            <a:ext cx="320040" cy="320040"/>
          </a:xfrm>
          <a:prstGeom prst="rect">
            <a:avLst/>
          </a:prstGeom>
        </p:spPr>
      </p:pic>
      <p:sp>
        <p:nvSpPr>
          <p:cNvPr id="6" name="Text 3"/>
          <p:cNvSpPr txBox="1"/>
          <p:nvPr/>
        </p:nvSpPr>
        <p:spPr>
          <a:xfrm>
            <a:off x="1691640" y="1691640"/>
            <a:ext cx="2103120" cy="82296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25+</a:t>
            </a:r>
            <a:endParaRPr lang="en-US" sz="5400" dirty="0"/>
          </a:p>
        </p:txBody>
      </p:sp>
      <p:sp>
        <p:nvSpPr>
          <p:cNvPr id="7" name="Text 4"/>
          <p:cNvSpPr txBox="1"/>
          <p:nvPr/>
        </p:nvSpPr>
        <p:spPr>
          <a:xfrm>
            <a:off x="822960" y="2697480"/>
            <a:ext cx="2965704" cy="548640"/>
          </a:xfrm>
          <a:prstGeom prst="rect">
            <a:avLst/>
          </a:prstGeom>
          <a:noFill/>
          <a:ln/>
        </p:spPr>
        <p:txBody>
          <a:bodyPr wrap="square" lIns="0" tIns="0" rIns="0" bIns="0" rtlCol="0" anchor="t"/>
          <a:lstStyle/>
          <a:p>
            <a:pPr indent="0" marL="0">
              <a:buNone/>
            </a:pPr>
            <a:r>
              <a:rPr lang="en-US" sz="1600" b="1" dirty="0">
                <a:solidFill>
                  <a:schemeClr val="bg1"/>
                </a:solidFill>
              </a:rPr>
              <a:t>years of enterprise software development</a:t>
            </a:r>
            <a:endParaRPr lang="en-US" sz="1600" dirty="0"/>
          </a:p>
        </p:txBody>
      </p:sp>
      <p:sp>
        <p:nvSpPr>
          <p:cNvPr id="8" name="Text 5"/>
          <p:cNvSpPr txBox="1"/>
          <p:nvPr/>
        </p:nvSpPr>
        <p:spPr>
          <a:xfrm>
            <a:off x="822960" y="3291840"/>
            <a:ext cx="2965704" cy="457200"/>
          </a:xfrm>
          <a:prstGeom prst="rect">
            <a:avLst/>
          </a:prstGeom>
          <a:noFill/>
          <a:ln/>
        </p:spPr>
        <p:txBody>
          <a:bodyPr wrap="square" lIns="0" tIns="0" rIns="0" bIns="0" rtlCol="0" anchor="t"/>
          <a:lstStyle/>
          <a:p>
            <a:pPr indent="0" marL="0">
              <a:buNone/>
            </a:pPr>
            <a:r>
              <a:rPr lang="en-US" sz="1400" dirty="0">
                <a:solidFill>
                  <a:schemeClr val="accent3"/>
                </a:solidFill>
              </a:rPr>
              <a:t>Java, REST services, relational databases</a:t>
            </a:r>
            <a:endParaRPr lang="en-US" sz="1400" dirty="0"/>
          </a:p>
        </p:txBody>
      </p:sp>
      <p:sp>
        <p:nvSpPr>
          <p:cNvPr id="9" name="card-25"/>
          <p:cNvSpPr/>
          <p:nvPr/>
        </p:nvSpPr>
        <p:spPr>
          <a:xfrm>
            <a:off x="4337304" y="1508760"/>
            <a:ext cx="3514344" cy="2423160"/>
          </a:xfrm>
          <a:prstGeom prst="roundRect">
            <a:avLst>
              <a:gd name="adj" fmla="val 4528"/>
            </a:avLst>
          </a:prstGeom>
          <a:solidFill>
            <a:schemeClr val="tx2"/>
          </a:solidFill>
          <a:ln/>
        </p:spPr>
      </p:sp>
      <p:sp>
        <p:nvSpPr>
          <p:cNvPr id="10" name="icon-circle-26"/>
          <p:cNvSpPr/>
          <p:nvPr/>
        </p:nvSpPr>
        <p:spPr>
          <a:xfrm>
            <a:off x="4611624" y="1783080"/>
            <a:ext cx="640080" cy="640080"/>
          </a:xfrm>
          <a:prstGeom prst="ellipse">
            <a:avLst/>
          </a:prstGeom>
          <a:solidFill>
            <a:schemeClr val="accent1"/>
          </a:solidFill>
          <a:ln/>
        </p:spPr>
      </p:sp>
      <p:pic>
        <p:nvPicPr>
          <p:cNvPr id="11" name="icon-users-27" descr="users icon">    </p:cNvPr>
          <p:cNvPicPr>
            <a:picLocks noChangeAspect="1"/>
          </p:cNvPicPr>
          <p:nvPr/>
        </p:nvPicPr>
        <p:blipFill>
          <a:blip r:embed="rId2"/>
          <a:stretch>
            <a:fillRect/>
          </a:stretch>
        </p:blipFill>
        <p:spPr>
          <a:xfrm>
            <a:off x="4771644" y="1943100"/>
            <a:ext cx="320040" cy="320040"/>
          </a:xfrm>
          <a:prstGeom prst="rect">
            <a:avLst/>
          </a:prstGeom>
        </p:spPr>
      </p:pic>
      <p:sp>
        <p:nvSpPr>
          <p:cNvPr id="12" name="Text 8"/>
          <p:cNvSpPr txBox="1"/>
          <p:nvPr/>
        </p:nvSpPr>
        <p:spPr>
          <a:xfrm>
            <a:off x="5480304" y="1691640"/>
            <a:ext cx="2103120" cy="82296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10</a:t>
            </a:r>
            <a:endParaRPr lang="en-US" sz="5400" dirty="0"/>
          </a:p>
        </p:txBody>
      </p:sp>
      <p:sp>
        <p:nvSpPr>
          <p:cNvPr id="13" name="Text 9"/>
          <p:cNvSpPr txBox="1"/>
          <p:nvPr/>
        </p:nvSpPr>
        <p:spPr>
          <a:xfrm>
            <a:off x="4611624" y="2697480"/>
            <a:ext cx="2965704" cy="548640"/>
          </a:xfrm>
          <a:prstGeom prst="rect">
            <a:avLst/>
          </a:prstGeom>
          <a:noFill/>
          <a:ln/>
        </p:spPr>
        <p:txBody>
          <a:bodyPr wrap="square" lIns="0" tIns="0" rIns="0" bIns="0" rtlCol="0" anchor="t"/>
          <a:lstStyle/>
          <a:p>
            <a:pPr indent="0" marL="0">
              <a:buNone/>
            </a:pPr>
            <a:r>
              <a:rPr lang="en-US" sz="1600" b="1" dirty="0">
                <a:solidFill>
                  <a:schemeClr val="bg1"/>
                </a:solidFill>
              </a:rPr>
              <a:t>years of SaaS experience</a:t>
            </a:r>
            <a:endParaRPr lang="en-US" sz="1600" dirty="0"/>
          </a:p>
        </p:txBody>
      </p:sp>
      <p:sp>
        <p:nvSpPr>
          <p:cNvPr id="14" name="Text 10"/>
          <p:cNvSpPr txBox="1"/>
          <p:nvPr/>
        </p:nvSpPr>
        <p:spPr>
          <a:xfrm>
            <a:off x="4611624" y="3291840"/>
            <a:ext cx="2965704" cy="457200"/>
          </a:xfrm>
          <a:prstGeom prst="rect">
            <a:avLst/>
          </a:prstGeom>
          <a:noFill/>
          <a:ln/>
        </p:spPr>
        <p:txBody>
          <a:bodyPr wrap="square" lIns="0" tIns="0" rIns="0" bIns="0" rtlCol="0" anchor="t"/>
          <a:lstStyle/>
          <a:p>
            <a:pPr indent="0" marL="0">
              <a:buNone/>
            </a:pPr>
            <a:r>
              <a:rPr lang="en-US" sz="1400" dirty="0">
                <a:solidFill>
                  <a:schemeClr val="accent3"/>
                </a:solidFill>
              </a:rPr>
              <a:t>The subscription model this proposal relies on</a:t>
            </a:r>
            <a:endParaRPr lang="en-US" sz="1400" dirty="0"/>
          </a:p>
        </p:txBody>
      </p:sp>
      <p:sp>
        <p:nvSpPr>
          <p:cNvPr id="15" name="card-28"/>
          <p:cNvSpPr/>
          <p:nvPr/>
        </p:nvSpPr>
        <p:spPr>
          <a:xfrm>
            <a:off x="8125968" y="1508760"/>
            <a:ext cx="3514344" cy="2423160"/>
          </a:xfrm>
          <a:prstGeom prst="roundRect">
            <a:avLst>
              <a:gd name="adj" fmla="val 4528"/>
            </a:avLst>
          </a:prstGeom>
          <a:solidFill>
            <a:schemeClr val="tx2"/>
          </a:solidFill>
          <a:ln/>
        </p:spPr>
      </p:sp>
      <p:sp>
        <p:nvSpPr>
          <p:cNvPr id="16" name="icon-circle-29"/>
          <p:cNvSpPr/>
          <p:nvPr/>
        </p:nvSpPr>
        <p:spPr>
          <a:xfrm>
            <a:off x="8400288" y="1783080"/>
            <a:ext cx="640080" cy="640080"/>
          </a:xfrm>
          <a:prstGeom prst="ellipse">
            <a:avLst/>
          </a:prstGeom>
          <a:solidFill>
            <a:schemeClr val="accent1"/>
          </a:solidFill>
          <a:ln/>
        </p:spPr>
      </p:sp>
      <p:pic>
        <p:nvPicPr>
          <p:cNvPr id="17" name="icon-cloud-30" descr="cloud icon">    </p:cNvPr>
          <p:cNvPicPr>
            <a:picLocks noChangeAspect="1"/>
          </p:cNvPicPr>
          <p:nvPr/>
        </p:nvPicPr>
        <p:blipFill>
          <a:blip r:embed="rId3"/>
          <a:stretch>
            <a:fillRect/>
          </a:stretch>
        </p:blipFill>
        <p:spPr>
          <a:xfrm>
            <a:off x="8560308" y="1943100"/>
            <a:ext cx="320040" cy="320040"/>
          </a:xfrm>
          <a:prstGeom prst="rect">
            <a:avLst/>
          </a:prstGeom>
        </p:spPr>
      </p:pic>
      <p:sp>
        <p:nvSpPr>
          <p:cNvPr id="18" name="Text 13"/>
          <p:cNvSpPr txBox="1"/>
          <p:nvPr/>
        </p:nvSpPr>
        <p:spPr>
          <a:xfrm>
            <a:off x="9268968" y="1691640"/>
            <a:ext cx="2103120" cy="82296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5</a:t>
            </a:r>
            <a:endParaRPr lang="en-US" sz="5400" dirty="0"/>
          </a:p>
        </p:txBody>
      </p:sp>
      <p:sp>
        <p:nvSpPr>
          <p:cNvPr id="19" name="Text 14"/>
          <p:cNvSpPr txBox="1"/>
          <p:nvPr/>
        </p:nvSpPr>
        <p:spPr>
          <a:xfrm>
            <a:off x="8400288" y="2697480"/>
            <a:ext cx="2965704" cy="548640"/>
          </a:xfrm>
          <a:prstGeom prst="rect">
            <a:avLst/>
          </a:prstGeom>
          <a:noFill/>
          <a:ln/>
        </p:spPr>
        <p:txBody>
          <a:bodyPr wrap="square" lIns="0" tIns="0" rIns="0" bIns="0" rtlCol="0" anchor="t"/>
          <a:lstStyle/>
          <a:p>
            <a:pPr indent="0" marL="0">
              <a:buNone/>
            </a:pPr>
            <a:r>
              <a:rPr lang="en-US" sz="1600" b="1" dirty="0">
                <a:solidFill>
                  <a:schemeClr val="bg1"/>
                </a:solidFill>
              </a:rPr>
              <a:t>years of cloud development and AWS</a:t>
            </a:r>
            <a:endParaRPr lang="en-US" sz="1600" dirty="0"/>
          </a:p>
        </p:txBody>
      </p:sp>
      <p:sp>
        <p:nvSpPr>
          <p:cNvPr id="20" name="Text 15"/>
          <p:cNvSpPr txBox="1"/>
          <p:nvPr/>
        </p:nvSpPr>
        <p:spPr>
          <a:xfrm>
            <a:off x="8400288" y="3291840"/>
            <a:ext cx="2965704" cy="457200"/>
          </a:xfrm>
          <a:prstGeom prst="rect">
            <a:avLst/>
          </a:prstGeom>
          <a:noFill/>
          <a:ln/>
        </p:spPr>
        <p:txBody>
          <a:bodyPr wrap="square" lIns="0" tIns="0" rIns="0" bIns="0" rtlCol="0" anchor="t"/>
          <a:lstStyle/>
          <a:p>
            <a:pPr indent="0" marL="0">
              <a:buNone/>
            </a:pPr>
            <a:r>
              <a:rPr lang="en-US" sz="1400" dirty="0">
                <a:solidFill>
                  <a:schemeClr val="accent3"/>
                </a:solidFill>
              </a:rPr>
              <a:t>The platform evolving-ai-mind runs on</a:t>
            </a:r>
            <a:endParaRPr lang="en-US" sz="1400" dirty="0"/>
          </a:p>
        </p:txBody>
      </p:sp>
      <p:sp>
        <p:nvSpPr>
          <p:cNvPr id="21" name="card-31"/>
          <p:cNvSpPr/>
          <p:nvPr/>
        </p:nvSpPr>
        <p:spPr>
          <a:xfrm>
            <a:off x="548640" y="4160520"/>
            <a:ext cx="11091672" cy="1920240"/>
          </a:xfrm>
          <a:prstGeom prst="roundRect">
            <a:avLst>
              <a:gd name="adj" fmla="val 5714"/>
            </a:avLst>
          </a:prstGeom>
          <a:solidFill>
            <a:schemeClr val="bg2"/>
          </a:solidFill>
          <a:ln/>
        </p:spPr>
      </p:sp>
      <p:sp>
        <p:nvSpPr>
          <p:cNvPr id="22" name="Text 17"/>
          <p:cNvSpPr txBox="1"/>
          <p:nvPr/>
        </p:nvSpPr>
        <p:spPr>
          <a:xfrm>
            <a:off x="822960" y="4343400"/>
            <a:ext cx="4846320" cy="411480"/>
          </a:xfrm>
          <a:prstGeom prst="rect">
            <a:avLst/>
          </a:prstGeom>
          <a:noFill/>
          <a:ln/>
        </p:spPr>
        <p:txBody>
          <a:bodyPr wrap="square" lIns="0" tIns="0" rIns="0" bIns="0" rtlCol="0" anchor="t"/>
          <a:lstStyle/>
          <a:p>
            <a:pPr indent="0" marL="0">
              <a:buNone/>
            </a:pPr>
            <a:r>
              <a:rPr lang="en-US" sz="2000" b="1" dirty="0">
                <a:solidFill>
                  <a:schemeClr val="tx2"/>
                </a:solidFill>
              </a:rPr>
              <a:t>evolving-ai-mind speaks to my credentials</a:t>
            </a:r>
            <a:endParaRPr lang="en-US" sz="2000" dirty="0"/>
          </a:p>
        </p:txBody>
      </p:sp>
      <p:sp>
        <p:nvSpPr>
          <p:cNvPr id="23" name="Text 18"/>
          <p:cNvSpPr txBox="1"/>
          <p:nvPr/>
        </p:nvSpPr>
        <p:spPr>
          <a:xfrm>
            <a:off x="822960" y="4846320"/>
            <a:ext cx="4846320" cy="731520"/>
          </a:xfrm>
          <a:prstGeom prst="rect">
            <a:avLst/>
          </a:prstGeom>
          <a:noFill/>
          <a:ln/>
        </p:spPr>
        <p:txBody>
          <a:bodyPr wrap="square" lIns="0" tIns="0" rIns="0" bIns="0" rtlCol="0" anchor="t"/>
          <a:lstStyle/>
          <a:p>
            <a:pPr indent="0" marL="0">
              <a:buNone/>
            </a:pPr>
            <a:r>
              <a:rPr lang="en-US" sz="1600" dirty="0">
                <a:solidFill>
                  <a:schemeClr val="tx1"/>
                </a:solidFill>
              </a:rPr>
              <a:t>evolving-ai-mind is my open source project. Use it through Slack and read the code.</a:t>
            </a:r>
            <a:endParaRPr lang="en-US" sz="1600" dirty="0"/>
          </a:p>
        </p:txBody>
      </p:sp>
      <p:sp>
        <p:nvSpPr>
          <p:cNvPr id="24" name="Text 19"/>
          <p:cNvSpPr txBox="1"/>
          <p:nvPr/>
        </p:nvSpPr>
        <p:spPr>
          <a:xfrm>
            <a:off x="822960" y="5669280"/>
            <a:ext cx="4846320" cy="274320"/>
          </a:xfrm>
          <a:prstGeom prst="rect">
            <a:avLst/>
          </a:prstGeom>
          <a:noFill/>
          <a:ln/>
        </p:spPr>
        <p:txBody>
          <a:bodyPr wrap="square" lIns="0" tIns="0" rIns="0" bIns="0" rtlCol="0" anchor="t"/>
          <a:lstStyle/>
          <a:p>
            <a:pPr indent="0" marL="0">
              <a:buNone/>
            </a:pPr>
            <a:r>
              <a:rPr lang="en-US" sz="1400" b="1" u="sng" dirty="0">
                <a:solidFill>
                  <a:schemeClr val="tx1"/>
                </a:solidFill>
                <a:hlinkClick r:id="rId4" invalidUrl="" action="" tgtFrame="" tooltip="Open the repository" history="1" highlightClick="0" endSnd="0">
                  <a:extLst>
                    <a:ext uri="{A12FA001-AC4F-418D-AE19-62706E023703}">
                      <ahyp:hlinkClr xmlns:ahyp="http://schemas.microsoft.com/office/drawing/2018/hyperlinkcolor" val="tx"/>
                    </a:ext>
                  </a:extLst>
                </a:hlinkClick>
              </a:rPr>
              <a:t>github.com/javeaguiri/evolving-ai-mind</a:t>
            </a:r>
            <a:endParaRPr lang="en-US" sz="1400" dirty="0"/>
          </a:p>
        </p:txBody>
      </p:sp>
      <p:sp>
        <p:nvSpPr>
          <p:cNvPr id="25" name="Text 20"/>
          <p:cNvSpPr txBox="1"/>
          <p:nvPr/>
        </p:nvSpPr>
        <p:spPr>
          <a:xfrm>
            <a:off x="6309360" y="434340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1,316 commits in a public repository, AGPL-3.0 licensed</a:t>
            </a:r>
            <a:endParaRPr lang="en-US" sz="1400" dirty="0"/>
          </a:p>
          <a:p>
            <a:pPr marL="342900" indent="-342900">
              <a:spcAft>
                <a:spcPts val="600"/>
              </a:spcAft>
              <a:buSzPct val="100000"/>
              <a:buChar char="•"/>
            </a:pPr>
            <a:r>
              <a:rPr lang="en-US" sz="1400" dirty="0">
                <a:solidFill>
                  <a:schemeClr val="tx1"/>
                </a:solidFill>
              </a:rPr>
              <a:t>Serverless on AWS: Lambda, SQS, API Gateway, PostgreSQL on RDS</a:t>
            </a:r>
            <a:endParaRPr lang="en-US" sz="1400" dirty="0"/>
          </a:p>
          <a:p>
            <a:pPr marL="342900" indent="-342900">
              <a:spcAft>
                <a:spcPts val="600"/>
              </a:spcAft>
              <a:buSzPct val="100000"/>
              <a:buChar char="•"/>
            </a:pPr>
            <a:r>
              <a:rPr lang="en-US" sz="1400" dirty="0">
                <a:solidFill>
                  <a:schemeClr val="tx1"/>
                </a:solidFill>
              </a:rPr>
              <a:t>REST API, infrastructure as code, Slack interface</a:t>
            </a:r>
            <a:endParaRPr lang="en-US" sz="1400" dirty="0"/>
          </a:p>
          <a:p>
            <a:pPr marL="342900" indent="-342900">
              <a:buSzPct val="100000"/>
              <a:buChar char="•"/>
            </a:pPr>
            <a:r>
              <a:rPr lang="en-US" sz="1400" dirty="0">
                <a:solidFill>
                  <a:schemeClr val="tx1"/>
                </a:solidFill>
              </a:rPr>
              <a:t>About $10–14 a month in AWS costs, per the README</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Built, proven and used every day</a:t>
            </a:r>
            <a:endParaRPr lang="en-US" sz="3600" dirty="0"/>
          </a:p>
        </p:txBody>
      </p:sp>
      <p:graphicFrame>
        <p:nvGraphicFramePr>
          <p:cNvPr id="3" name="completion-chart" descr="Bar chart of completion by layer: architecture 100%, database design 85%, process layer 98%, agentic process 95%, Slack experience 95%, service tables 85%, and construction of the home brain app and extensions 0%"/>
          <p:cNvGraphicFramePr/>
          <p:nvPr/>
        </p:nvGraphicFramePr>
        <p:xfrm>
          <a:off x="548640" y="1463040"/>
          <a:ext cx="6949440" cy="4389120"/>
        </p:xfrm>
        <a:graphic xmlns:a="http://schemas.openxmlformats.org/drawingml/2006/main">
          <a:graphicData uri="http://schemas.openxmlformats.org/drawingml/2006/chart">
            <c:chart xmlns:c="http://schemas.openxmlformats.org/drawingml/2006/chart" r:id="rId1"/>
          </a:graphicData>
        </a:graphic>
      </p:graphicFrame>
      <p:sp>
        <p:nvSpPr>
          <p:cNvPr id="4" name="card-32"/>
          <p:cNvSpPr/>
          <p:nvPr/>
        </p:nvSpPr>
        <p:spPr>
          <a:xfrm>
            <a:off x="7680960" y="1463040"/>
            <a:ext cx="3959352" cy="2377440"/>
          </a:xfrm>
          <a:prstGeom prst="roundRect">
            <a:avLst>
              <a:gd name="adj" fmla="val 4615"/>
            </a:avLst>
          </a:prstGeom>
          <a:solidFill>
            <a:schemeClr val="bg2"/>
          </a:solidFill>
          <a:ln/>
        </p:spPr>
      </p:sp>
      <p:sp>
        <p:nvSpPr>
          <p:cNvPr id="5" name="Text 2"/>
          <p:cNvSpPr txBox="1"/>
          <p:nvPr/>
        </p:nvSpPr>
        <p:spPr>
          <a:xfrm>
            <a:off x="7955280" y="1645920"/>
            <a:ext cx="3474720" cy="365760"/>
          </a:xfrm>
          <a:prstGeom prst="rect">
            <a:avLst/>
          </a:prstGeom>
          <a:noFill/>
          <a:ln/>
        </p:spPr>
        <p:txBody>
          <a:bodyPr wrap="square" lIns="0" tIns="0" rIns="0" bIns="0" rtlCol="0" anchor="t"/>
          <a:lstStyle/>
          <a:p>
            <a:pPr indent="0" marL="0">
              <a:buNone/>
            </a:pPr>
            <a:r>
              <a:rPr lang="en-US" sz="2000" b="1" dirty="0">
                <a:solidFill>
                  <a:schemeClr val="tx2"/>
                </a:solidFill>
              </a:rPr>
              <a:t>Testing in place</a:t>
            </a:r>
            <a:endParaRPr lang="en-US" sz="2000" dirty="0"/>
          </a:p>
        </p:txBody>
      </p:sp>
      <p:sp>
        <p:nvSpPr>
          <p:cNvPr id="6" name="Text 3"/>
          <p:cNvSpPr txBox="1"/>
          <p:nvPr/>
        </p:nvSpPr>
        <p:spPr>
          <a:xfrm>
            <a:off x="7955280" y="2148840"/>
            <a:ext cx="347472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Unit tests</a:t>
            </a:r>
            <a:endParaRPr lang="en-US" sz="1400" dirty="0"/>
          </a:p>
          <a:p>
            <a:pPr marL="342900" indent="-342900">
              <a:spcAft>
                <a:spcPts val="600"/>
              </a:spcAft>
              <a:buSzPct val="100000"/>
              <a:buChar char="•"/>
            </a:pPr>
            <a:r>
              <a:rPr lang="en-US" sz="1400" dirty="0">
                <a:solidFill>
                  <a:schemeClr val="tx1"/>
                </a:solidFill>
              </a:rPr>
              <a:t>System health pings</a:t>
            </a:r>
            <a:endParaRPr lang="en-US" sz="1400" dirty="0"/>
          </a:p>
          <a:p>
            <a:pPr marL="342900" indent="-342900">
              <a:spcAft>
                <a:spcPts val="600"/>
              </a:spcAft>
              <a:buSzPct val="100000"/>
              <a:buChar char="•"/>
            </a:pPr>
            <a:r>
              <a:rPr lang="en-US" sz="1400" dirty="0">
                <a:solidFill>
                  <a:schemeClr val="tx1"/>
                </a:solidFill>
              </a:rPr>
              <a:t>Workflow simulation</a:t>
            </a:r>
            <a:endParaRPr lang="en-US" sz="1400" dirty="0"/>
          </a:p>
          <a:p>
            <a:pPr marL="342900" indent="-342900">
              <a:buSzPct val="100000"/>
              <a:buChar char="•"/>
            </a:pPr>
            <a:r>
              <a:rPr lang="en-US" sz="1400" dirty="0">
                <a:solidFill>
                  <a:schemeClr val="tx1"/>
                </a:solidFill>
              </a:rPr>
              <a:t>LLM diagnostics: workflow replay, transcript follow-ups and troubleshooting</a:t>
            </a:r>
            <a:endParaRPr lang="en-US" sz="1400" dirty="0"/>
          </a:p>
        </p:txBody>
      </p:sp>
      <p:sp>
        <p:nvSpPr>
          <p:cNvPr id="7" name="card-33"/>
          <p:cNvSpPr/>
          <p:nvPr/>
        </p:nvSpPr>
        <p:spPr>
          <a:xfrm>
            <a:off x="7680960" y="3977640"/>
            <a:ext cx="3959352" cy="1874520"/>
          </a:xfrm>
          <a:prstGeom prst="roundRect">
            <a:avLst>
              <a:gd name="adj" fmla="val 5854"/>
            </a:avLst>
          </a:prstGeom>
          <a:solidFill>
            <a:schemeClr val="tx2"/>
          </a:solidFill>
          <a:ln/>
        </p:spPr>
      </p:sp>
      <p:sp>
        <p:nvSpPr>
          <p:cNvPr id="8" name="Text 5"/>
          <p:cNvSpPr txBox="1"/>
          <p:nvPr/>
        </p:nvSpPr>
        <p:spPr>
          <a:xfrm>
            <a:off x="7955280" y="4160520"/>
            <a:ext cx="3474720" cy="365760"/>
          </a:xfrm>
          <a:prstGeom prst="rect">
            <a:avLst/>
          </a:prstGeom>
          <a:noFill/>
          <a:ln/>
        </p:spPr>
        <p:txBody>
          <a:bodyPr wrap="square" lIns="0" tIns="0" rIns="0" bIns="0" rtlCol="0" anchor="t"/>
          <a:lstStyle/>
          <a:p>
            <a:pPr indent="0" marL="0">
              <a:buNone/>
            </a:pPr>
            <a:r>
              <a:rPr lang="en-US" sz="2000" b="1" dirty="0">
                <a:solidFill>
                  <a:schemeClr val="bg1"/>
                </a:solidFill>
              </a:rPr>
              <a:t>What is left</a:t>
            </a:r>
            <a:endParaRPr lang="en-US" sz="2000" dirty="0"/>
          </a:p>
        </p:txBody>
      </p:sp>
      <p:sp>
        <p:nvSpPr>
          <p:cNvPr id="9" name="Text 6"/>
          <p:cNvSpPr txBox="1"/>
          <p:nvPr/>
        </p:nvSpPr>
        <p:spPr>
          <a:xfrm>
            <a:off x="7955280" y="461772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Domain creation: switch from workflow to agentic (the last 5%)</a:t>
            </a:r>
            <a:endParaRPr lang="en-US" sz="1400" dirty="0"/>
          </a:p>
          <a:p>
            <a:pPr marL="342900" indent="-342900">
              <a:spcAft>
                <a:spcPts val="600"/>
              </a:spcAft>
              <a:buSzPct val="100000"/>
              <a:buChar char="•"/>
            </a:pPr>
            <a:r>
              <a:rPr lang="en-US" sz="1400" dirty="0">
                <a:solidFill>
                  <a:schemeClr val="bg1"/>
                </a:solidFill>
              </a:rPr>
              <a:t>Adapt the system to multi-tenant</a:t>
            </a:r>
            <a:endParaRPr lang="en-US" sz="1400" dirty="0"/>
          </a:p>
          <a:p>
            <a:pPr marL="342900" indent="-342900">
              <a:buSzPct val="100000"/>
              <a:buChar char="•"/>
            </a:pPr>
            <a:r>
              <a:rPr lang="en-US" sz="1400" dirty="0">
                <a:solidFill>
                  <a:schemeClr val="bg1"/>
                </a:solidFill>
              </a:rPr>
              <a:t>Refinements and clean-up</a:t>
            </a:r>
            <a:endParaRPr lang="en-US" sz="1400" dirty="0"/>
          </a:p>
        </p:txBody>
      </p:sp>
      <p:sp>
        <p:nvSpPr>
          <p:cNvPr id="10" name="Text 7"/>
          <p:cNvSpPr txBox="1"/>
          <p:nvPr/>
        </p:nvSpPr>
        <p:spPr>
          <a:xfrm>
            <a:off x="548640" y="603504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Completion levels are the author’s own assessment; 0% means not started; the code is public for anyone to check.</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From a dozen apps to one assistant</a:t>
            </a:r>
            <a:endParaRPr lang="en-US" sz="3600" dirty="0"/>
          </a:p>
        </p:txBody>
      </p:sp>
      <p:sp>
        <p:nvSpPr>
          <p:cNvPr id="3" name="card-34"/>
          <p:cNvSpPr/>
          <p:nvPr/>
        </p:nvSpPr>
        <p:spPr>
          <a:xfrm>
            <a:off x="548640" y="1508760"/>
            <a:ext cx="5029200" cy="4343400"/>
          </a:xfrm>
          <a:prstGeom prst="roundRect">
            <a:avLst>
              <a:gd name="adj" fmla="val 2526"/>
            </a:avLst>
          </a:prstGeom>
          <a:solidFill>
            <a:schemeClr val="bg2"/>
          </a:solidFill>
          <a:ln/>
        </p:spPr>
      </p:sp>
      <p:sp>
        <p:nvSpPr>
          <p:cNvPr id="4" name="Text 2"/>
          <p:cNvSpPr txBox="1"/>
          <p:nvPr/>
        </p:nvSpPr>
        <p:spPr>
          <a:xfrm>
            <a:off x="777240" y="1737360"/>
            <a:ext cx="4572000" cy="640080"/>
          </a:xfrm>
          <a:prstGeom prst="rect">
            <a:avLst/>
          </a:prstGeom>
          <a:noFill/>
          <a:ln/>
        </p:spPr>
        <p:txBody>
          <a:bodyPr wrap="square" lIns="0" tIns="0" rIns="0" bIns="0" rtlCol="0" anchor="t"/>
          <a:lstStyle/>
          <a:p>
            <a:pPr indent="0" marL="0">
              <a:buNone/>
            </a:pPr>
            <a:r>
              <a:rPr lang="en-US" sz="2000" b="1" dirty="0">
                <a:solidFill>
                  <a:schemeClr val="tx2"/>
                </a:solidFill>
              </a:rPr>
              <a:t>Today: one app for each slice of home life</a:t>
            </a:r>
            <a:endParaRPr lang="en-US" sz="2000" dirty="0"/>
          </a:p>
        </p:txBody>
      </p:sp>
      <p:sp>
        <p:nvSpPr>
          <p:cNvPr id="5" name="chip-35"/>
          <p:cNvSpPr txBox="1"/>
          <p:nvPr/>
        </p:nvSpPr>
        <p:spPr>
          <a:xfrm>
            <a:off x="777240" y="2697480"/>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Thermostat app</a:t>
            </a:r>
            <a:endParaRPr lang="en-US" sz="1400" dirty="0"/>
          </a:p>
        </p:txBody>
      </p:sp>
      <p:sp>
        <p:nvSpPr>
          <p:cNvPr id="6" name="chip-36"/>
          <p:cNvSpPr txBox="1"/>
          <p:nvPr/>
        </p:nvSpPr>
        <p:spPr>
          <a:xfrm>
            <a:off x="3291840" y="2697480"/>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Lighting app</a:t>
            </a:r>
            <a:endParaRPr lang="en-US" sz="1400" dirty="0"/>
          </a:p>
        </p:txBody>
      </p:sp>
      <p:sp>
        <p:nvSpPr>
          <p:cNvPr id="7" name="chip-37"/>
          <p:cNvSpPr txBox="1"/>
          <p:nvPr/>
        </p:nvSpPr>
        <p:spPr>
          <a:xfrm>
            <a:off x="777240" y="3447288"/>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Banking app</a:t>
            </a:r>
            <a:endParaRPr lang="en-US" sz="1400" dirty="0"/>
          </a:p>
        </p:txBody>
      </p:sp>
      <p:sp>
        <p:nvSpPr>
          <p:cNvPr id="8" name="chip-38"/>
          <p:cNvSpPr txBox="1"/>
          <p:nvPr/>
        </p:nvSpPr>
        <p:spPr>
          <a:xfrm>
            <a:off x="3291840" y="3447288"/>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TV guide</a:t>
            </a:r>
            <a:endParaRPr lang="en-US" sz="1400" dirty="0"/>
          </a:p>
        </p:txBody>
      </p:sp>
      <p:sp>
        <p:nvSpPr>
          <p:cNvPr id="9" name="chip-39"/>
          <p:cNvSpPr txBox="1"/>
          <p:nvPr/>
        </p:nvSpPr>
        <p:spPr>
          <a:xfrm>
            <a:off x="777240" y="4197096"/>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Calendar</a:t>
            </a:r>
            <a:endParaRPr lang="en-US" sz="1400" dirty="0"/>
          </a:p>
        </p:txBody>
      </p:sp>
      <p:sp>
        <p:nvSpPr>
          <p:cNvPr id="10" name="chip-40"/>
          <p:cNvSpPr txBox="1"/>
          <p:nvPr/>
        </p:nvSpPr>
        <p:spPr>
          <a:xfrm>
            <a:off x="3291840" y="4197096"/>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Shopping list</a:t>
            </a:r>
            <a:endParaRPr lang="en-US" sz="1400" dirty="0"/>
          </a:p>
        </p:txBody>
      </p:sp>
      <p:sp>
        <p:nvSpPr>
          <p:cNvPr id="11" name="chip-41"/>
          <p:cNvSpPr txBox="1"/>
          <p:nvPr/>
        </p:nvSpPr>
        <p:spPr>
          <a:xfrm>
            <a:off x="777240" y="4946904"/>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Meal planner</a:t>
            </a:r>
            <a:endParaRPr lang="en-US" sz="1400" dirty="0"/>
          </a:p>
        </p:txBody>
      </p:sp>
      <p:sp>
        <p:nvSpPr>
          <p:cNvPr id="12" name="chip-42"/>
          <p:cNvSpPr txBox="1"/>
          <p:nvPr/>
        </p:nvSpPr>
        <p:spPr>
          <a:xfrm>
            <a:off x="3291840" y="4946904"/>
            <a:ext cx="2103120" cy="548640"/>
          </a:xfrm>
          <a:prstGeom prst="roundRect">
            <a:avLst>
              <a:gd name="adj" fmla="val 16667"/>
            </a:avLst>
          </a:prstGeom>
          <a:solidFill>
            <a:schemeClr val="bg1"/>
          </a:solidFill>
          <a:ln/>
        </p:spPr>
        <p:txBody>
          <a:bodyPr wrap="square" lIns="0" tIns="0" rIns="0" bIns="0" rtlCol="0" anchor="ctr"/>
          <a:lstStyle/>
          <a:p>
            <a:pPr algn="ctr" indent="0" marL="0">
              <a:buNone/>
            </a:pPr>
            <a:r>
              <a:rPr lang="en-US" sz="1400" dirty="0">
                <a:solidFill>
                  <a:schemeClr val="tx1"/>
                </a:solidFill>
              </a:rPr>
              <a:t>Kids’ learning app</a:t>
            </a:r>
            <a:endParaRPr lang="en-US" sz="1400" dirty="0"/>
          </a:p>
        </p:txBody>
      </p:sp>
      <p:sp>
        <p:nvSpPr>
          <p:cNvPr id="13" name="icon-circle-43"/>
          <p:cNvSpPr/>
          <p:nvPr/>
        </p:nvSpPr>
        <p:spPr>
          <a:xfrm>
            <a:off x="5779008" y="3017520"/>
            <a:ext cx="640080" cy="640080"/>
          </a:xfrm>
          <a:prstGeom prst="ellipse">
            <a:avLst/>
          </a:prstGeom>
          <a:solidFill>
            <a:schemeClr val="accent1"/>
          </a:solidFill>
          <a:ln/>
        </p:spPr>
      </p:sp>
      <p:pic>
        <p:nvPicPr>
          <p:cNvPr id="14" name="icon-sync-44" descr="sync icon">    </p:cNvPr>
          <p:cNvPicPr>
            <a:picLocks noChangeAspect="1"/>
          </p:cNvPicPr>
          <p:nvPr/>
        </p:nvPicPr>
        <p:blipFill>
          <a:blip r:embed="rId1"/>
          <a:stretch>
            <a:fillRect/>
          </a:stretch>
        </p:blipFill>
        <p:spPr>
          <a:xfrm>
            <a:off x="5939028" y="3177540"/>
            <a:ext cx="320040" cy="320040"/>
          </a:xfrm>
          <a:prstGeom prst="rect">
            <a:avLst/>
          </a:prstGeom>
        </p:spPr>
      </p:pic>
      <p:sp>
        <p:nvSpPr>
          <p:cNvPr id="15" name="card-45"/>
          <p:cNvSpPr/>
          <p:nvPr/>
        </p:nvSpPr>
        <p:spPr>
          <a:xfrm>
            <a:off x="6611112" y="1508760"/>
            <a:ext cx="5029200" cy="4343400"/>
          </a:xfrm>
          <a:prstGeom prst="roundRect">
            <a:avLst>
              <a:gd name="adj" fmla="val 2526"/>
            </a:avLst>
          </a:prstGeom>
          <a:solidFill>
            <a:schemeClr val="tx2"/>
          </a:solidFill>
          <a:ln/>
        </p:spPr>
      </p:sp>
      <p:sp>
        <p:nvSpPr>
          <p:cNvPr id="16" name="Text 13"/>
          <p:cNvSpPr txBox="1"/>
          <p:nvPr/>
        </p:nvSpPr>
        <p:spPr>
          <a:xfrm>
            <a:off x="6858000" y="1737360"/>
            <a:ext cx="4526280" cy="640080"/>
          </a:xfrm>
          <a:prstGeom prst="rect">
            <a:avLst/>
          </a:prstGeom>
          <a:noFill/>
          <a:ln/>
        </p:spPr>
        <p:txBody>
          <a:bodyPr wrap="square" lIns="0" tIns="0" rIns="0" bIns="0" rtlCol="0" anchor="t"/>
          <a:lstStyle/>
          <a:p>
            <a:pPr indent="0" marL="0">
              <a:buNone/>
            </a:pPr>
            <a:r>
              <a:rPr lang="en-US" sz="2000" b="1" dirty="0">
                <a:solidFill>
                  <a:schemeClr val="bg1"/>
                </a:solidFill>
              </a:rPr>
              <a:t>evolving-ai-mind: one home brain</a:t>
            </a:r>
            <a:endParaRPr lang="en-US" sz="2000" dirty="0"/>
          </a:p>
        </p:txBody>
      </p:sp>
      <p:sp>
        <p:nvSpPr>
          <p:cNvPr id="17" name="icon-circle-46"/>
          <p:cNvSpPr/>
          <p:nvPr/>
        </p:nvSpPr>
        <p:spPr>
          <a:xfrm>
            <a:off x="6858000" y="2743200"/>
            <a:ext cx="640080" cy="640080"/>
          </a:xfrm>
          <a:prstGeom prst="ellipse">
            <a:avLst/>
          </a:prstGeom>
          <a:solidFill>
            <a:schemeClr val="accent1"/>
          </a:solidFill>
          <a:ln/>
        </p:spPr>
      </p:sp>
      <p:pic>
        <p:nvPicPr>
          <p:cNvPr id="18" name="icon-home-47" descr="home icon">    </p:cNvPr>
          <p:cNvPicPr>
            <a:picLocks noChangeAspect="1"/>
          </p:cNvPicPr>
          <p:nvPr/>
        </p:nvPicPr>
        <p:blipFill>
          <a:blip r:embed="rId2"/>
          <a:stretch>
            <a:fillRect/>
          </a:stretch>
        </p:blipFill>
        <p:spPr>
          <a:xfrm>
            <a:off x="7018020" y="2903220"/>
            <a:ext cx="320040" cy="320040"/>
          </a:xfrm>
          <a:prstGeom prst="rect">
            <a:avLst/>
          </a:prstGeom>
        </p:spPr>
      </p:pic>
      <p:sp>
        <p:nvSpPr>
          <p:cNvPr id="19" name="Text 15"/>
          <p:cNvSpPr txBox="1"/>
          <p:nvPr/>
        </p:nvSpPr>
        <p:spPr>
          <a:xfrm>
            <a:off x="7680960" y="2743200"/>
            <a:ext cx="3703320" cy="640080"/>
          </a:xfrm>
          <a:prstGeom prst="rect">
            <a:avLst/>
          </a:prstGeom>
          <a:noFill/>
          <a:ln/>
        </p:spPr>
        <p:txBody>
          <a:bodyPr wrap="square" lIns="0" tIns="0" rIns="0" bIns="0" rtlCol="0" anchor="ctr"/>
          <a:lstStyle/>
          <a:p>
            <a:pPr indent="0" marL="0">
              <a:buNone/>
            </a:pPr>
            <a:r>
              <a:rPr lang="en-US" sz="1600" dirty="0">
                <a:solidFill>
                  <a:schemeClr val="bg1"/>
                </a:solidFill>
              </a:rPr>
              <a:t>Runs the house and everything around it</a:t>
            </a:r>
            <a:endParaRPr lang="en-US" sz="1600" dirty="0"/>
          </a:p>
        </p:txBody>
      </p:sp>
      <p:sp>
        <p:nvSpPr>
          <p:cNvPr id="20" name="icon-circle-48"/>
          <p:cNvSpPr/>
          <p:nvPr/>
        </p:nvSpPr>
        <p:spPr>
          <a:xfrm>
            <a:off x="6858000" y="3794760"/>
            <a:ext cx="640080" cy="640080"/>
          </a:xfrm>
          <a:prstGeom prst="ellipse">
            <a:avLst/>
          </a:prstGeom>
          <a:solidFill>
            <a:schemeClr val="accent1"/>
          </a:solidFill>
          <a:ln/>
        </p:spPr>
      </p:sp>
      <p:pic>
        <p:nvPicPr>
          <p:cNvPr id="21" name="icon-brain-49" descr="brain icon">    </p:cNvPr>
          <p:cNvPicPr>
            <a:picLocks noChangeAspect="1"/>
          </p:cNvPicPr>
          <p:nvPr/>
        </p:nvPicPr>
        <p:blipFill>
          <a:blip r:embed="rId3"/>
          <a:stretch>
            <a:fillRect/>
          </a:stretch>
        </p:blipFill>
        <p:spPr>
          <a:xfrm>
            <a:off x="7018020" y="3954780"/>
            <a:ext cx="320040" cy="320040"/>
          </a:xfrm>
          <a:prstGeom prst="rect">
            <a:avLst/>
          </a:prstGeom>
        </p:spPr>
      </p:pic>
      <p:sp>
        <p:nvSpPr>
          <p:cNvPr id="22" name="Text 17"/>
          <p:cNvSpPr txBox="1"/>
          <p:nvPr/>
        </p:nvSpPr>
        <p:spPr>
          <a:xfrm>
            <a:off x="7680960" y="3794760"/>
            <a:ext cx="3703320" cy="640080"/>
          </a:xfrm>
          <a:prstGeom prst="rect">
            <a:avLst/>
          </a:prstGeom>
          <a:noFill/>
          <a:ln/>
        </p:spPr>
        <p:txBody>
          <a:bodyPr wrap="square" lIns="0" tIns="0" rIns="0" bIns="0" rtlCol="0" anchor="ctr"/>
          <a:lstStyle/>
          <a:p>
            <a:pPr indent="0" marL="0">
              <a:buNone/>
            </a:pPr>
            <a:r>
              <a:rPr lang="en-US" sz="1600" dirty="0">
                <a:solidFill>
                  <a:schemeClr val="bg1"/>
                </a:solidFill>
              </a:rPr>
              <a:t>Learns routines and anticipates needs</a:t>
            </a:r>
            <a:endParaRPr lang="en-US" sz="1600" dirty="0"/>
          </a:p>
        </p:txBody>
      </p:sp>
      <p:sp>
        <p:nvSpPr>
          <p:cNvPr id="23" name="icon-circle-50"/>
          <p:cNvSpPr/>
          <p:nvPr/>
        </p:nvSpPr>
        <p:spPr>
          <a:xfrm>
            <a:off x="6858000" y="4846320"/>
            <a:ext cx="640080" cy="640080"/>
          </a:xfrm>
          <a:prstGeom prst="ellipse">
            <a:avLst/>
          </a:prstGeom>
          <a:solidFill>
            <a:schemeClr val="accent1"/>
          </a:solidFill>
          <a:ln/>
        </p:spPr>
      </p:sp>
      <p:pic>
        <p:nvPicPr>
          <p:cNvPr id="24" name="icon-chat-51" descr="chat icon">    </p:cNvPr>
          <p:cNvPicPr>
            <a:picLocks noChangeAspect="1"/>
          </p:cNvPicPr>
          <p:nvPr/>
        </p:nvPicPr>
        <p:blipFill>
          <a:blip r:embed="rId4"/>
          <a:stretch>
            <a:fillRect/>
          </a:stretch>
        </p:blipFill>
        <p:spPr>
          <a:xfrm>
            <a:off x="7018020" y="5006340"/>
            <a:ext cx="320040" cy="320040"/>
          </a:xfrm>
          <a:prstGeom prst="rect">
            <a:avLst/>
          </a:prstGeom>
        </p:spPr>
      </p:pic>
      <p:sp>
        <p:nvSpPr>
          <p:cNvPr id="25" name="Text 19"/>
          <p:cNvSpPr txBox="1"/>
          <p:nvPr/>
        </p:nvSpPr>
        <p:spPr>
          <a:xfrm>
            <a:off x="7680960" y="4846320"/>
            <a:ext cx="3703320" cy="640080"/>
          </a:xfrm>
          <a:prstGeom prst="rect">
            <a:avLst/>
          </a:prstGeom>
          <a:noFill/>
          <a:ln/>
        </p:spPr>
        <p:txBody>
          <a:bodyPr wrap="square" lIns="0" tIns="0" rIns="0" bIns="0" rtlCol="0" anchor="ctr"/>
          <a:lstStyle/>
          <a:p>
            <a:pPr indent="0" marL="0">
              <a:buNone/>
            </a:pPr>
            <a:r>
              <a:rPr lang="en-US" sz="1600" dirty="0">
                <a:solidFill>
                  <a:schemeClr val="bg1"/>
                </a:solidFill>
              </a:rPr>
              <a:t>One conversation, one place for the whole family</a:t>
            </a:r>
            <a:endParaRPr lang="en-US" sz="16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Home control is one domain of many</a:t>
            </a:r>
            <a:endParaRPr lang="en-US" sz="3600" dirty="0"/>
          </a:p>
        </p:txBody>
      </p:sp>
      <p:sp>
        <p:nvSpPr>
          <p:cNvPr id="3" name="card-52"/>
          <p:cNvSpPr/>
          <p:nvPr/>
        </p:nvSpPr>
        <p:spPr>
          <a:xfrm>
            <a:off x="548640" y="1508760"/>
            <a:ext cx="3514344" cy="2103120"/>
          </a:xfrm>
          <a:prstGeom prst="roundRect">
            <a:avLst>
              <a:gd name="adj" fmla="val 5217"/>
            </a:avLst>
          </a:prstGeom>
          <a:solidFill>
            <a:schemeClr val="tx2"/>
          </a:solidFill>
          <a:ln/>
        </p:spPr>
      </p:sp>
      <p:sp>
        <p:nvSpPr>
          <p:cNvPr id="4" name="icon-circle-53"/>
          <p:cNvSpPr/>
          <p:nvPr/>
        </p:nvSpPr>
        <p:spPr>
          <a:xfrm>
            <a:off x="822960" y="1783080"/>
            <a:ext cx="640080" cy="640080"/>
          </a:xfrm>
          <a:prstGeom prst="ellipse">
            <a:avLst/>
          </a:prstGeom>
          <a:solidFill>
            <a:schemeClr val="accent1"/>
          </a:solidFill>
          <a:ln/>
        </p:spPr>
      </p:sp>
      <p:pic>
        <p:nvPicPr>
          <p:cNvPr id="5" name="icon-home-54" descr="home icon">    </p:cNvPr>
          <p:cNvPicPr>
            <a:picLocks noChangeAspect="1"/>
          </p:cNvPicPr>
          <p:nvPr/>
        </p:nvPicPr>
        <p:blipFill>
          <a:blip r:embed="rId1"/>
          <a:stretch>
            <a:fillRect/>
          </a:stretch>
        </p:blipFill>
        <p:spPr>
          <a:xfrm>
            <a:off x="982980" y="1943100"/>
            <a:ext cx="320040" cy="320040"/>
          </a:xfrm>
          <a:prstGeom prst="rect">
            <a:avLst/>
          </a:prstGeom>
        </p:spPr>
      </p:pic>
      <p:sp>
        <p:nvSpPr>
          <p:cNvPr id="6" name="Text 3"/>
          <p:cNvSpPr txBox="1"/>
          <p:nvPr/>
        </p:nvSpPr>
        <p:spPr>
          <a:xfrm>
            <a:off x="1645920" y="1783080"/>
            <a:ext cx="2142744" cy="640080"/>
          </a:xfrm>
          <a:prstGeom prst="rect">
            <a:avLst/>
          </a:prstGeom>
          <a:noFill/>
          <a:ln/>
        </p:spPr>
        <p:txBody>
          <a:bodyPr wrap="square" lIns="0" tIns="0" rIns="0" bIns="0" rtlCol="0" anchor="ctr"/>
          <a:lstStyle/>
          <a:p>
            <a:pPr indent="0" marL="0">
              <a:buNone/>
            </a:pPr>
            <a:r>
              <a:rPr lang="en-US" sz="2000" b="1" dirty="0">
                <a:solidFill>
                  <a:schemeClr val="bg1"/>
                </a:solidFill>
              </a:rPr>
              <a:t>Home control</a:t>
            </a:r>
            <a:endParaRPr lang="en-US" sz="2000" dirty="0"/>
          </a:p>
        </p:txBody>
      </p:sp>
      <p:sp>
        <p:nvSpPr>
          <p:cNvPr id="7" name="Text 4"/>
          <p:cNvSpPr txBox="1"/>
          <p:nvPr/>
        </p:nvSpPr>
        <p:spPr>
          <a:xfrm>
            <a:off x="822960" y="2697480"/>
            <a:ext cx="2965704" cy="777240"/>
          </a:xfrm>
          <a:prstGeom prst="rect">
            <a:avLst/>
          </a:prstGeom>
          <a:noFill/>
          <a:ln/>
        </p:spPr>
        <p:txBody>
          <a:bodyPr wrap="square" lIns="0" tIns="0" rIns="0" bIns="0" rtlCol="0" anchor="t"/>
          <a:lstStyle/>
          <a:p>
            <a:pPr indent="0" marL="0">
              <a:buNone/>
            </a:pPr>
            <a:r>
              <a:rPr lang="en-US" sz="1400" dirty="0">
                <a:solidFill>
                  <a:schemeClr val="bg1"/>
                </a:solidFill>
              </a:rPr>
              <a:t>Lighting, heating and A/C, appliances: the starting point.</a:t>
            </a:r>
            <a:endParaRPr lang="en-US" sz="1400" dirty="0"/>
          </a:p>
        </p:txBody>
      </p:sp>
      <p:sp>
        <p:nvSpPr>
          <p:cNvPr id="8" name="card-55"/>
          <p:cNvSpPr/>
          <p:nvPr/>
        </p:nvSpPr>
        <p:spPr>
          <a:xfrm>
            <a:off x="4337304" y="1508760"/>
            <a:ext cx="3514344" cy="2103120"/>
          </a:xfrm>
          <a:prstGeom prst="roundRect">
            <a:avLst>
              <a:gd name="adj" fmla="val 5217"/>
            </a:avLst>
          </a:prstGeom>
          <a:solidFill>
            <a:schemeClr val="bg2"/>
          </a:solidFill>
          <a:ln/>
        </p:spPr>
      </p:sp>
      <p:sp>
        <p:nvSpPr>
          <p:cNvPr id="9" name="icon-circle-56"/>
          <p:cNvSpPr/>
          <p:nvPr/>
        </p:nvSpPr>
        <p:spPr>
          <a:xfrm>
            <a:off x="4611624" y="1783080"/>
            <a:ext cx="640080" cy="640080"/>
          </a:xfrm>
          <a:prstGeom prst="ellipse">
            <a:avLst/>
          </a:prstGeom>
          <a:solidFill>
            <a:schemeClr val="accent2"/>
          </a:solidFill>
          <a:ln/>
        </p:spPr>
      </p:sp>
      <p:pic>
        <p:nvPicPr>
          <p:cNvPr id="10" name="icon-wallet-57" descr="wallet icon">    </p:cNvPr>
          <p:cNvPicPr>
            <a:picLocks noChangeAspect="1"/>
          </p:cNvPicPr>
          <p:nvPr/>
        </p:nvPicPr>
        <p:blipFill>
          <a:blip r:embed="rId2"/>
          <a:stretch>
            <a:fillRect/>
          </a:stretch>
        </p:blipFill>
        <p:spPr>
          <a:xfrm>
            <a:off x="4771644" y="1943100"/>
            <a:ext cx="320040" cy="320040"/>
          </a:xfrm>
          <a:prstGeom prst="rect">
            <a:avLst/>
          </a:prstGeom>
        </p:spPr>
      </p:pic>
      <p:sp>
        <p:nvSpPr>
          <p:cNvPr id="11" name="Text 7"/>
          <p:cNvSpPr txBox="1"/>
          <p:nvPr/>
        </p:nvSpPr>
        <p:spPr>
          <a:xfrm>
            <a:off x="5434584" y="1783080"/>
            <a:ext cx="2142744" cy="640080"/>
          </a:xfrm>
          <a:prstGeom prst="rect">
            <a:avLst/>
          </a:prstGeom>
          <a:noFill/>
          <a:ln/>
        </p:spPr>
        <p:txBody>
          <a:bodyPr wrap="square" lIns="0" tIns="0" rIns="0" bIns="0" rtlCol="0" anchor="ctr"/>
          <a:lstStyle/>
          <a:p>
            <a:pPr indent="0" marL="0">
              <a:buNone/>
            </a:pPr>
            <a:r>
              <a:rPr lang="en-US" sz="2000" b="1" dirty="0">
                <a:solidFill>
                  <a:schemeClr val="tx2"/>
                </a:solidFill>
              </a:rPr>
              <a:t>Finances</a:t>
            </a:r>
            <a:endParaRPr lang="en-US" sz="2000" dirty="0"/>
          </a:p>
        </p:txBody>
      </p:sp>
      <p:sp>
        <p:nvSpPr>
          <p:cNvPr id="12" name="Text 8"/>
          <p:cNvSpPr txBox="1"/>
          <p:nvPr/>
        </p:nvSpPr>
        <p:spPr>
          <a:xfrm>
            <a:off x="4611624" y="2697480"/>
            <a:ext cx="2965704" cy="777240"/>
          </a:xfrm>
          <a:prstGeom prst="rect">
            <a:avLst/>
          </a:prstGeom>
          <a:noFill/>
          <a:ln/>
        </p:spPr>
        <p:txBody>
          <a:bodyPr wrap="square" lIns="0" tIns="0" rIns="0" bIns="0" rtlCol="0" anchor="t"/>
          <a:lstStyle/>
          <a:p>
            <a:pPr indent="0" marL="0">
              <a:buNone/>
            </a:pPr>
            <a:r>
              <a:rPr lang="en-US" sz="1400" dirty="0">
                <a:solidFill>
                  <a:schemeClr val="tx1"/>
                </a:solidFill>
              </a:rPr>
              <a:t>Bills, budgets and receipts for the household.</a:t>
            </a:r>
            <a:endParaRPr lang="en-US" sz="1400" dirty="0"/>
          </a:p>
        </p:txBody>
      </p:sp>
      <p:sp>
        <p:nvSpPr>
          <p:cNvPr id="13" name="card-58"/>
          <p:cNvSpPr/>
          <p:nvPr/>
        </p:nvSpPr>
        <p:spPr>
          <a:xfrm>
            <a:off x="8125968" y="1508760"/>
            <a:ext cx="3514344" cy="2103120"/>
          </a:xfrm>
          <a:prstGeom prst="roundRect">
            <a:avLst>
              <a:gd name="adj" fmla="val 5217"/>
            </a:avLst>
          </a:prstGeom>
          <a:solidFill>
            <a:schemeClr val="bg2"/>
          </a:solidFill>
          <a:ln/>
        </p:spPr>
      </p:sp>
      <p:sp>
        <p:nvSpPr>
          <p:cNvPr id="14" name="icon-circle-59"/>
          <p:cNvSpPr/>
          <p:nvPr/>
        </p:nvSpPr>
        <p:spPr>
          <a:xfrm>
            <a:off x="8400288" y="1783080"/>
            <a:ext cx="640080" cy="640080"/>
          </a:xfrm>
          <a:prstGeom prst="ellipse">
            <a:avLst/>
          </a:prstGeom>
          <a:solidFill>
            <a:schemeClr val="accent2"/>
          </a:solidFill>
          <a:ln/>
        </p:spPr>
      </p:sp>
      <p:pic>
        <p:nvPicPr>
          <p:cNvPr id="15" name="icon-tv-60" descr="tv icon">    </p:cNvPr>
          <p:cNvPicPr>
            <a:picLocks noChangeAspect="1"/>
          </p:cNvPicPr>
          <p:nvPr/>
        </p:nvPicPr>
        <p:blipFill>
          <a:blip r:embed="rId3"/>
          <a:stretch>
            <a:fillRect/>
          </a:stretch>
        </p:blipFill>
        <p:spPr>
          <a:xfrm>
            <a:off x="8560308" y="1943100"/>
            <a:ext cx="320040" cy="320040"/>
          </a:xfrm>
          <a:prstGeom prst="rect">
            <a:avLst/>
          </a:prstGeom>
        </p:spPr>
      </p:pic>
      <p:sp>
        <p:nvSpPr>
          <p:cNvPr id="16" name="Text 11"/>
          <p:cNvSpPr txBox="1"/>
          <p:nvPr/>
        </p:nvSpPr>
        <p:spPr>
          <a:xfrm>
            <a:off x="9223248" y="1783080"/>
            <a:ext cx="2142744" cy="640080"/>
          </a:xfrm>
          <a:prstGeom prst="rect">
            <a:avLst/>
          </a:prstGeom>
          <a:noFill/>
          <a:ln/>
        </p:spPr>
        <p:txBody>
          <a:bodyPr wrap="square" lIns="0" tIns="0" rIns="0" bIns="0" rtlCol="0" anchor="ctr"/>
          <a:lstStyle/>
          <a:p>
            <a:pPr indent="0" marL="0">
              <a:buNone/>
            </a:pPr>
            <a:r>
              <a:rPr lang="en-US" sz="2000" b="1" dirty="0">
                <a:solidFill>
                  <a:schemeClr val="tx2"/>
                </a:solidFill>
              </a:rPr>
              <a:t>TV and media</a:t>
            </a:r>
            <a:endParaRPr lang="en-US" sz="2000" dirty="0"/>
          </a:p>
        </p:txBody>
      </p:sp>
      <p:sp>
        <p:nvSpPr>
          <p:cNvPr id="17" name="Text 12"/>
          <p:cNvSpPr txBox="1"/>
          <p:nvPr/>
        </p:nvSpPr>
        <p:spPr>
          <a:xfrm>
            <a:off x="8400288" y="2697480"/>
            <a:ext cx="2965704" cy="777240"/>
          </a:xfrm>
          <a:prstGeom prst="rect">
            <a:avLst/>
          </a:prstGeom>
          <a:noFill/>
          <a:ln/>
        </p:spPr>
        <p:txBody>
          <a:bodyPr wrap="square" lIns="0" tIns="0" rIns="0" bIns="0" rtlCol="0" anchor="t"/>
          <a:lstStyle/>
          <a:p>
            <a:pPr indent="0" marL="0">
              <a:buNone/>
            </a:pPr>
            <a:r>
              <a:rPr lang="en-US" sz="1400" dirty="0">
                <a:solidFill>
                  <a:schemeClr val="tx1"/>
                </a:solidFill>
              </a:rPr>
              <a:t>Programming schedules built around the family.</a:t>
            </a:r>
            <a:endParaRPr lang="en-US" sz="1400" dirty="0"/>
          </a:p>
        </p:txBody>
      </p:sp>
      <p:sp>
        <p:nvSpPr>
          <p:cNvPr id="18" name="card-61"/>
          <p:cNvSpPr/>
          <p:nvPr/>
        </p:nvSpPr>
        <p:spPr>
          <a:xfrm>
            <a:off x="548640" y="3886200"/>
            <a:ext cx="3514344" cy="2103120"/>
          </a:xfrm>
          <a:prstGeom prst="roundRect">
            <a:avLst>
              <a:gd name="adj" fmla="val 5217"/>
            </a:avLst>
          </a:prstGeom>
          <a:solidFill>
            <a:schemeClr val="bg2"/>
          </a:solidFill>
          <a:ln/>
        </p:spPr>
      </p:sp>
      <p:sp>
        <p:nvSpPr>
          <p:cNvPr id="19" name="icon-circle-62"/>
          <p:cNvSpPr/>
          <p:nvPr/>
        </p:nvSpPr>
        <p:spPr>
          <a:xfrm>
            <a:off x="822960" y="4160520"/>
            <a:ext cx="640080" cy="640080"/>
          </a:xfrm>
          <a:prstGeom prst="ellipse">
            <a:avLst/>
          </a:prstGeom>
          <a:solidFill>
            <a:schemeClr val="accent2"/>
          </a:solidFill>
          <a:ln/>
        </p:spPr>
      </p:sp>
      <p:pic>
        <p:nvPicPr>
          <p:cNvPr id="20" name="icon-learn-63" descr="learn icon">    </p:cNvPr>
          <p:cNvPicPr>
            <a:picLocks noChangeAspect="1"/>
          </p:cNvPicPr>
          <p:nvPr/>
        </p:nvPicPr>
        <p:blipFill>
          <a:blip r:embed="rId4"/>
          <a:stretch>
            <a:fillRect/>
          </a:stretch>
        </p:blipFill>
        <p:spPr>
          <a:xfrm>
            <a:off x="982980" y="4320540"/>
            <a:ext cx="320040" cy="320040"/>
          </a:xfrm>
          <a:prstGeom prst="rect">
            <a:avLst/>
          </a:prstGeom>
        </p:spPr>
      </p:pic>
      <p:sp>
        <p:nvSpPr>
          <p:cNvPr id="21" name="Text 15"/>
          <p:cNvSpPr txBox="1"/>
          <p:nvPr/>
        </p:nvSpPr>
        <p:spPr>
          <a:xfrm>
            <a:off x="1645920" y="4160520"/>
            <a:ext cx="2142744" cy="640080"/>
          </a:xfrm>
          <a:prstGeom prst="rect">
            <a:avLst/>
          </a:prstGeom>
          <a:noFill/>
          <a:ln/>
        </p:spPr>
        <p:txBody>
          <a:bodyPr wrap="square" lIns="0" tIns="0" rIns="0" bIns="0" rtlCol="0" anchor="ctr"/>
          <a:lstStyle/>
          <a:p>
            <a:pPr indent="0" marL="0">
              <a:buNone/>
            </a:pPr>
            <a:r>
              <a:rPr lang="en-US" sz="2000" b="1" dirty="0">
                <a:solidFill>
                  <a:schemeClr val="tx2"/>
                </a:solidFill>
              </a:rPr>
              <a:t>Kids’ learning</a:t>
            </a:r>
            <a:endParaRPr lang="en-US" sz="2000" dirty="0"/>
          </a:p>
        </p:txBody>
      </p:sp>
      <p:sp>
        <p:nvSpPr>
          <p:cNvPr id="22" name="Text 16"/>
          <p:cNvSpPr txBox="1"/>
          <p:nvPr/>
        </p:nvSpPr>
        <p:spPr>
          <a:xfrm>
            <a:off x="822960" y="5074920"/>
            <a:ext cx="2965704" cy="777240"/>
          </a:xfrm>
          <a:prstGeom prst="rect">
            <a:avLst/>
          </a:prstGeom>
          <a:noFill/>
          <a:ln/>
        </p:spPr>
        <p:txBody>
          <a:bodyPr wrap="square" lIns="0" tIns="0" rIns="0" bIns="0" rtlCol="0" anchor="t"/>
          <a:lstStyle/>
          <a:p>
            <a:pPr indent="0" marL="0">
              <a:buNone/>
            </a:pPr>
            <a:r>
              <a:rPr lang="en-US" sz="1400" dirty="0">
                <a:solidFill>
                  <a:schemeClr val="tx1"/>
                </a:solidFill>
              </a:rPr>
              <a:t>Learning tools such as the Spanish flashcards.</a:t>
            </a:r>
            <a:endParaRPr lang="en-US" sz="1400" dirty="0"/>
          </a:p>
        </p:txBody>
      </p:sp>
      <p:sp>
        <p:nvSpPr>
          <p:cNvPr id="23" name="card-64"/>
          <p:cNvSpPr/>
          <p:nvPr/>
        </p:nvSpPr>
        <p:spPr>
          <a:xfrm>
            <a:off x="4337304" y="3886200"/>
            <a:ext cx="3514344" cy="2103120"/>
          </a:xfrm>
          <a:prstGeom prst="roundRect">
            <a:avLst>
              <a:gd name="adj" fmla="val 5217"/>
            </a:avLst>
          </a:prstGeom>
          <a:solidFill>
            <a:schemeClr val="bg2"/>
          </a:solidFill>
          <a:ln/>
        </p:spPr>
      </p:sp>
      <p:sp>
        <p:nvSpPr>
          <p:cNvPr id="24" name="icon-circle-65"/>
          <p:cNvSpPr/>
          <p:nvPr/>
        </p:nvSpPr>
        <p:spPr>
          <a:xfrm>
            <a:off x="4611624" y="4160520"/>
            <a:ext cx="640080" cy="640080"/>
          </a:xfrm>
          <a:prstGeom prst="ellipse">
            <a:avLst/>
          </a:prstGeom>
          <a:solidFill>
            <a:schemeClr val="accent2"/>
          </a:solidFill>
          <a:ln/>
        </p:spPr>
      </p:sp>
      <p:pic>
        <p:nvPicPr>
          <p:cNvPr id="25" name="icon-calendar-66" descr="calendar icon">    </p:cNvPr>
          <p:cNvPicPr>
            <a:picLocks noChangeAspect="1"/>
          </p:cNvPicPr>
          <p:nvPr/>
        </p:nvPicPr>
        <p:blipFill>
          <a:blip r:embed="rId5"/>
          <a:stretch>
            <a:fillRect/>
          </a:stretch>
        </p:blipFill>
        <p:spPr>
          <a:xfrm>
            <a:off x="4771644" y="4320540"/>
            <a:ext cx="320040" cy="320040"/>
          </a:xfrm>
          <a:prstGeom prst="rect">
            <a:avLst/>
          </a:prstGeom>
        </p:spPr>
      </p:pic>
      <p:sp>
        <p:nvSpPr>
          <p:cNvPr id="26" name="Text 19"/>
          <p:cNvSpPr txBox="1"/>
          <p:nvPr/>
        </p:nvSpPr>
        <p:spPr>
          <a:xfrm>
            <a:off x="5434584" y="4160520"/>
            <a:ext cx="2142744" cy="640080"/>
          </a:xfrm>
          <a:prstGeom prst="rect">
            <a:avLst/>
          </a:prstGeom>
          <a:noFill/>
          <a:ln/>
        </p:spPr>
        <p:txBody>
          <a:bodyPr wrap="square" lIns="0" tIns="0" rIns="0" bIns="0" rtlCol="0" anchor="ctr"/>
          <a:lstStyle/>
          <a:p>
            <a:pPr indent="0" marL="0">
              <a:buNone/>
            </a:pPr>
            <a:r>
              <a:rPr lang="en-US" sz="2000" b="1" dirty="0">
                <a:solidFill>
                  <a:schemeClr val="tx2"/>
                </a:solidFill>
              </a:rPr>
              <a:t>Weekly planning</a:t>
            </a:r>
            <a:endParaRPr lang="en-US" sz="2000" dirty="0"/>
          </a:p>
        </p:txBody>
      </p:sp>
      <p:sp>
        <p:nvSpPr>
          <p:cNvPr id="27" name="Text 20"/>
          <p:cNvSpPr txBox="1"/>
          <p:nvPr/>
        </p:nvSpPr>
        <p:spPr>
          <a:xfrm>
            <a:off x="4611624" y="5074920"/>
            <a:ext cx="2965704" cy="777240"/>
          </a:xfrm>
          <a:prstGeom prst="rect">
            <a:avLst/>
          </a:prstGeom>
          <a:noFill/>
          <a:ln/>
        </p:spPr>
        <p:txBody>
          <a:bodyPr wrap="square" lIns="0" tIns="0" rIns="0" bIns="0" rtlCol="0" anchor="t"/>
          <a:lstStyle/>
          <a:p>
            <a:pPr indent="0" marL="0">
              <a:buNone/>
            </a:pPr>
            <a:r>
              <a:rPr lang="en-US" sz="1400" dirty="0">
                <a:solidFill>
                  <a:schemeClr val="tx1"/>
                </a:solidFill>
              </a:rPr>
              <a:t>Appointments, meals and shopping in one plan.</a:t>
            </a:r>
            <a:endParaRPr lang="en-US" sz="1400" dirty="0"/>
          </a:p>
        </p:txBody>
      </p:sp>
      <p:sp>
        <p:nvSpPr>
          <p:cNvPr id="28" name="card-67"/>
          <p:cNvSpPr/>
          <p:nvPr/>
        </p:nvSpPr>
        <p:spPr>
          <a:xfrm>
            <a:off x="8125968" y="3886200"/>
            <a:ext cx="3514344" cy="2103120"/>
          </a:xfrm>
          <a:prstGeom prst="roundRect">
            <a:avLst>
              <a:gd name="adj" fmla="val 5217"/>
            </a:avLst>
          </a:prstGeom>
          <a:solidFill>
            <a:schemeClr val="bg2"/>
          </a:solidFill>
          <a:ln/>
        </p:spPr>
      </p:sp>
      <p:sp>
        <p:nvSpPr>
          <p:cNvPr id="29" name="icon-circle-68"/>
          <p:cNvSpPr/>
          <p:nvPr/>
        </p:nvSpPr>
        <p:spPr>
          <a:xfrm>
            <a:off x="8400288" y="4160520"/>
            <a:ext cx="640080" cy="640080"/>
          </a:xfrm>
          <a:prstGeom prst="ellipse">
            <a:avLst/>
          </a:prstGeom>
          <a:solidFill>
            <a:schemeClr val="accent2"/>
          </a:solidFill>
          <a:ln/>
        </p:spPr>
      </p:sp>
      <p:pic>
        <p:nvPicPr>
          <p:cNvPr id="30" name="icon-brain-69" descr="brain icon">    </p:cNvPr>
          <p:cNvPicPr>
            <a:picLocks noChangeAspect="1"/>
          </p:cNvPicPr>
          <p:nvPr/>
        </p:nvPicPr>
        <p:blipFill>
          <a:blip r:embed="rId6"/>
          <a:stretch>
            <a:fillRect/>
          </a:stretch>
        </p:blipFill>
        <p:spPr>
          <a:xfrm>
            <a:off x="8560308" y="4320540"/>
            <a:ext cx="320040" cy="320040"/>
          </a:xfrm>
          <a:prstGeom prst="rect">
            <a:avLst/>
          </a:prstGeom>
        </p:spPr>
      </p:pic>
      <p:sp>
        <p:nvSpPr>
          <p:cNvPr id="31" name="Text 23"/>
          <p:cNvSpPr txBox="1"/>
          <p:nvPr/>
        </p:nvSpPr>
        <p:spPr>
          <a:xfrm>
            <a:off x="9223248" y="4160520"/>
            <a:ext cx="2142744" cy="640080"/>
          </a:xfrm>
          <a:prstGeom prst="rect">
            <a:avLst/>
          </a:prstGeom>
          <a:noFill/>
          <a:ln/>
        </p:spPr>
        <p:txBody>
          <a:bodyPr wrap="square" lIns="0" tIns="0" rIns="0" bIns="0" rtlCol="0" anchor="ctr"/>
          <a:lstStyle/>
          <a:p>
            <a:pPr indent="0" marL="0">
              <a:buNone/>
            </a:pPr>
            <a:r>
              <a:rPr lang="en-US" sz="2000" b="1" dirty="0">
                <a:solidFill>
                  <a:schemeClr val="tx2"/>
                </a:solidFill>
              </a:rPr>
              <a:t>Anticipating needs</a:t>
            </a:r>
            <a:endParaRPr lang="en-US" sz="2000" dirty="0"/>
          </a:p>
        </p:txBody>
      </p:sp>
      <p:sp>
        <p:nvSpPr>
          <p:cNvPr id="32" name="Text 24"/>
          <p:cNvSpPr txBox="1"/>
          <p:nvPr/>
        </p:nvSpPr>
        <p:spPr>
          <a:xfrm>
            <a:off x="8400288" y="5074920"/>
            <a:ext cx="2965704" cy="777240"/>
          </a:xfrm>
          <a:prstGeom prst="rect">
            <a:avLst/>
          </a:prstGeom>
          <a:noFill/>
          <a:ln/>
        </p:spPr>
        <p:txBody>
          <a:bodyPr wrap="square" lIns="0" tIns="0" rIns="0" bIns="0" rtlCol="0" anchor="t"/>
          <a:lstStyle/>
          <a:p>
            <a:pPr indent="0" marL="0">
              <a:buNone/>
            </a:pPr>
            <a:r>
              <a:rPr lang="en-US" sz="1400" dirty="0">
                <a:solidFill>
                  <a:schemeClr val="tx1"/>
                </a:solidFill>
              </a:rPr>
              <a:t>Spots what is coming before anyone asks.</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A day in the life of the household</a:t>
            </a:r>
            <a:endParaRPr lang="en-US" sz="3600" dirty="0"/>
          </a:p>
        </p:txBody>
      </p:sp>
      <p:sp>
        <p:nvSpPr>
          <p:cNvPr id="3" name="line-70"/>
          <p:cNvSpPr/>
          <p:nvPr/>
        </p:nvSpPr>
        <p:spPr>
          <a:xfrm>
            <a:off x="960120" y="2423160"/>
            <a:ext cx="9056218" cy="0"/>
          </a:xfrm>
          <a:prstGeom prst="line">
            <a:avLst/>
          </a:prstGeom>
          <a:noFill/>
          <a:ln w="31750">
            <a:solidFill>
              <a:schemeClr val="accent3"/>
            </a:solidFill>
            <a:prstDash val="solid"/>
          </a:ln>
        </p:spPr>
      </p:sp>
      <p:sp>
        <p:nvSpPr>
          <p:cNvPr id="4" name="icon-circle-71"/>
          <p:cNvSpPr/>
          <p:nvPr/>
        </p:nvSpPr>
        <p:spPr>
          <a:xfrm>
            <a:off x="548640" y="2011680"/>
            <a:ext cx="822960" cy="822960"/>
          </a:xfrm>
          <a:prstGeom prst="ellipse">
            <a:avLst/>
          </a:prstGeom>
          <a:solidFill>
            <a:schemeClr val="accent2"/>
          </a:solidFill>
          <a:ln/>
        </p:spPr>
      </p:sp>
      <p:pic>
        <p:nvPicPr>
          <p:cNvPr id="5" name="icon-calendar-72" descr="calendar icon">    </p:cNvPr>
          <p:cNvPicPr>
            <a:picLocks noChangeAspect="1"/>
          </p:cNvPicPr>
          <p:nvPr/>
        </p:nvPicPr>
        <p:blipFill>
          <a:blip r:embed="rId1"/>
          <a:stretch>
            <a:fillRect/>
          </a:stretch>
        </p:blipFill>
        <p:spPr>
          <a:xfrm>
            <a:off x="754380" y="2217420"/>
            <a:ext cx="411480" cy="411480"/>
          </a:xfrm>
          <a:prstGeom prst="rect">
            <a:avLst/>
          </a:prstGeom>
        </p:spPr>
      </p:pic>
      <p:sp>
        <p:nvSpPr>
          <p:cNvPr id="6" name="card-73"/>
          <p:cNvSpPr/>
          <p:nvPr/>
        </p:nvSpPr>
        <p:spPr>
          <a:xfrm>
            <a:off x="548640" y="3017520"/>
            <a:ext cx="2035454" cy="2468880"/>
          </a:xfrm>
          <a:prstGeom prst="roundRect">
            <a:avLst>
              <a:gd name="adj" fmla="val 5391"/>
            </a:avLst>
          </a:prstGeom>
          <a:solidFill>
            <a:schemeClr val="bg2"/>
          </a:solidFill>
          <a:ln/>
        </p:spPr>
      </p:sp>
      <p:sp>
        <p:nvSpPr>
          <p:cNvPr id="7" name="Text 4"/>
          <p:cNvSpPr txBox="1"/>
          <p:nvPr/>
        </p:nvSpPr>
        <p:spPr>
          <a:xfrm>
            <a:off x="731520" y="3200400"/>
            <a:ext cx="1669694" cy="320040"/>
          </a:xfrm>
          <a:prstGeom prst="rect">
            <a:avLst/>
          </a:prstGeom>
          <a:noFill/>
          <a:ln/>
        </p:spPr>
        <p:txBody>
          <a:bodyPr wrap="square" lIns="0" tIns="0" rIns="0" bIns="0" rtlCol="0" anchor="t"/>
          <a:lstStyle/>
          <a:p>
            <a:pPr indent="0" marL="0">
              <a:buNone/>
            </a:pPr>
            <a:r>
              <a:rPr lang="en-US" sz="2000" b="1" dirty="0">
                <a:solidFill>
                  <a:schemeClr val="tx2"/>
                </a:solidFill>
              </a:rPr>
              <a:t>Morning</a:t>
            </a:r>
            <a:endParaRPr lang="en-US" sz="2000" dirty="0"/>
          </a:p>
        </p:txBody>
      </p:sp>
      <p:sp>
        <p:nvSpPr>
          <p:cNvPr id="8" name="Text 5"/>
          <p:cNvSpPr txBox="1"/>
          <p:nvPr/>
        </p:nvSpPr>
        <p:spPr>
          <a:xfrm>
            <a:off x="731520" y="3566160"/>
            <a:ext cx="1669694" cy="274320"/>
          </a:xfrm>
          <a:prstGeom prst="rect">
            <a:avLst/>
          </a:prstGeom>
          <a:noFill/>
          <a:ln/>
        </p:spPr>
        <p:txBody>
          <a:bodyPr wrap="square" lIns="0" tIns="0" rIns="0" bIns="0" rtlCol="0" anchor="t"/>
          <a:lstStyle/>
          <a:p>
            <a:pPr indent="0" marL="0">
              <a:buNone/>
            </a:pPr>
            <a:r>
              <a:rPr lang="en-US" sz="1400" b="1" dirty="0">
                <a:solidFill>
                  <a:schemeClr val="accent1"/>
                </a:solidFill>
              </a:rPr>
              <a:t>Planning</a:t>
            </a:r>
            <a:endParaRPr lang="en-US" sz="1400" dirty="0"/>
          </a:p>
        </p:txBody>
      </p:sp>
      <p:sp>
        <p:nvSpPr>
          <p:cNvPr id="9" name="Text 6"/>
          <p:cNvSpPr txBox="1"/>
          <p:nvPr/>
        </p:nvSpPr>
        <p:spPr>
          <a:xfrm>
            <a:off x="731520" y="3977640"/>
            <a:ext cx="1669694" cy="1371600"/>
          </a:xfrm>
          <a:prstGeom prst="rect">
            <a:avLst/>
          </a:prstGeom>
          <a:noFill/>
          <a:ln/>
        </p:spPr>
        <p:txBody>
          <a:bodyPr wrap="square" lIns="0" tIns="0" rIns="0" bIns="0" rtlCol="0" anchor="t"/>
          <a:lstStyle/>
          <a:p>
            <a:pPr indent="0" marL="0">
              <a:buNone/>
            </a:pPr>
            <a:r>
              <a:rPr lang="en-US" sz="1400" dirty="0">
                <a:solidFill>
                  <a:schemeClr val="tx1"/>
                </a:solidFill>
              </a:rPr>
              <a:t>One brief with today’s appointments, meals and shopping.</a:t>
            </a:r>
            <a:endParaRPr lang="en-US" sz="1400" dirty="0"/>
          </a:p>
        </p:txBody>
      </p:sp>
      <p:sp>
        <p:nvSpPr>
          <p:cNvPr id="10" name="icon-circle-74"/>
          <p:cNvSpPr/>
          <p:nvPr/>
        </p:nvSpPr>
        <p:spPr>
          <a:xfrm>
            <a:off x="2812694" y="2011680"/>
            <a:ext cx="822960" cy="822960"/>
          </a:xfrm>
          <a:prstGeom prst="ellipse">
            <a:avLst/>
          </a:prstGeom>
          <a:solidFill>
            <a:schemeClr val="accent1"/>
          </a:solidFill>
          <a:ln/>
        </p:spPr>
      </p:sp>
      <p:pic>
        <p:nvPicPr>
          <p:cNvPr id="11" name="icon-therm-75" descr="therm icon">    </p:cNvPr>
          <p:cNvPicPr>
            <a:picLocks noChangeAspect="1"/>
          </p:cNvPicPr>
          <p:nvPr/>
        </p:nvPicPr>
        <p:blipFill>
          <a:blip r:embed="rId2"/>
          <a:stretch>
            <a:fillRect/>
          </a:stretch>
        </p:blipFill>
        <p:spPr>
          <a:xfrm>
            <a:off x="3018434" y="2217420"/>
            <a:ext cx="411480" cy="411480"/>
          </a:xfrm>
          <a:prstGeom prst="rect">
            <a:avLst/>
          </a:prstGeom>
        </p:spPr>
      </p:pic>
      <p:sp>
        <p:nvSpPr>
          <p:cNvPr id="12" name="card-76"/>
          <p:cNvSpPr/>
          <p:nvPr/>
        </p:nvSpPr>
        <p:spPr>
          <a:xfrm>
            <a:off x="2812694" y="3017520"/>
            <a:ext cx="2035454" cy="2468880"/>
          </a:xfrm>
          <a:prstGeom prst="roundRect">
            <a:avLst>
              <a:gd name="adj" fmla="val 5391"/>
            </a:avLst>
          </a:prstGeom>
          <a:solidFill>
            <a:schemeClr val="bg2"/>
          </a:solidFill>
          <a:ln/>
        </p:spPr>
      </p:sp>
      <p:sp>
        <p:nvSpPr>
          <p:cNvPr id="13" name="Text 9"/>
          <p:cNvSpPr txBox="1"/>
          <p:nvPr/>
        </p:nvSpPr>
        <p:spPr>
          <a:xfrm>
            <a:off x="2995574" y="3200400"/>
            <a:ext cx="1669694" cy="320040"/>
          </a:xfrm>
          <a:prstGeom prst="rect">
            <a:avLst/>
          </a:prstGeom>
          <a:noFill/>
          <a:ln/>
        </p:spPr>
        <p:txBody>
          <a:bodyPr wrap="square" lIns="0" tIns="0" rIns="0" bIns="0" rtlCol="0" anchor="t"/>
          <a:lstStyle/>
          <a:p>
            <a:pPr indent="0" marL="0">
              <a:buNone/>
            </a:pPr>
            <a:r>
              <a:rPr lang="en-US" sz="2000" b="1" dirty="0">
                <a:solidFill>
                  <a:schemeClr val="tx2"/>
                </a:solidFill>
              </a:rPr>
              <a:t>Midday</a:t>
            </a:r>
            <a:endParaRPr lang="en-US" sz="2000" dirty="0"/>
          </a:p>
        </p:txBody>
      </p:sp>
      <p:sp>
        <p:nvSpPr>
          <p:cNvPr id="14" name="Text 10"/>
          <p:cNvSpPr txBox="1"/>
          <p:nvPr/>
        </p:nvSpPr>
        <p:spPr>
          <a:xfrm>
            <a:off x="2995574" y="3566160"/>
            <a:ext cx="1669694" cy="274320"/>
          </a:xfrm>
          <a:prstGeom prst="rect">
            <a:avLst/>
          </a:prstGeom>
          <a:noFill/>
          <a:ln/>
        </p:spPr>
        <p:txBody>
          <a:bodyPr wrap="square" lIns="0" tIns="0" rIns="0" bIns="0" rtlCol="0" anchor="t"/>
          <a:lstStyle/>
          <a:p>
            <a:pPr indent="0" marL="0">
              <a:buNone/>
            </a:pPr>
            <a:r>
              <a:rPr lang="en-US" sz="1400" b="1" dirty="0">
                <a:solidFill>
                  <a:schemeClr val="accent1"/>
                </a:solidFill>
              </a:rPr>
              <a:t>Home</a:t>
            </a:r>
            <a:endParaRPr lang="en-US" sz="1400" dirty="0"/>
          </a:p>
        </p:txBody>
      </p:sp>
      <p:sp>
        <p:nvSpPr>
          <p:cNvPr id="15" name="Text 11"/>
          <p:cNvSpPr txBox="1"/>
          <p:nvPr/>
        </p:nvSpPr>
        <p:spPr>
          <a:xfrm>
            <a:off x="2995574" y="3977640"/>
            <a:ext cx="1669694" cy="1371600"/>
          </a:xfrm>
          <a:prstGeom prst="rect">
            <a:avLst/>
          </a:prstGeom>
          <a:noFill/>
          <a:ln/>
        </p:spPr>
        <p:txBody>
          <a:bodyPr wrap="square" lIns="0" tIns="0" rIns="0" bIns="0" rtlCol="0" anchor="t"/>
          <a:lstStyle/>
          <a:p>
            <a:pPr indent="0" marL="0">
              <a:buNone/>
            </a:pPr>
            <a:r>
              <a:rPr lang="en-US" sz="1400" dirty="0">
                <a:solidFill>
                  <a:schemeClr val="tx1"/>
                </a:solidFill>
              </a:rPr>
              <a:t>Heating, A/C and lights adjust: “Make it comfortable before I’m back.”</a:t>
            </a:r>
            <a:endParaRPr lang="en-US" sz="1400" dirty="0"/>
          </a:p>
        </p:txBody>
      </p:sp>
      <p:sp>
        <p:nvSpPr>
          <p:cNvPr id="16" name="icon-circle-77"/>
          <p:cNvSpPr/>
          <p:nvPr/>
        </p:nvSpPr>
        <p:spPr>
          <a:xfrm>
            <a:off x="5076749" y="2011680"/>
            <a:ext cx="822960" cy="822960"/>
          </a:xfrm>
          <a:prstGeom prst="ellipse">
            <a:avLst/>
          </a:prstGeom>
          <a:solidFill>
            <a:schemeClr val="accent2"/>
          </a:solidFill>
          <a:ln/>
        </p:spPr>
      </p:sp>
      <p:pic>
        <p:nvPicPr>
          <p:cNvPr id="17" name="icon-learn-78" descr="learn icon">    </p:cNvPr>
          <p:cNvPicPr>
            <a:picLocks noChangeAspect="1"/>
          </p:cNvPicPr>
          <p:nvPr/>
        </p:nvPicPr>
        <p:blipFill>
          <a:blip r:embed="rId3"/>
          <a:stretch>
            <a:fillRect/>
          </a:stretch>
        </p:blipFill>
        <p:spPr>
          <a:xfrm>
            <a:off x="5282489" y="2217420"/>
            <a:ext cx="411480" cy="411480"/>
          </a:xfrm>
          <a:prstGeom prst="rect">
            <a:avLst/>
          </a:prstGeom>
        </p:spPr>
      </p:pic>
      <p:sp>
        <p:nvSpPr>
          <p:cNvPr id="18" name="card-79"/>
          <p:cNvSpPr/>
          <p:nvPr/>
        </p:nvSpPr>
        <p:spPr>
          <a:xfrm>
            <a:off x="5076749" y="3017520"/>
            <a:ext cx="2035454" cy="2468880"/>
          </a:xfrm>
          <a:prstGeom prst="roundRect">
            <a:avLst>
              <a:gd name="adj" fmla="val 5391"/>
            </a:avLst>
          </a:prstGeom>
          <a:solidFill>
            <a:schemeClr val="bg2"/>
          </a:solidFill>
          <a:ln/>
        </p:spPr>
      </p:sp>
      <p:sp>
        <p:nvSpPr>
          <p:cNvPr id="19" name="Text 14"/>
          <p:cNvSpPr txBox="1"/>
          <p:nvPr/>
        </p:nvSpPr>
        <p:spPr>
          <a:xfrm>
            <a:off x="5259629" y="3200400"/>
            <a:ext cx="1669694" cy="320040"/>
          </a:xfrm>
          <a:prstGeom prst="rect">
            <a:avLst/>
          </a:prstGeom>
          <a:noFill/>
          <a:ln/>
        </p:spPr>
        <p:txBody>
          <a:bodyPr wrap="square" lIns="0" tIns="0" rIns="0" bIns="0" rtlCol="0" anchor="t"/>
          <a:lstStyle/>
          <a:p>
            <a:pPr indent="0" marL="0">
              <a:buNone/>
            </a:pPr>
            <a:r>
              <a:rPr lang="en-US" sz="2000" b="1" dirty="0">
                <a:solidFill>
                  <a:schemeClr val="tx2"/>
                </a:solidFill>
              </a:rPr>
              <a:t>Afternoon</a:t>
            </a:r>
            <a:endParaRPr lang="en-US" sz="2000" dirty="0"/>
          </a:p>
        </p:txBody>
      </p:sp>
      <p:sp>
        <p:nvSpPr>
          <p:cNvPr id="20" name="Text 15"/>
          <p:cNvSpPr txBox="1"/>
          <p:nvPr/>
        </p:nvSpPr>
        <p:spPr>
          <a:xfrm>
            <a:off x="5259629" y="3566160"/>
            <a:ext cx="1669694" cy="274320"/>
          </a:xfrm>
          <a:prstGeom prst="rect">
            <a:avLst/>
          </a:prstGeom>
          <a:noFill/>
          <a:ln/>
        </p:spPr>
        <p:txBody>
          <a:bodyPr wrap="square" lIns="0" tIns="0" rIns="0" bIns="0" rtlCol="0" anchor="t"/>
          <a:lstStyle/>
          <a:p>
            <a:pPr indent="0" marL="0">
              <a:buNone/>
            </a:pPr>
            <a:r>
              <a:rPr lang="en-US" sz="1400" b="1" dirty="0">
                <a:solidFill>
                  <a:schemeClr val="accent1"/>
                </a:solidFill>
              </a:rPr>
              <a:t>Kids</a:t>
            </a:r>
            <a:endParaRPr lang="en-US" sz="1400" dirty="0"/>
          </a:p>
        </p:txBody>
      </p:sp>
      <p:sp>
        <p:nvSpPr>
          <p:cNvPr id="21" name="Text 16"/>
          <p:cNvSpPr txBox="1"/>
          <p:nvPr/>
        </p:nvSpPr>
        <p:spPr>
          <a:xfrm>
            <a:off x="5259629" y="3977640"/>
            <a:ext cx="1669694" cy="1371600"/>
          </a:xfrm>
          <a:prstGeom prst="rect">
            <a:avLst/>
          </a:prstGeom>
          <a:noFill/>
          <a:ln/>
        </p:spPr>
        <p:txBody>
          <a:bodyPr wrap="square" lIns="0" tIns="0" rIns="0" bIns="0" rtlCol="0" anchor="t"/>
          <a:lstStyle/>
          <a:p>
            <a:pPr indent="0" marL="0">
              <a:buNone/>
            </a:pPr>
            <a:r>
              <a:rPr lang="en-US" sz="1400" dirty="0">
                <a:solidFill>
                  <a:schemeClr val="tx1"/>
                </a:solidFill>
              </a:rPr>
              <a:t>A Spanish flashcard quiz is ready when school ends.</a:t>
            </a:r>
            <a:endParaRPr lang="en-US" sz="1400" dirty="0"/>
          </a:p>
        </p:txBody>
      </p:sp>
      <p:sp>
        <p:nvSpPr>
          <p:cNvPr id="22" name="icon-circle-80"/>
          <p:cNvSpPr/>
          <p:nvPr/>
        </p:nvSpPr>
        <p:spPr>
          <a:xfrm>
            <a:off x="7340803" y="2011680"/>
            <a:ext cx="822960" cy="822960"/>
          </a:xfrm>
          <a:prstGeom prst="ellipse">
            <a:avLst/>
          </a:prstGeom>
          <a:solidFill>
            <a:schemeClr val="accent2"/>
          </a:solidFill>
          <a:ln/>
        </p:spPr>
      </p:sp>
      <p:pic>
        <p:nvPicPr>
          <p:cNvPr id="23" name="icon-tv-81" descr="tv icon">    </p:cNvPr>
          <p:cNvPicPr>
            <a:picLocks noChangeAspect="1"/>
          </p:cNvPicPr>
          <p:nvPr/>
        </p:nvPicPr>
        <p:blipFill>
          <a:blip r:embed="rId4"/>
          <a:stretch>
            <a:fillRect/>
          </a:stretch>
        </p:blipFill>
        <p:spPr>
          <a:xfrm>
            <a:off x="7546543" y="2217420"/>
            <a:ext cx="411480" cy="411480"/>
          </a:xfrm>
          <a:prstGeom prst="rect">
            <a:avLst/>
          </a:prstGeom>
        </p:spPr>
      </p:pic>
      <p:sp>
        <p:nvSpPr>
          <p:cNvPr id="24" name="card-82"/>
          <p:cNvSpPr/>
          <p:nvPr/>
        </p:nvSpPr>
        <p:spPr>
          <a:xfrm>
            <a:off x="7340803" y="3017520"/>
            <a:ext cx="2035454" cy="2468880"/>
          </a:xfrm>
          <a:prstGeom prst="roundRect">
            <a:avLst>
              <a:gd name="adj" fmla="val 5391"/>
            </a:avLst>
          </a:prstGeom>
          <a:solidFill>
            <a:schemeClr val="bg2"/>
          </a:solidFill>
          <a:ln/>
        </p:spPr>
      </p:sp>
      <p:sp>
        <p:nvSpPr>
          <p:cNvPr id="25" name="Text 19"/>
          <p:cNvSpPr txBox="1"/>
          <p:nvPr/>
        </p:nvSpPr>
        <p:spPr>
          <a:xfrm>
            <a:off x="7523683" y="3200400"/>
            <a:ext cx="1669694" cy="320040"/>
          </a:xfrm>
          <a:prstGeom prst="rect">
            <a:avLst/>
          </a:prstGeom>
          <a:noFill/>
          <a:ln/>
        </p:spPr>
        <p:txBody>
          <a:bodyPr wrap="square" lIns="0" tIns="0" rIns="0" bIns="0" rtlCol="0" anchor="t"/>
          <a:lstStyle/>
          <a:p>
            <a:pPr indent="0" marL="0">
              <a:buNone/>
            </a:pPr>
            <a:r>
              <a:rPr lang="en-US" sz="2000" b="1" dirty="0">
                <a:solidFill>
                  <a:schemeClr val="tx2"/>
                </a:solidFill>
              </a:rPr>
              <a:t>Evening</a:t>
            </a:r>
            <a:endParaRPr lang="en-US" sz="2000" dirty="0"/>
          </a:p>
        </p:txBody>
      </p:sp>
      <p:sp>
        <p:nvSpPr>
          <p:cNvPr id="26" name="Text 20"/>
          <p:cNvSpPr txBox="1"/>
          <p:nvPr/>
        </p:nvSpPr>
        <p:spPr>
          <a:xfrm>
            <a:off x="7523683" y="3566160"/>
            <a:ext cx="1669694" cy="274320"/>
          </a:xfrm>
          <a:prstGeom prst="rect">
            <a:avLst/>
          </a:prstGeom>
          <a:noFill/>
          <a:ln/>
        </p:spPr>
        <p:txBody>
          <a:bodyPr wrap="square" lIns="0" tIns="0" rIns="0" bIns="0" rtlCol="0" anchor="t"/>
          <a:lstStyle/>
          <a:p>
            <a:pPr indent="0" marL="0">
              <a:buNone/>
            </a:pPr>
            <a:r>
              <a:rPr lang="en-US" sz="1400" b="1" dirty="0">
                <a:solidFill>
                  <a:schemeClr val="accent1"/>
                </a:solidFill>
              </a:rPr>
              <a:t>TV and money</a:t>
            </a:r>
            <a:endParaRPr lang="en-US" sz="1400" dirty="0"/>
          </a:p>
        </p:txBody>
      </p:sp>
      <p:sp>
        <p:nvSpPr>
          <p:cNvPr id="27" name="Text 21"/>
          <p:cNvSpPr txBox="1"/>
          <p:nvPr/>
        </p:nvSpPr>
        <p:spPr>
          <a:xfrm>
            <a:off x="7523683" y="3977640"/>
            <a:ext cx="1669694" cy="1371600"/>
          </a:xfrm>
          <a:prstGeom prst="rect">
            <a:avLst/>
          </a:prstGeom>
          <a:noFill/>
          <a:ln/>
        </p:spPr>
        <p:txBody>
          <a:bodyPr wrap="square" lIns="0" tIns="0" rIns="0" bIns="0" rtlCol="0" anchor="t"/>
          <a:lstStyle/>
          <a:p>
            <a:pPr indent="0" marL="0">
              <a:buNone/>
            </a:pPr>
            <a:r>
              <a:rPr lang="en-US" sz="1400" dirty="0">
                <a:solidFill>
                  <a:schemeClr val="tx1"/>
                </a:solidFill>
              </a:rPr>
              <a:t>Tonight’s TV schedule, plus a bill that is due Friday.</a:t>
            </a:r>
            <a:endParaRPr lang="en-US" sz="1400" dirty="0"/>
          </a:p>
        </p:txBody>
      </p:sp>
      <p:sp>
        <p:nvSpPr>
          <p:cNvPr id="28" name="icon-circle-83"/>
          <p:cNvSpPr/>
          <p:nvPr/>
        </p:nvSpPr>
        <p:spPr>
          <a:xfrm>
            <a:off x="9604858" y="2011680"/>
            <a:ext cx="822960" cy="822960"/>
          </a:xfrm>
          <a:prstGeom prst="ellipse">
            <a:avLst/>
          </a:prstGeom>
          <a:solidFill>
            <a:schemeClr val="accent2"/>
          </a:solidFill>
          <a:ln/>
        </p:spPr>
      </p:sp>
      <p:pic>
        <p:nvPicPr>
          <p:cNvPr id="29" name="icon-brain-84" descr="brain icon">    </p:cNvPr>
          <p:cNvPicPr>
            <a:picLocks noChangeAspect="1"/>
          </p:cNvPicPr>
          <p:nvPr/>
        </p:nvPicPr>
        <p:blipFill>
          <a:blip r:embed="rId5"/>
          <a:stretch>
            <a:fillRect/>
          </a:stretch>
        </p:blipFill>
        <p:spPr>
          <a:xfrm>
            <a:off x="9810598" y="2217420"/>
            <a:ext cx="411480" cy="411480"/>
          </a:xfrm>
          <a:prstGeom prst="rect">
            <a:avLst/>
          </a:prstGeom>
        </p:spPr>
      </p:pic>
      <p:sp>
        <p:nvSpPr>
          <p:cNvPr id="30" name="card-85"/>
          <p:cNvSpPr/>
          <p:nvPr/>
        </p:nvSpPr>
        <p:spPr>
          <a:xfrm>
            <a:off x="9604858" y="3017520"/>
            <a:ext cx="2035454" cy="2468880"/>
          </a:xfrm>
          <a:prstGeom prst="roundRect">
            <a:avLst>
              <a:gd name="adj" fmla="val 5391"/>
            </a:avLst>
          </a:prstGeom>
          <a:solidFill>
            <a:schemeClr val="bg2"/>
          </a:solidFill>
          <a:ln/>
        </p:spPr>
      </p:sp>
      <p:sp>
        <p:nvSpPr>
          <p:cNvPr id="31" name="Text 24"/>
          <p:cNvSpPr txBox="1"/>
          <p:nvPr/>
        </p:nvSpPr>
        <p:spPr>
          <a:xfrm>
            <a:off x="9787738" y="3200400"/>
            <a:ext cx="1669694" cy="320040"/>
          </a:xfrm>
          <a:prstGeom prst="rect">
            <a:avLst/>
          </a:prstGeom>
          <a:noFill/>
          <a:ln/>
        </p:spPr>
        <p:txBody>
          <a:bodyPr wrap="square" lIns="0" tIns="0" rIns="0" bIns="0" rtlCol="0" anchor="t"/>
          <a:lstStyle/>
          <a:p>
            <a:pPr indent="0" marL="0">
              <a:buNone/>
            </a:pPr>
            <a:r>
              <a:rPr lang="en-US" sz="2000" b="1" dirty="0">
                <a:solidFill>
                  <a:schemeClr val="tx2"/>
                </a:solidFill>
              </a:rPr>
              <a:t>Ahead</a:t>
            </a:r>
            <a:endParaRPr lang="en-US" sz="2000" dirty="0"/>
          </a:p>
        </p:txBody>
      </p:sp>
      <p:sp>
        <p:nvSpPr>
          <p:cNvPr id="32" name="Text 25"/>
          <p:cNvSpPr txBox="1"/>
          <p:nvPr/>
        </p:nvSpPr>
        <p:spPr>
          <a:xfrm>
            <a:off x="9787738" y="3566160"/>
            <a:ext cx="1669694" cy="274320"/>
          </a:xfrm>
          <a:prstGeom prst="rect">
            <a:avLst/>
          </a:prstGeom>
          <a:noFill/>
          <a:ln/>
        </p:spPr>
        <p:txBody>
          <a:bodyPr wrap="square" lIns="0" tIns="0" rIns="0" bIns="0" rtlCol="0" anchor="t"/>
          <a:lstStyle/>
          <a:p>
            <a:pPr indent="0" marL="0">
              <a:buNone/>
            </a:pPr>
            <a:r>
              <a:rPr lang="en-US" sz="1400" b="1" dirty="0">
                <a:solidFill>
                  <a:schemeClr val="accent1"/>
                </a:solidFill>
              </a:rPr>
              <a:t>Anticipation</a:t>
            </a:r>
            <a:endParaRPr lang="en-US" sz="1400" dirty="0"/>
          </a:p>
        </p:txBody>
      </p:sp>
      <p:sp>
        <p:nvSpPr>
          <p:cNvPr id="33" name="Text 26"/>
          <p:cNvSpPr txBox="1"/>
          <p:nvPr/>
        </p:nvSpPr>
        <p:spPr>
          <a:xfrm>
            <a:off x="9787738" y="3977640"/>
            <a:ext cx="1669694" cy="1371600"/>
          </a:xfrm>
          <a:prstGeom prst="rect">
            <a:avLst/>
          </a:prstGeom>
          <a:noFill/>
          <a:ln/>
        </p:spPr>
        <p:txBody>
          <a:bodyPr wrap="square" lIns="0" tIns="0" rIns="0" bIns="0" rtlCol="0" anchor="t"/>
          <a:lstStyle/>
          <a:p>
            <a:pPr indent="0" marL="0">
              <a:buNone/>
            </a:pPr>
            <a:r>
              <a:rPr lang="en-US" sz="1400" dirty="0">
                <a:solidFill>
                  <a:schemeClr val="tx1"/>
                </a:solidFill>
              </a:rPr>
              <a:t>A heads-up before it is needed: “The filter is due.”</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The market in four spaces</a:t>
            </a:r>
            <a:endParaRPr lang="en-US" sz="3600" dirty="0"/>
          </a:p>
        </p:txBody>
      </p:sp>
      <p:sp>
        <p:nvSpPr>
          <p:cNvPr id="3" name="card-86"/>
          <p:cNvSpPr/>
          <p:nvPr/>
        </p:nvSpPr>
        <p:spPr>
          <a:xfrm>
            <a:off x="548640" y="1463040"/>
            <a:ext cx="5408676" cy="2057400"/>
          </a:xfrm>
          <a:prstGeom prst="roundRect">
            <a:avLst>
              <a:gd name="adj" fmla="val 5333"/>
            </a:avLst>
          </a:prstGeom>
          <a:solidFill>
            <a:schemeClr val="bg2"/>
          </a:solidFill>
          <a:ln/>
        </p:spPr>
      </p:sp>
      <p:sp>
        <p:nvSpPr>
          <p:cNvPr id="4" name="badge-87"/>
          <p:cNvSpPr txBox="1"/>
          <p:nvPr/>
        </p:nvSpPr>
        <p:spPr>
          <a:xfrm>
            <a:off x="822960" y="17373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5" name="Text 3"/>
          <p:cNvSpPr txBox="1"/>
          <p:nvPr/>
        </p:nvSpPr>
        <p:spPr>
          <a:xfrm>
            <a:off x="1600200" y="1737360"/>
            <a:ext cx="4082796" cy="548640"/>
          </a:xfrm>
          <a:prstGeom prst="rect">
            <a:avLst/>
          </a:prstGeom>
          <a:noFill/>
          <a:ln/>
        </p:spPr>
        <p:txBody>
          <a:bodyPr wrap="square" lIns="0" tIns="0" rIns="0" bIns="0" rtlCol="0" anchor="ctr"/>
          <a:lstStyle/>
          <a:p>
            <a:pPr indent="0" marL="0">
              <a:buNone/>
            </a:pPr>
            <a:r>
              <a:rPr lang="en-US" sz="2000" b="1" dirty="0">
                <a:solidFill>
                  <a:schemeClr val="tx2"/>
                </a:solidFill>
              </a:rPr>
              <a:t>AI agents and assistants</a:t>
            </a:r>
            <a:endParaRPr lang="en-US" sz="2000" dirty="0"/>
          </a:p>
        </p:txBody>
      </p:sp>
      <p:sp>
        <p:nvSpPr>
          <p:cNvPr id="6" name="Text 4"/>
          <p:cNvSpPr txBox="1"/>
          <p:nvPr/>
        </p:nvSpPr>
        <p:spPr>
          <a:xfrm>
            <a:off x="822960" y="2468880"/>
            <a:ext cx="4860036" cy="411480"/>
          </a:xfrm>
          <a:prstGeom prst="rect">
            <a:avLst/>
          </a:prstGeom>
          <a:noFill/>
          <a:ln/>
        </p:spPr>
        <p:txBody>
          <a:bodyPr wrap="square" lIns="0" tIns="0" rIns="0" bIns="0" rtlCol="0" anchor="t"/>
          <a:lstStyle/>
          <a:p>
            <a:pPr indent="0" marL="0">
              <a:buNone/>
            </a:pPr>
            <a:r>
              <a:rPr lang="en-US" sz="1600" b="1" dirty="0">
                <a:solidFill>
                  <a:schemeClr val="tx1"/>
                </a:solidFill>
              </a:rPr>
              <a:t>OpenAI dots · Grok Bot · Muse · Instinct</a:t>
            </a:r>
            <a:endParaRPr lang="en-US" sz="1600" dirty="0"/>
          </a:p>
        </p:txBody>
      </p:sp>
      <p:sp>
        <p:nvSpPr>
          <p:cNvPr id="7" name="Text 5"/>
          <p:cNvSpPr txBox="1"/>
          <p:nvPr/>
        </p:nvSpPr>
        <p:spPr>
          <a:xfrm>
            <a:off x="822960" y="2944368"/>
            <a:ext cx="4860036" cy="365760"/>
          </a:xfrm>
          <a:prstGeom prst="rect">
            <a:avLst/>
          </a:prstGeom>
          <a:noFill/>
          <a:ln/>
        </p:spPr>
        <p:txBody>
          <a:bodyPr wrap="square" lIns="0" tIns="0" rIns="0" bIns="0" rtlCol="0" anchor="t"/>
          <a:lstStyle/>
          <a:p>
            <a:pPr indent="0" marL="0">
              <a:buNone/>
            </a:pPr>
            <a:r>
              <a:rPr lang="en-US" sz="1400" dirty="0">
                <a:solidFill>
                  <a:schemeClr val="accent5"/>
                </a:solidFill>
              </a:rPr>
              <a:t>Proactive, general-purpose helpers</a:t>
            </a:r>
            <a:endParaRPr lang="en-US" sz="1400" dirty="0"/>
          </a:p>
        </p:txBody>
      </p:sp>
      <p:sp>
        <p:nvSpPr>
          <p:cNvPr id="8" name="card-88"/>
          <p:cNvSpPr/>
          <p:nvPr/>
        </p:nvSpPr>
        <p:spPr>
          <a:xfrm>
            <a:off x="6231636" y="1463040"/>
            <a:ext cx="5408676" cy="2057400"/>
          </a:xfrm>
          <a:prstGeom prst="roundRect">
            <a:avLst>
              <a:gd name="adj" fmla="val 5333"/>
            </a:avLst>
          </a:prstGeom>
          <a:solidFill>
            <a:schemeClr val="bg2"/>
          </a:solidFill>
          <a:ln/>
        </p:spPr>
      </p:sp>
      <p:sp>
        <p:nvSpPr>
          <p:cNvPr id="9" name="badge-89"/>
          <p:cNvSpPr txBox="1"/>
          <p:nvPr/>
        </p:nvSpPr>
        <p:spPr>
          <a:xfrm>
            <a:off x="6505956" y="173736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Text 8"/>
          <p:cNvSpPr txBox="1"/>
          <p:nvPr/>
        </p:nvSpPr>
        <p:spPr>
          <a:xfrm>
            <a:off x="7283196" y="1737360"/>
            <a:ext cx="4082796" cy="548640"/>
          </a:xfrm>
          <a:prstGeom prst="rect">
            <a:avLst/>
          </a:prstGeom>
          <a:noFill/>
          <a:ln/>
        </p:spPr>
        <p:txBody>
          <a:bodyPr wrap="square" lIns="0" tIns="0" rIns="0" bIns="0" rtlCol="0" anchor="ctr"/>
          <a:lstStyle/>
          <a:p>
            <a:pPr indent="0" marL="0">
              <a:buNone/>
            </a:pPr>
            <a:r>
              <a:rPr lang="en-US" sz="2000" b="1" dirty="0">
                <a:solidFill>
                  <a:schemeClr val="tx2"/>
                </a:solidFill>
              </a:rPr>
              <a:t>Smart-home platforms</a:t>
            </a:r>
            <a:endParaRPr lang="en-US" sz="2000" dirty="0"/>
          </a:p>
        </p:txBody>
      </p:sp>
      <p:sp>
        <p:nvSpPr>
          <p:cNvPr id="11" name="Text 9"/>
          <p:cNvSpPr txBox="1"/>
          <p:nvPr/>
        </p:nvSpPr>
        <p:spPr>
          <a:xfrm>
            <a:off x="6505956" y="2468880"/>
            <a:ext cx="4860036" cy="411480"/>
          </a:xfrm>
          <a:prstGeom prst="rect">
            <a:avLst/>
          </a:prstGeom>
          <a:noFill/>
          <a:ln/>
        </p:spPr>
        <p:txBody>
          <a:bodyPr wrap="square" lIns="0" tIns="0" rIns="0" bIns="0" rtlCol="0" anchor="t"/>
          <a:lstStyle/>
          <a:p>
            <a:pPr indent="0" marL="0">
              <a:buNone/>
            </a:pPr>
            <a:r>
              <a:rPr lang="en-US" sz="1600" b="1" dirty="0">
                <a:solidFill>
                  <a:schemeClr val="tx1"/>
                </a:solidFill>
              </a:rPr>
              <a:t>Apple Home · Google Home · Alexa · Home Assistant</a:t>
            </a:r>
            <a:endParaRPr lang="en-US" sz="1600" dirty="0"/>
          </a:p>
        </p:txBody>
      </p:sp>
      <p:sp>
        <p:nvSpPr>
          <p:cNvPr id="12" name="Text 10"/>
          <p:cNvSpPr txBox="1"/>
          <p:nvPr/>
        </p:nvSpPr>
        <p:spPr>
          <a:xfrm>
            <a:off x="6505956" y="2944368"/>
            <a:ext cx="4860036" cy="365760"/>
          </a:xfrm>
          <a:prstGeom prst="rect">
            <a:avLst/>
          </a:prstGeom>
          <a:noFill/>
          <a:ln/>
        </p:spPr>
        <p:txBody>
          <a:bodyPr wrap="square" lIns="0" tIns="0" rIns="0" bIns="0" rtlCol="0" anchor="t"/>
          <a:lstStyle/>
          <a:p>
            <a:pPr indent="0" marL="0">
              <a:buNone/>
            </a:pPr>
            <a:r>
              <a:rPr lang="en-US" sz="1400" dirty="0">
                <a:solidFill>
                  <a:schemeClr val="accent5"/>
                </a:solidFill>
              </a:rPr>
              <a:t>Control lights, climate and devices</a:t>
            </a:r>
            <a:endParaRPr lang="en-US" sz="1400" dirty="0"/>
          </a:p>
        </p:txBody>
      </p:sp>
      <p:sp>
        <p:nvSpPr>
          <p:cNvPr id="13" name="card-90"/>
          <p:cNvSpPr/>
          <p:nvPr/>
        </p:nvSpPr>
        <p:spPr>
          <a:xfrm>
            <a:off x="548640" y="3749040"/>
            <a:ext cx="5408676" cy="2057400"/>
          </a:xfrm>
          <a:prstGeom prst="roundRect">
            <a:avLst>
              <a:gd name="adj" fmla="val 5333"/>
            </a:avLst>
          </a:prstGeom>
          <a:solidFill>
            <a:schemeClr val="bg2"/>
          </a:solidFill>
          <a:ln/>
        </p:spPr>
      </p:sp>
      <p:sp>
        <p:nvSpPr>
          <p:cNvPr id="14" name="badge-91"/>
          <p:cNvSpPr txBox="1"/>
          <p:nvPr/>
        </p:nvSpPr>
        <p:spPr>
          <a:xfrm>
            <a:off x="822960" y="402336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5" name="Text 13"/>
          <p:cNvSpPr txBox="1"/>
          <p:nvPr/>
        </p:nvSpPr>
        <p:spPr>
          <a:xfrm>
            <a:off x="1600200" y="4023360"/>
            <a:ext cx="4082796" cy="548640"/>
          </a:xfrm>
          <a:prstGeom prst="rect">
            <a:avLst/>
          </a:prstGeom>
          <a:noFill/>
          <a:ln/>
        </p:spPr>
        <p:txBody>
          <a:bodyPr wrap="square" lIns="0" tIns="0" rIns="0" bIns="0" rtlCol="0" anchor="ctr"/>
          <a:lstStyle/>
          <a:p>
            <a:pPr indent="0" marL="0">
              <a:buNone/>
            </a:pPr>
            <a:r>
              <a:rPr lang="en-US" sz="2000" b="1" dirty="0">
                <a:solidFill>
                  <a:schemeClr val="tx2"/>
                </a:solidFill>
              </a:rPr>
              <a:t>Organization and automation</a:t>
            </a:r>
            <a:endParaRPr lang="en-US" sz="2000" dirty="0"/>
          </a:p>
        </p:txBody>
      </p:sp>
      <p:sp>
        <p:nvSpPr>
          <p:cNvPr id="16" name="Text 14"/>
          <p:cNvSpPr txBox="1"/>
          <p:nvPr/>
        </p:nvSpPr>
        <p:spPr>
          <a:xfrm>
            <a:off x="822960" y="4754880"/>
            <a:ext cx="4860036" cy="411480"/>
          </a:xfrm>
          <a:prstGeom prst="rect">
            <a:avLst/>
          </a:prstGeom>
          <a:noFill/>
          <a:ln/>
        </p:spPr>
        <p:txBody>
          <a:bodyPr wrap="square" lIns="0" tIns="0" rIns="0" bIns="0" rtlCol="0" anchor="t"/>
          <a:lstStyle/>
          <a:p>
            <a:pPr indent="0" marL="0">
              <a:buNone/>
            </a:pPr>
            <a:r>
              <a:rPr lang="en-US" sz="1600" b="1" dirty="0">
                <a:solidFill>
                  <a:schemeClr val="tx1"/>
                </a:solidFill>
              </a:rPr>
              <a:t>Notion · Zapier · Make · IFTTT</a:t>
            </a:r>
            <a:endParaRPr lang="en-US" sz="1600" dirty="0"/>
          </a:p>
        </p:txBody>
      </p:sp>
      <p:sp>
        <p:nvSpPr>
          <p:cNvPr id="17" name="Text 15"/>
          <p:cNvSpPr txBox="1"/>
          <p:nvPr/>
        </p:nvSpPr>
        <p:spPr>
          <a:xfrm>
            <a:off x="822960" y="5230368"/>
            <a:ext cx="4860036" cy="365760"/>
          </a:xfrm>
          <a:prstGeom prst="rect">
            <a:avLst/>
          </a:prstGeom>
          <a:noFill/>
          <a:ln/>
        </p:spPr>
        <p:txBody>
          <a:bodyPr wrap="square" lIns="0" tIns="0" rIns="0" bIns="0" rtlCol="0" anchor="t"/>
          <a:lstStyle/>
          <a:p>
            <a:pPr indent="0" marL="0">
              <a:buNone/>
            </a:pPr>
            <a:r>
              <a:rPr lang="en-US" sz="1400" dirty="0">
                <a:solidFill>
                  <a:schemeClr val="accent5"/>
                </a:solidFill>
              </a:rPr>
              <a:t>Connect apps and automate tasks</a:t>
            </a:r>
            <a:endParaRPr lang="en-US" sz="1400" dirty="0"/>
          </a:p>
        </p:txBody>
      </p:sp>
      <p:sp>
        <p:nvSpPr>
          <p:cNvPr id="18" name="card-92"/>
          <p:cNvSpPr/>
          <p:nvPr/>
        </p:nvSpPr>
        <p:spPr>
          <a:xfrm>
            <a:off x="6231636" y="3749040"/>
            <a:ext cx="5408676" cy="2057400"/>
          </a:xfrm>
          <a:prstGeom prst="roundRect">
            <a:avLst>
              <a:gd name="adj" fmla="val 5333"/>
            </a:avLst>
          </a:prstGeom>
          <a:solidFill>
            <a:schemeClr val="bg2"/>
          </a:solidFill>
          <a:ln/>
        </p:spPr>
      </p:sp>
      <p:sp>
        <p:nvSpPr>
          <p:cNvPr id="19" name="badge-93"/>
          <p:cNvSpPr txBox="1"/>
          <p:nvPr/>
        </p:nvSpPr>
        <p:spPr>
          <a:xfrm>
            <a:off x="6505956" y="4023360"/>
            <a:ext cx="548640" cy="54864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0" name="Text 18"/>
          <p:cNvSpPr txBox="1"/>
          <p:nvPr/>
        </p:nvSpPr>
        <p:spPr>
          <a:xfrm>
            <a:off x="7283196" y="4023360"/>
            <a:ext cx="4082796" cy="548640"/>
          </a:xfrm>
          <a:prstGeom prst="rect">
            <a:avLst/>
          </a:prstGeom>
          <a:noFill/>
          <a:ln/>
        </p:spPr>
        <p:txBody>
          <a:bodyPr wrap="square" lIns="0" tIns="0" rIns="0" bIns="0" rtlCol="0" anchor="ctr"/>
          <a:lstStyle/>
          <a:p>
            <a:pPr indent="0" marL="0">
              <a:buNone/>
            </a:pPr>
            <a:r>
              <a:rPr lang="en-US" sz="2000" b="1" dirty="0">
                <a:solidFill>
                  <a:schemeClr val="tx2"/>
                </a:solidFill>
              </a:rPr>
              <a:t>Family organizers and standards</a:t>
            </a:r>
            <a:endParaRPr lang="en-US" sz="2000" dirty="0"/>
          </a:p>
        </p:txBody>
      </p:sp>
      <p:sp>
        <p:nvSpPr>
          <p:cNvPr id="21" name="Text 19"/>
          <p:cNvSpPr txBox="1"/>
          <p:nvPr/>
        </p:nvSpPr>
        <p:spPr>
          <a:xfrm>
            <a:off x="6505956" y="4754880"/>
            <a:ext cx="4860036" cy="411480"/>
          </a:xfrm>
          <a:prstGeom prst="rect">
            <a:avLst/>
          </a:prstGeom>
          <a:noFill/>
          <a:ln/>
        </p:spPr>
        <p:txBody>
          <a:bodyPr wrap="square" lIns="0" tIns="0" rIns="0" bIns="0" rtlCol="0" anchor="t"/>
          <a:lstStyle/>
          <a:p>
            <a:pPr indent="0" marL="0">
              <a:buNone/>
            </a:pPr>
            <a:r>
              <a:rPr lang="en-US" sz="1600" b="1" dirty="0">
                <a:solidFill>
                  <a:schemeClr val="tx1"/>
                </a:solidFill>
              </a:rPr>
              <a:t>Cozi · Skylight · SmartThings · Matter</a:t>
            </a:r>
            <a:endParaRPr lang="en-US" sz="1600" dirty="0"/>
          </a:p>
        </p:txBody>
      </p:sp>
      <p:sp>
        <p:nvSpPr>
          <p:cNvPr id="22" name="Text 20"/>
          <p:cNvSpPr txBox="1"/>
          <p:nvPr/>
        </p:nvSpPr>
        <p:spPr>
          <a:xfrm>
            <a:off x="6505956" y="5230368"/>
            <a:ext cx="4860036" cy="365760"/>
          </a:xfrm>
          <a:prstGeom prst="rect">
            <a:avLst/>
          </a:prstGeom>
          <a:noFill/>
          <a:ln/>
        </p:spPr>
        <p:txBody>
          <a:bodyPr wrap="square" lIns="0" tIns="0" rIns="0" bIns="0" rtlCol="0" anchor="t"/>
          <a:lstStyle/>
          <a:p>
            <a:pPr indent="0" marL="0">
              <a:buNone/>
            </a:pPr>
            <a:r>
              <a:rPr lang="en-US" sz="1400" dirty="0">
                <a:solidFill>
                  <a:schemeClr val="accent5"/>
                </a:solidFill>
              </a:rPr>
              <a:t>Shared calendars, lists, device compatibility</a:t>
            </a:r>
            <a:endParaRPr lang="en-US" sz="1400" dirty="0"/>
          </a:p>
        </p:txBody>
      </p:sp>
      <p:sp>
        <p:nvSpPr>
          <p:cNvPr id="23" name="Text 21"/>
          <p:cNvSpPr txBox="1"/>
          <p:nvPr/>
        </p:nvSpPr>
        <p:spPr>
          <a:xfrm>
            <a:off x="548640" y="6035040"/>
            <a:ext cx="11091672" cy="320040"/>
          </a:xfrm>
          <a:prstGeom prst="rect">
            <a:avLst/>
          </a:prstGeom>
          <a:noFill/>
          <a:ln/>
        </p:spPr>
        <p:txBody>
          <a:bodyPr wrap="square" lIns="0" tIns="0" rIns="0" bIns="0" rtlCol="0" anchor="t"/>
          <a:lstStyle/>
          <a:p>
            <a:pPr indent="0" marL="0">
              <a:buNone/>
            </a:pPr>
            <a:r>
              <a:rPr lang="en-US" sz="1200" dirty="0">
                <a:solidFill>
                  <a:schemeClr val="accent5"/>
                </a:solidFill>
              </a:rPr>
              <a:t>Make, IFTTT, Cozi, Skylight, SmartThings and Matter are suggested additions. Prices checked in public sources, Oct 2026.</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A: AI agents and assistants</a:t>
            </a:r>
            <a:endParaRPr lang="en-US" sz="3600" dirty="0"/>
          </a:p>
        </p:txBody>
      </p:sp>
      <p:sp>
        <p:nvSpPr>
          <p:cNvPr id="3" name="card-94"/>
          <p:cNvSpPr/>
          <p:nvPr/>
        </p:nvSpPr>
        <p:spPr>
          <a:xfrm>
            <a:off x="548640" y="1463040"/>
            <a:ext cx="2635758" cy="3703320"/>
          </a:xfrm>
          <a:prstGeom prst="roundRect">
            <a:avLst>
              <a:gd name="adj" fmla="val 4163"/>
            </a:avLst>
          </a:prstGeom>
          <a:solidFill>
            <a:schemeClr val="bg2"/>
          </a:solidFill>
          <a:ln/>
        </p:spPr>
      </p:sp>
      <p:sp>
        <p:nvSpPr>
          <p:cNvPr id="4" name="Text 2"/>
          <p:cNvSpPr txBox="1"/>
          <p:nvPr/>
        </p:nvSpPr>
        <p:spPr>
          <a:xfrm>
            <a:off x="731520"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OpenAI dots</a:t>
            </a:r>
            <a:endParaRPr lang="en-US" sz="1800" dirty="0"/>
          </a:p>
        </p:txBody>
      </p:sp>
      <p:sp>
        <p:nvSpPr>
          <p:cNvPr id="5" name="Text 3"/>
          <p:cNvSpPr txBox="1"/>
          <p:nvPr/>
        </p:nvSpPr>
        <p:spPr>
          <a:xfrm>
            <a:off x="731520"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About $200/month (checked Oct 2026)</a:t>
            </a:r>
            <a:endParaRPr lang="en-US" sz="1400" dirty="0"/>
          </a:p>
        </p:txBody>
      </p:sp>
      <p:sp>
        <p:nvSpPr>
          <p:cNvPr id="6" name="Text 4"/>
          <p:cNvSpPr txBox="1"/>
          <p:nvPr/>
        </p:nvSpPr>
        <p:spPr>
          <a:xfrm>
            <a:off x="731520"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Always-on agents with their own cloud computer; voice or chat; 4,000+ app plugins</a:t>
            </a:r>
            <a:endParaRPr lang="en-US" sz="1400" dirty="0"/>
          </a:p>
        </p:txBody>
      </p:sp>
      <p:sp>
        <p:nvSpPr>
          <p:cNvPr id="7" name="Text 5"/>
          <p:cNvSpPr txBox="1"/>
          <p:nvPr/>
        </p:nvSpPr>
        <p:spPr>
          <a:xfrm>
            <a:off x="731520"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8" name="Text 6"/>
          <p:cNvSpPr txBox="1"/>
          <p:nvPr/>
        </p:nvSpPr>
        <p:spPr>
          <a:xfrm>
            <a:off x="731520"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Built for work, not the home; eligible markets only</a:t>
            </a:r>
            <a:endParaRPr lang="en-US" sz="1400" dirty="0"/>
          </a:p>
        </p:txBody>
      </p:sp>
      <p:sp>
        <p:nvSpPr>
          <p:cNvPr id="9" name="card-95"/>
          <p:cNvSpPr/>
          <p:nvPr/>
        </p:nvSpPr>
        <p:spPr>
          <a:xfrm>
            <a:off x="3367278" y="1463040"/>
            <a:ext cx="2635758" cy="3703320"/>
          </a:xfrm>
          <a:prstGeom prst="roundRect">
            <a:avLst>
              <a:gd name="adj" fmla="val 4163"/>
            </a:avLst>
          </a:prstGeom>
          <a:solidFill>
            <a:schemeClr val="bg2"/>
          </a:solidFill>
          <a:ln/>
        </p:spPr>
      </p:sp>
      <p:sp>
        <p:nvSpPr>
          <p:cNvPr id="10" name="Text 8"/>
          <p:cNvSpPr txBox="1"/>
          <p:nvPr/>
        </p:nvSpPr>
        <p:spPr>
          <a:xfrm>
            <a:off x="3550158"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Grok Bot (xAI)</a:t>
            </a:r>
            <a:endParaRPr lang="en-US" sz="1800" dirty="0"/>
          </a:p>
        </p:txBody>
      </p:sp>
      <p:sp>
        <p:nvSpPr>
          <p:cNvPr id="11" name="Text 9"/>
          <p:cNvSpPr txBox="1"/>
          <p:nvPr/>
        </p:nvSpPr>
        <p:spPr>
          <a:xfrm>
            <a:off x="3550158"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Reports vary: about $30 to $300/month</a:t>
            </a:r>
            <a:endParaRPr lang="en-US" sz="1400" dirty="0"/>
          </a:p>
        </p:txBody>
      </p:sp>
      <p:sp>
        <p:nvSpPr>
          <p:cNvPr id="12" name="Text 10"/>
          <p:cNvSpPr txBox="1"/>
          <p:nvPr/>
        </p:nvSpPr>
        <p:spPr>
          <a:xfrm>
            <a:off x="3550158"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Persistent agents with their own cloud computer, launched Aug 2026; Gmail, Slack, calendar</a:t>
            </a:r>
            <a:endParaRPr lang="en-US" sz="1400" dirty="0"/>
          </a:p>
        </p:txBody>
      </p:sp>
      <p:sp>
        <p:nvSpPr>
          <p:cNvPr id="13" name="Text 11"/>
          <p:cNvSpPr txBox="1"/>
          <p:nvPr/>
        </p:nvSpPr>
        <p:spPr>
          <a:xfrm>
            <a:off x="3550158"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14" name="Text 12"/>
          <p:cNvSpPr txBox="1"/>
          <p:nvPr/>
        </p:nvSpPr>
        <p:spPr>
          <a:xfrm>
            <a:off x="3550158"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Not household-specific; smart-home use takes manual setup</a:t>
            </a:r>
            <a:endParaRPr lang="en-US" sz="1400" dirty="0"/>
          </a:p>
        </p:txBody>
      </p:sp>
      <p:sp>
        <p:nvSpPr>
          <p:cNvPr id="15" name="card-96"/>
          <p:cNvSpPr/>
          <p:nvPr/>
        </p:nvSpPr>
        <p:spPr>
          <a:xfrm>
            <a:off x="6185916" y="1463040"/>
            <a:ext cx="2635758" cy="3703320"/>
          </a:xfrm>
          <a:prstGeom prst="roundRect">
            <a:avLst>
              <a:gd name="adj" fmla="val 4163"/>
            </a:avLst>
          </a:prstGeom>
          <a:solidFill>
            <a:schemeClr val="bg2"/>
          </a:solidFill>
          <a:ln/>
        </p:spPr>
      </p:sp>
      <p:sp>
        <p:nvSpPr>
          <p:cNvPr id="16" name="Text 14"/>
          <p:cNvSpPr txBox="1"/>
          <p:nvPr/>
        </p:nvSpPr>
        <p:spPr>
          <a:xfrm>
            <a:off x="6368796"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Meta Muse</a:t>
            </a:r>
            <a:endParaRPr lang="en-US" sz="1800" dirty="0"/>
          </a:p>
        </p:txBody>
      </p:sp>
      <p:sp>
        <p:nvSpPr>
          <p:cNvPr id="17" name="Text 15"/>
          <p:cNvSpPr txBox="1"/>
          <p:nvPr/>
        </p:nvSpPr>
        <p:spPr>
          <a:xfrm>
            <a:off x="6368796"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tier; Power $20, Maximum $100 per month</a:t>
            </a:r>
            <a:endParaRPr lang="en-US" sz="1400" dirty="0"/>
          </a:p>
        </p:txBody>
      </p:sp>
      <p:sp>
        <p:nvSpPr>
          <p:cNvPr id="18" name="Text 16"/>
          <p:cNvSpPr txBox="1"/>
          <p:nvPr/>
        </p:nvSpPr>
        <p:spPr>
          <a:xfrm>
            <a:off x="6368796"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Personal agent on its own cloud machine; email, calendar, shopping, smart-home tools</a:t>
            </a:r>
            <a:endParaRPr lang="en-US" sz="1400" dirty="0"/>
          </a:p>
        </p:txBody>
      </p:sp>
      <p:sp>
        <p:nvSpPr>
          <p:cNvPr id="19" name="Text 17"/>
          <p:cNvSpPr txBox="1"/>
          <p:nvPr/>
        </p:nvSpPr>
        <p:spPr>
          <a:xfrm>
            <a:off x="6368796"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0" name="Text 18"/>
          <p:cNvSpPr txBox="1"/>
          <p:nvPr/>
        </p:nvSpPr>
        <p:spPr>
          <a:xfrm>
            <a:off x="6368796"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One person, not a household; ad-funded parent; US and Canada so far</a:t>
            </a:r>
            <a:endParaRPr lang="en-US" sz="1400" dirty="0"/>
          </a:p>
        </p:txBody>
      </p:sp>
      <p:sp>
        <p:nvSpPr>
          <p:cNvPr id="21" name="card-97"/>
          <p:cNvSpPr/>
          <p:nvPr/>
        </p:nvSpPr>
        <p:spPr>
          <a:xfrm>
            <a:off x="9004554" y="1463040"/>
            <a:ext cx="2635758" cy="3703320"/>
          </a:xfrm>
          <a:prstGeom prst="roundRect">
            <a:avLst>
              <a:gd name="adj" fmla="val 4163"/>
            </a:avLst>
          </a:prstGeom>
          <a:solidFill>
            <a:schemeClr val="bg2"/>
          </a:solidFill>
          <a:ln/>
        </p:spPr>
      </p:sp>
      <p:sp>
        <p:nvSpPr>
          <p:cNvPr id="22" name="Text 20"/>
          <p:cNvSpPr txBox="1"/>
          <p:nvPr/>
        </p:nvSpPr>
        <p:spPr>
          <a:xfrm>
            <a:off x="9187434"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Instinct</a:t>
            </a:r>
            <a:endParaRPr lang="en-US" sz="1800" dirty="0"/>
          </a:p>
        </p:txBody>
      </p:sp>
      <p:sp>
        <p:nvSpPr>
          <p:cNvPr id="23" name="Text 21"/>
          <p:cNvSpPr txBox="1"/>
          <p:nvPr/>
        </p:nvSpPr>
        <p:spPr>
          <a:xfrm>
            <a:off x="9187434"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Invite-only; price not published (reported free)</a:t>
            </a:r>
            <a:endParaRPr lang="en-US" sz="1400" dirty="0"/>
          </a:p>
        </p:txBody>
      </p:sp>
      <p:sp>
        <p:nvSpPr>
          <p:cNvPr id="24" name="Text 22"/>
          <p:cNvSpPr txBox="1"/>
          <p:nvPr/>
        </p:nvSpPr>
        <p:spPr>
          <a:xfrm>
            <a:off x="9187434"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Personal agent you text or call; books, buys and cancels for you</a:t>
            </a:r>
            <a:endParaRPr lang="en-US" sz="1400" dirty="0"/>
          </a:p>
        </p:txBody>
      </p:sp>
      <p:sp>
        <p:nvSpPr>
          <p:cNvPr id="25" name="Text 23"/>
          <p:cNvSpPr txBox="1"/>
          <p:nvPr/>
        </p:nvSpPr>
        <p:spPr>
          <a:xfrm>
            <a:off x="9187434"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6" name="Text 24"/>
          <p:cNvSpPr txBox="1"/>
          <p:nvPr/>
        </p:nvSpPr>
        <p:spPr>
          <a:xfrm>
            <a:off x="9187434"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Invite-only; privacy concerns reported over its broad account access</a:t>
            </a:r>
            <a:endParaRPr lang="en-US" sz="1400" dirty="0"/>
          </a:p>
        </p:txBody>
      </p:sp>
      <p:sp>
        <p:nvSpPr>
          <p:cNvPr id="27" name="card-98"/>
          <p:cNvSpPr/>
          <p:nvPr/>
        </p:nvSpPr>
        <p:spPr>
          <a:xfrm>
            <a:off x="548640" y="5349240"/>
            <a:ext cx="11091672" cy="640080"/>
          </a:xfrm>
          <a:prstGeom prst="roundRect">
            <a:avLst>
              <a:gd name="adj" fmla="val 17143"/>
            </a:avLst>
          </a:prstGeom>
          <a:solidFill>
            <a:schemeClr val="tx2"/>
          </a:solidFill>
          <a:ln/>
        </p:spPr>
      </p:sp>
      <p:sp>
        <p:nvSpPr>
          <p:cNvPr id="28" name="Text 26"/>
          <p:cNvSpPr txBox="1"/>
          <p:nvPr/>
        </p:nvSpPr>
        <p:spPr>
          <a:xfrm>
            <a:off x="822960" y="5349240"/>
            <a:ext cx="10543032" cy="640080"/>
          </a:xfrm>
          <a:prstGeom prst="rect">
            <a:avLst/>
          </a:prstGeom>
          <a:noFill/>
          <a:ln/>
        </p:spPr>
        <p:txBody>
          <a:bodyPr wrap="square" lIns="0" tIns="0" rIns="0" bIns="0" rtlCol="0" anchor="ctr"/>
          <a:lstStyle/>
          <a:p>
            <a:pPr indent="0" marL="0">
              <a:buNone/>
            </a:pPr>
            <a:r>
              <a:rPr lang="en-US" sz="1400" b="1" dirty="0">
                <a:solidFill>
                  <a:schemeClr val="bg1"/>
                </a:solidFill>
              </a:rPr>
              <a:t>Takeaway: </a:t>
            </a:r>
            <a:pPr indent="0" marL="0">
              <a:buNone/>
            </a:pPr>
            <a:r>
              <a:rPr lang="en-US" sz="1400" dirty="0">
                <a:solidFill>
                  <a:schemeClr val="bg1"/>
                </a:solidFill>
              </a:rPr>
              <a:t>A crowded, well-funded race of personal and work agents. Muse is free or $20 because Meta is an ad business; ours is subscription-only, so the household’s data is never the product.</a:t>
            </a:r>
            <a:endParaRPr lang="en-US" sz="1400" dirty="0"/>
          </a:p>
        </p:txBody>
      </p:sp>
      <p:sp>
        <p:nvSpPr>
          <p:cNvPr id="29" name="Text 27"/>
          <p:cNvSpPr txBox="1"/>
          <p:nvPr/>
        </p:nvSpPr>
        <p:spPr>
          <a:xfrm>
            <a:off x="548640" y="608076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Prices and features from public sources, Oct 2026; pricing for Grok Bot and Instinct is unclear, so verify.</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OpenAI dots: most comprehensive, but expensive</a:t>
            </a:r>
            <a:endParaRPr lang="en-US" sz="3600" dirty="0"/>
          </a:p>
        </p:txBody>
      </p:sp>
      <p:sp>
        <p:nvSpPr>
          <p:cNvPr id="3" name="card-99"/>
          <p:cNvSpPr/>
          <p:nvPr/>
        </p:nvSpPr>
        <p:spPr>
          <a:xfrm>
            <a:off x="548640" y="1508760"/>
            <a:ext cx="6400800" cy="4434840"/>
          </a:xfrm>
          <a:prstGeom prst="roundRect">
            <a:avLst>
              <a:gd name="adj" fmla="val 2474"/>
            </a:avLst>
          </a:prstGeom>
          <a:solidFill>
            <a:schemeClr val="bg2"/>
          </a:solidFill>
          <a:ln/>
        </p:spPr>
      </p:sp>
      <p:sp>
        <p:nvSpPr>
          <p:cNvPr id="4" name="icon-circle-100"/>
          <p:cNvSpPr/>
          <p:nvPr/>
        </p:nvSpPr>
        <p:spPr>
          <a:xfrm>
            <a:off x="822960" y="1691640"/>
            <a:ext cx="548640" cy="548640"/>
          </a:xfrm>
          <a:prstGeom prst="ellipse">
            <a:avLst/>
          </a:prstGeom>
          <a:solidFill>
            <a:schemeClr val="accent2"/>
          </a:solidFill>
          <a:ln/>
        </p:spPr>
      </p:sp>
      <p:pic>
        <p:nvPicPr>
          <p:cNvPr id="5" name="icon-server-101" descr="server icon">    </p:cNvPr>
          <p:cNvPicPr>
            <a:picLocks noChangeAspect="1"/>
          </p:cNvPicPr>
          <p:nvPr/>
        </p:nvPicPr>
        <p:blipFill>
          <a:blip r:embed="rId1"/>
          <a:stretch>
            <a:fillRect/>
          </a:stretch>
        </p:blipFill>
        <p:spPr>
          <a:xfrm>
            <a:off x="960120" y="1828800"/>
            <a:ext cx="274320" cy="274320"/>
          </a:xfrm>
          <a:prstGeom prst="rect">
            <a:avLst/>
          </a:prstGeom>
        </p:spPr>
      </p:pic>
      <p:sp>
        <p:nvSpPr>
          <p:cNvPr id="6" name="Text 3"/>
          <p:cNvSpPr txBox="1"/>
          <p:nvPr/>
        </p:nvSpPr>
        <p:spPr>
          <a:xfrm>
            <a:off x="1600200" y="1691640"/>
            <a:ext cx="5120640" cy="548640"/>
          </a:xfrm>
          <a:prstGeom prst="rect">
            <a:avLst/>
          </a:prstGeom>
          <a:noFill/>
          <a:ln/>
        </p:spPr>
        <p:txBody>
          <a:bodyPr wrap="square" lIns="0" tIns="0" rIns="0" bIns="0" rtlCol="0" anchor="ctr"/>
          <a:lstStyle/>
          <a:p>
            <a:pPr indent="0" marL="0">
              <a:buNone/>
            </a:pPr>
            <a:r>
              <a:rPr lang="en-US" sz="1400" dirty="0">
                <a:solidFill>
                  <a:schemeClr val="tx1"/>
                </a:solidFill>
              </a:rPr>
              <a:t>Always-on agents with their own cloud computer, working 24/7</a:t>
            </a:r>
            <a:endParaRPr lang="en-US" sz="1400" dirty="0"/>
          </a:p>
        </p:txBody>
      </p:sp>
      <p:sp>
        <p:nvSpPr>
          <p:cNvPr id="7" name="icon-circle-102"/>
          <p:cNvSpPr/>
          <p:nvPr/>
        </p:nvSpPr>
        <p:spPr>
          <a:xfrm>
            <a:off x="822960" y="2514600"/>
            <a:ext cx="548640" cy="548640"/>
          </a:xfrm>
          <a:prstGeom prst="ellipse">
            <a:avLst/>
          </a:prstGeom>
          <a:solidFill>
            <a:schemeClr val="accent2"/>
          </a:solidFill>
          <a:ln/>
        </p:spPr>
      </p:sp>
      <p:pic>
        <p:nvPicPr>
          <p:cNvPr id="8" name="icon-bolt-103" descr="bolt icon">    </p:cNvPr>
          <p:cNvPicPr>
            <a:picLocks noChangeAspect="1"/>
          </p:cNvPicPr>
          <p:nvPr/>
        </p:nvPicPr>
        <p:blipFill>
          <a:blip r:embed="rId2"/>
          <a:stretch>
            <a:fillRect/>
          </a:stretch>
        </p:blipFill>
        <p:spPr>
          <a:xfrm>
            <a:off x="960120" y="2651760"/>
            <a:ext cx="274320" cy="274320"/>
          </a:xfrm>
          <a:prstGeom prst="rect">
            <a:avLst/>
          </a:prstGeom>
        </p:spPr>
      </p:pic>
      <p:sp>
        <p:nvSpPr>
          <p:cNvPr id="9" name="Text 5"/>
          <p:cNvSpPr txBox="1"/>
          <p:nvPr/>
        </p:nvSpPr>
        <p:spPr>
          <a:xfrm>
            <a:off x="1600200" y="2514600"/>
            <a:ext cx="5120640" cy="548640"/>
          </a:xfrm>
          <a:prstGeom prst="rect">
            <a:avLst/>
          </a:prstGeom>
          <a:noFill/>
          <a:ln/>
        </p:spPr>
        <p:txBody>
          <a:bodyPr wrap="square" lIns="0" tIns="0" rIns="0" bIns="0" rtlCol="0" anchor="ctr"/>
          <a:lstStyle/>
          <a:p>
            <a:pPr indent="0" marL="0">
              <a:buNone/>
            </a:pPr>
            <a:r>
              <a:rPr lang="en-US" sz="1400" dirty="0">
                <a:solidFill>
                  <a:schemeClr val="tx1"/>
                </a:solidFill>
              </a:rPr>
              <a:t>Proactive: works in the background and asks approval for consequential actions</a:t>
            </a:r>
            <a:endParaRPr lang="en-US" sz="1400" dirty="0"/>
          </a:p>
        </p:txBody>
      </p:sp>
      <p:sp>
        <p:nvSpPr>
          <p:cNvPr id="10" name="icon-circle-104"/>
          <p:cNvSpPr/>
          <p:nvPr/>
        </p:nvSpPr>
        <p:spPr>
          <a:xfrm>
            <a:off x="822960" y="3337560"/>
            <a:ext cx="548640" cy="548640"/>
          </a:xfrm>
          <a:prstGeom prst="ellipse">
            <a:avLst/>
          </a:prstGeom>
          <a:solidFill>
            <a:schemeClr val="accent2"/>
          </a:solidFill>
          <a:ln/>
        </p:spPr>
      </p:sp>
      <p:pic>
        <p:nvPicPr>
          <p:cNvPr id="11" name="icon-mic-105" descr="mic icon">    </p:cNvPr>
          <p:cNvPicPr>
            <a:picLocks noChangeAspect="1"/>
          </p:cNvPicPr>
          <p:nvPr/>
        </p:nvPicPr>
        <p:blipFill>
          <a:blip r:embed="rId3"/>
          <a:stretch>
            <a:fillRect/>
          </a:stretch>
        </p:blipFill>
        <p:spPr>
          <a:xfrm>
            <a:off x="960120" y="3474720"/>
            <a:ext cx="274320" cy="274320"/>
          </a:xfrm>
          <a:prstGeom prst="rect">
            <a:avLst/>
          </a:prstGeom>
        </p:spPr>
      </p:pic>
      <p:sp>
        <p:nvSpPr>
          <p:cNvPr id="12" name="Text 7"/>
          <p:cNvSpPr txBox="1"/>
          <p:nvPr/>
        </p:nvSpPr>
        <p:spPr>
          <a:xfrm>
            <a:off x="1600200" y="3337560"/>
            <a:ext cx="5120640" cy="548640"/>
          </a:xfrm>
          <a:prstGeom prst="rect">
            <a:avLst/>
          </a:prstGeom>
          <a:noFill/>
          <a:ln/>
        </p:spPr>
        <p:txBody>
          <a:bodyPr wrap="square" lIns="0" tIns="0" rIns="0" bIns="0" rtlCol="0" anchor="ctr"/>
          <a:lstStyle/>
          <a:p>
            <a:pPr indent="0" marL="0">
              <a:buNone/>
            </a:pPr>
            <a:r>
              <a:rPr lang="en-US" sz="1400" dirty="0">
                <a:solidFill>
                  <a:schemeClr val="tx1"/>
                </a:solidFill>
              </a:rPr>
              <a:t>Talk by voice or chat in ChatGPT, Slack and Teams; texting coming</a:t>
            </a:r>
            <a:endParaRPr lang="en-US" sz="1400" dirty="0"/>
          </a:p>
        </p:txBody>
      </p:sp>
      <p:sp>
        <p:nvSpPr>
          <p:cNvPr id="13" name="icon-circle-106"/>
          <p:cNvSpPr/>
          <p:nvPr/>
        </p:nvSpPr>
        <p:spPr>
          <a:xfrm>
            <a:off x="822960" y="4160520"/>
            <a:ext cx="548640" cy="548640"/>
          </a:xfrm>
          <a:prstGeom prst="ellipse">
            <a:avLst/>
          </a:prstGeom>
          <a:solidFill>
            <a:schemeClr val="accent2"/>
          </a:solidFill>
          <a:ln/>
        </p:spPr>
      </p:sp>
      <p:pic>
        <p:nvPicPr>
          <p:cNvPr id="14" name="icon-plug-107" descr="plug icon">    </p:cNvPr>
          <p:cNvPicPr>
            <a:picLocks noChangeAspect="1"/>
          </p:cNvPicPr>
          <p:nvPr/>
        </p:nvPicPr>
        <p:blipFill>
          <a:blip r:embed="rId4"/>
          <a:stretch>
            <a:fillRect/>
          </a:stretch>
        </p:blipFill>
        <p:spPr>
          <a:xfrm>
            <a:off x="960120" y="4297680"/>
            <a:ext cx="274320" cy="274320"/>
          </a:xfrm>
          <a:prstGeom prst="rect">
            <a:avLst/>
          </a:prstGeom>
        </p:spPr>
      </p:pic>
      <p:sp>
        <p:nvSpPr>
          <p:cNvPr id="15" name="Text 9"/>
          <p:cNvSpPr txBox="1"/>
          <p:nvPr/>
        </p:nvSpPr>
        <p:spPr>
          <a:xfrm>
            <a:off x="1600200" y="4160520"/>
            <a:ext cx="5120640" cy="548640"/>
          </a:xfrm>
          <a:prstGeom prst="rect">
            <a:avLst/>
          </a:prstGeom>
          <a:noFill/>
          <a:ln/>
        </p:spPr>
        <p:txBody>
          <a:bodyPr wrap="square" lIns="0" tIns="0" rIns="0" bIns="0" rtlCol="0" anchor="ctr"/>
          <a:lstStyle/>
          <a:p>
            <a:pPr indent="0" marL="0">
              <a:buNone/>
            </a:pPr>
            <a:r>
              <a:rPr lang="en-US" sz="1400" dirty="0">
                <a:solidFill>
                  <a:schemeClr val="tx1"/>
                </a:solidFill>
              </a:rPr>
              <a:t>Connects to 4,000+ apps through plugins</a:t>
            </a:r>
            <a:endParaRPr lang="en-US" sz="1400" dirty="0"/>
          </a:p>
        </p:txBody>
      </p:sp>
      <p:sp>
        <p:nvSpPr>
          <p:cNvPr id="16" name="icon-circle-108"/>
          <p:cNvSpPr/>
          <p:nvPr/>
        </p:nvSpPr>
        <p:spPr>
          <a:xfrm>
            <a:off x="822960" y="4983480"/>
            <a:ext cx="548640" cy="548640"/>
          </a:xfrm>
          <a:prstGeom prst="ellipse">
            <a:avLst/>
          </a:prstGeom>
          <a:solidFill>
            <a:schemeClr val="accent2"/>
          </a:solidFill>
          <a:ln/>
        </p:spPr>
      </p:sp>
      <p:pic>
        <p:nvPicPr>
          <p:cNvPr id="17" name="icon-rocket-109" descr="rocket icon">    </p:cNvPr>
          <p:cNvPicPr>
            <a:picLocks noChangeAspect="1"/>
          </p:cNvPicPr>
          <p:nvPr/>
        </p:nvPicPr>
        <p:blipFill>
          <a:blip r:embed="rId5"/>
          <a:stretch>
            <a:fillRect/>
          </a:stretch>
        </p:blipFill>
        <p:spPr>
          <a:xfrm>
            <a:off x="960120" y="5120640"/>
            <a:ext cx="274320" cy="274320"/>
          </a:xfrm>
          <a:prstGeom prst="rect">
            <a:avLst/>
          </a:prstGeom>
        </p:spPr>
      </p:pic>
      <p:sp>
        <p:nvSpPr>
          <p:cNvPr id="18" name="Text 11"/>
          <p:cNvSpPr txBox="1"/>
          <p:nvPr/>
        </p:nvSpPr>
        <p:spPr>
          <a:xfrm>
            <a:off x="1600200" y="4983480"/>
            <a:ext cx="5120640" cy="548640"/>
          </a:xfrm>
          <a:prstGeom prst="rect">
            <a:avLst/>
          </a:prstGeom>
          <a:noFill/>
          <a:ln/>
        </p:spPr>
        <p:txBody>
          <a:bodyPr wrap="square" lIns="0" tIns="0" rIns="0" bIns="0" rtlCol="0" anchor="ctr"/>
          <a:lstStyle/>
          <a:p>
            <a:pPr indent="0" marL="0">
              <a:buNone/>
            </a:pPr>
            <a:r>
              <a:rPr lang="en-US" sz="1400" dirty="0">
                <a:solidFill>
                  <a:schemeClr val="tx1"/>
                </a:solidFill>
              </a:rPr>
              <a:t>Launched Sept 29, 2026 for Pro, Business Premium and Enterprise in eligible markets</a:t>
            </a:r>
            <a:endParaRPr lang="en-US" sz="1400" dirty="0"/>
          </a:p>
        </p:txBody>
      </p:sp>
      <p:sp>
        <p:nvSpPr>
          <p:cNvPr id="19" name="card-110"/>
          <p:cNvSpPr/>
          <p:nvPr/>
        </p:nvSpPr>
        <p:spPr>
          <a:xfrm>
            <a:off x="7223760" y="1508760"/>
            <a:ext cx="4416552" cy="4434840"/>
          </a:xfrm>
          <a:prstGeom prst="roundRect">
            <a:avLst>
              <a:gd name="adj" fmla="val 2484"/>
            </a:avLst>
          </a:prstGeom>
          <a:solidFill>
            <a:schemeClr val="tx2"/>
          </a:solidFill>
          <a:ln/>
        </p:spPr>
      </p:sp>
      <p:sp>
        <p:nvSpPr>
          <p:cNvPr id="20" name="Text 13"/>
          <p:cNvSpPr txBox="1"/>
          <p:nvPr/>
        </p:nvSpPr>
        <p:spPr>
          <a:xfrm>
            <a:off x="7498080" y="1737360"/>
            <a:ext cx="3931920" cy="457200"/>
          </a:xfrm>
          <a:prstGeom prst="rect">
            <a:avLst/>
          </a:prstGeom>
          <a:noFill/>
          <a:ln/>
        </p:spPr>
        <p:txBody>
          <a:bodyPr wrap="square" lIns="0" tIns="0" rIns="0" bIns="0" rtlCol="0" anchor="t"/>
          <a:lstStyle/>
          <a:p>
            <a:pPr indent="0" marL="0">
              <a:buNone/>
            </a:pPr>
            <a:r>
              <a:rPr lang="en-US" sz="2000" b="1" dirty="0">
                <a:solidFill>
                  <a:schemeClr val="bg1"/>
                </a:solidFill>
              </a:rPr>
              <a:t>Where we differ</a:t>
            </a:r>
            <a:endParaRPr lang="en-US" sz="2000" dirty="0"/>
          </a:p>
        </p:txBody>
      </p:sp>
      <p:sp>
        <p:nvSpPr>
          <p:cNvPr id="21" name="Text 14"/>
          <p:cNvSpPr txBox="1"/>
          <p:nvPr/>
        </p:nvSpPr>
        <p:spPr>
          <a:xfrm>
            <a:off x="7498080" y="2331720"/>
            <a:ext cx="3931920" cy="3429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Built for work: coding, launches, invoices, not for running a home</a:t>
            </a:r>
            <a:endParaRPr lang="en-US" sz="1500" dirty="0"/>
          </a:p>
          <a:p>
            <a:pPr marL="342900" indent="-342900">
              <a:spcAft>
                <a:spcPts val="1000"/>
              </a:spcAft>
              <a:buSzPct val="100000"/>
              <a:buChar char="•"/>
            </a:pPr>
            <a:r>
              <a:rPr lang="en-US" sz="1500" dirty="0">
                <a:solidFill>
                  <a:schemeClr val="bg1"/>
                </a:solidFill>
              </a:rPr>
              <a:t>Home devices are not part of the announcement</a:t>
            </a:r>
            <a:endParaRPr lang="en-US" sz="1500" dirty="0"/>
          </a:p>
          <a:p>
            <a:pPr marL="342900" indent="-342900">
              <a:spcAft>
                <a:spcPts val="1000"/>
              </a:spcAft>
              <a:buSzPct val="100000"/>
              <a:buChar char="•"/>
            </a:pPr>
            <a:r>
              <a:rPr lang="en-US" sz="1500" dirty="0">
                <a:solidFill>
                  <a:schemeClr val="bg1"/>
                </a:solidFill>
              </a:rPr>
              <a:t>Our angle: the household, the family and the house itself</a:t>
            </a:r>
            <a:endParaRPr lang="en-US" sz="1500" dirty="0"/>
          </a:p>
          <a:p>
            <a:pPr marL="342900" indent="-342900">
              <a:spcAft>
                <a:spcPts val="1000"/>
              </a:spcAft>
              <a:buSzPct val="100000"/>
              <a:buChar char="•"/>
            </a:pPr>
            <a:r>
              <a:rPr lang="en-US" sz="1500" dirty="0">
                <a:solidFill>
                  <a:schemeClr val="bg1"/>
                </a:solidFill>
              </a:rPr>
              <a:t>Price: about $200 a month for dots vs our €20 target (checked Oct 2026)</a:t>
            </a:r>
            <a:endParaRPr lang="en-US" sz="1500" dirty="0"/>
          </a:p>
          <a:p>
            <a:pPr marL="342900" indent="-342900">
              <a:buSzPct val="100000"/>
              <a:buChar char="•"/>
            </a:pPr>
            <a:r>
              <a:rPr lang="en-US" sz="1500" b="1" dirty="0">
                <a:solidFill>
                  <a:schemeClr val="bg1"/>
                </a:solidFill>
              </a:rPr>
              <a:t>Watch: OpenAI could move into the home</a:t>
            </a:r>
            <a:endParaRPr lang="en-US" sz="1500" dirty="0"/>
          </a:p>
        </p:txBody>
      </p:sp>
      <p:sp>
        <p:nvSpPr>
          <p:cNvPr id="22" name="Text 15"/>
          <p:cNvSpPr txBox="1"/>
          <p:nvPr/>
        </p:nvSpPr>
        <p:spPr>
          <a:xfrm>
            <a:off x="548640" y="6053328"/>
            <a:ext cx="11091672" cy="274320"/>
          </a:xfrm>
          <a:prstGeom prst="rect">
            <a:avLst/>
          </a:prstGeom>
          <a:noFill/>
          <a:ln/>
        </p:spPr>
        <p:txBody>
          <a:bodyPr wrap="square" lIns="0" tIns="0" rIns="0" bIns="0" rtlCol="0" anchor="t"/>
          <a:lstStyle/>
          <a:p>
            <a:pPr indent="0" marL="0">
              <a:buNone/>
            </a:pPr>
            <a:r>
              <a:rPr lang="en-US" sz="1000" dirty="0">
                <a:solidFill>
                  <a:schemeClr val="accent5"/>
                </a:solidFill>
              </a:rPr>
              <a:t>Source: openai.com/index/introducing-dots (Sept 29, 2026)</a:t>
            </a:r>
            <a:endParaRPr lang="en-US" sz="10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B: Smart-home platforms</a:t>
            </a:r>
            <a:endParaRPr lang="en-US" sz="3600" dirty="0"/>
          </a:p>
        </p:txBody>
      </p:sp>
      <p:sp>
        <p:nvSpPr>
          <p:cNvPr id="3" name="card-111"/>
          <p:cNvSpPr/>
          <p:nvPr/>
        </p:nvSpPr>
        <p:spPr>
          <a:xfrm>
            <a:off x="548640" y="1463040"/>
            <a:ext cx="2635758" cy="3703320"/>
          </a:xfrm>
          <a:prstGeom prst="roundRect">
            <a:avLst>
              <a:gd name="adj" fmla="val 4163"/>
            </a:avLst>
          </a:prstGeom>
          <a:solidFill>
            <a:schemeClr val="bg2"/>
          </a:solidFill>
          <a:ln/>
        </p:spPr>
      </p:sp>
      <p:sp>
        <p:nvSpPr>
          <p:cNvPr id="4" name="Text 2"/>
          <p:cNvSpPr txBox="1"/>
          <p:nvPr/>
        </p:nvSpPr>
        <p:spPr>
          <a:xfrm>
            <a:off x="731520"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Alexa+</a:t>
            </a:r>
            <a:endParaRPr lang="en-US" sz="1800" dirty="0"/>
          </a:p>
        </p:txBody>
      </p:sp>
      <p:sp>
        <p:nvSpPr>
          <p:cNvPr id="5" name="Text 3"/>
          <p:cNvSpPr txBox="1"/>
          <p:nvPr/>
        </p:nvSpPr>
        <p:spPr>
          <a:xfrm>
            <a:off x="731520"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with Prime; $19.99/month without (US)</a:t>
            </a:r>
            <a:endParaRPr lang="en-US" sz="1400" dirty="0"/>
          </a:p>
        </p:txBody>
      </p:sp>
      <p:sp>
        <p:nvSpPr>
          <p:cNvPr id="6" name="Text 4"/>
          <p:cNvSpPr txBox="1"/>
          <p:nvPr/>
        </p:nvSpPr>
        <p:spPr>
          <a:xfrm>
            <a:off x="731520"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Conversational Alexa on Echo and Fire TV; device control, shopping, bookings</a:t>
            </a:r>
            <a:endParaRPr lang="en-US" sz="1400" dirty="0"/>
          </a:p>
        </p:txBody>
      </p:sp>
      <p:sp>
        <p:nvSpPr>
          <p:cNvPr id="7" name="Text 5"/>
          <p:cNvSpPr txBox="1"/>
          <p:nvPr/>
        </p:nvSpPr>
        <p:spPr>
          <a:xfrm>
            <a:off x="731520"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8" name="Text 6"/>
          <p:cNvSpPr txBox="1"/>
          <p:nvPr/>
        </p:nvSpPr>
        <p:spPr>
          <a:xfrm>
            <a:off x="731520"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Centered on Amazon devices; US-first rollout</a:t>
            </a:r>
            <a:endParaRPr lang="en-US" sz="1400" dirty="0"/>
          </a:p>
        </p:txBody>
      </p:sp>
      <p:sp>
        <p:nvSpPr>
          <p:cNvPr id="9" name="card-112"/>
          <p:cNvSpPr/>
          <p:nvPr/>
        </p:nvSpPr>
        <p:spPr>
          <a:xfrm>
            <a:off x="3367278" y="1463040"/>
            <a:ext cx="2635758" cy="3703320"/>
          </a:xfrm>
          <a:prstGeom prst="roundRect">
            <a:avLst>
              <a:gd name="adj" fmla="val 4163"/>
            </a:avLst>
          </a:prstGeom>
          <a:solidFill>
            <a:schemeClr val="bg2"/>
          </a:solidFill>
          <a:ln/>
        </p:spPr>
      </p:sp>
      <p:sp>
        <p:nvSpPr>
          <p:cNvPr id="10" name="Text 8"/>
          <p:cNvSpPr txBox="1"/>
          <p:nvPr/>
        </p:nvSpPr>
        <p:spPr>
          <a:xfrm>
            <a:off x="3550158"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Google Home (Gemini)</a:t>
            </a:r>
            <a:endParaRPr lang="en-US" sz="1800" dirty="0"/>
          </a:p>
        </p:txBody>
      </p:sp>
      <p:sp>
        <p:nvSpPr>
          <p:cNvPr id="11" name="Text 9"/>
          <p:cNvSpPr txBox="1"/>
          <p:nvPr/>
        </p:nvSpPr>
        <p:spPr>
          <a:xfrm>
            <a:off x="3550158"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Premium €10/month; Advanced €18/month</a:t>
            </a:r>
            <a:endParaRPr lang="en-US" sz="1400" dirty="0"/>
          </a:p>
        </p:txBody>
      </p:sp>
      <p:sp>
        <p:nvSpPr>
          <p:cNvPr id="12" name="Text 10"/>
          <p:cNvSpPr txBox="1"/>
          <p:nvPr/>
        </p:nvSpPr>
        <p:spPr>
          <a:xfrm>
            <a:off x="3550158"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Gemini on speakers and displays; camera summaries; automations by chat</a:t>
            </a:r>
            <a:endParaRPr lang="en-US" sz="1400" dirty="0"/>
          </a:p>
        </p:txBody>
      </p:sp>
      <p:sp>
        <p:nvSpPr>
          <p:cNvPr id="13" name="Text 11"/>
          <p:cNvSpPr txBox="1"/>
          <p:nvPr/>
        </p:nvSpPr>
        <p:spPr>
          <a:xfrm>
            <a:off x="3550158"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14" name="Text 12"/>
          <p:cNvSpPr txBox="1"/>
          <p:nvPr/>
        </p:nvSpPr>
        <p:spPr>
          <a:xfrm>
            <a:off x="3550158"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Focused on cameras, speakers and Google hardware</a:t>
            </a:r>
            <a:endParaRPr lang="en-US" sz="1400" dirty="0"/>
          </a:p>
        </p:txBody>
      </p:sp>
      <p:sp>
        <p:nvSpPr>
          <p:cNvPr id="15" name="card-113"/>
          <p:cNvSpPr/>
          <p:nvPr/>
        </p:nvSpPr>
        <p:spPr>
          <a:xfrm>
            <a:off x="6185916" y="1463040"/>
            <a:ext cx="2635758" cy="3703320"/>
          </a:xfrm>
          <a:prstGeom prst="roundRect">
            <a:avLst>
              <a:gd name="adj" fmla="val 4163"/>
            </a:avLst>
          </a:prstGeom>
          <a:solidFill>
            <a:schemeClr val="bg2"/>
          </a:solidFill>
          <a:ln/>
        </p:spPr>
      </p:sp>
      <p:sp>
        <p:nvSpPr>
          <p:cNvPr id="16" name="Text 14"/>
          <p:cNvSpPr txBox="1"/>
          <p:nvPr/>
        </p:nvSpPr>
        <p:spPr>
          <a:xfrm>
            <a:off x="6368796"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Apple Home</a:t>
            </a:r>
            <a:endParaRPr lang="en-US" sz="1800" dirty="0"/>
          </a:p>
        </p:txBody>
      </p:sp>
      <p:sp>
        <p:nvSpPr>
          <p:cNvPr id="17" name="Text 15"/>
          <p:cNvSpPr txBox="1"/>
          <p:nvPr/>
        </p:nvSpPr>
        <p:spPr>
          <a:xfrm>
            <a:off x="6368796"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Home app free; new hub hardware not yet announced</a:t>
            </a:r>
            <a:endParaRPr lang="en-US" sz="1400" dirty="0"/>
          </a:p>
        </p:txBody>
      </p:sp>
      <p:sp>
        <p:nvSpPr>
          <p:cNvPr id="18" name="Text 16"/>
          <p:cNvSpPr txBox="1"/>
          <p:nvPr/>
        </p:nvSpPr>
        <p:spPr>
          <a:xfrm>
            <a:off x="6368796"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New AI Siri arrived with iOS 27 in Sept 2026; a home hub display is still unannounced</a:t>
            </a:r>
            <a:endParaRPr lang="en-US" sz="1400" dirty="0"/>
          </a:p>
        </p:txBody>
      </p:sp>
      <p:sp>
        <p:nvSpPr>
          <p:cNvPr id="19" name="Text 17"/>
          <p:cNvSpPr txBox="1"/>
          <p:nvPr/>
        </p:nvSpPr>
        <p:spPr>
          <a:xfrm>
            <a:off x="6368796"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0" name="Text 18"/>
          <p:cNvSpPr txBox="1"/>
          <p:nvPr/>
        </p:nvSpPr>
        <p:spPr>
          <a:xfrm>
            <a:off x="6368796"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Closed ecosystem; hub hardware still pending</a:t>
            </a:r>
            <a:endParaRPr lang="en-US" sz="1400" dirty="0"/>
          </a:p>
        </p:txBody>
      </p:sp>
      <p:sp>
        <p:nvSpPr>
          <p:cNvPr id="21" name="card-114"/>
          <p:cNvSpPr/>
          <p:nvPr/>
        </p:nvSpPr>
        <p:spPr>
          <a:xfrm>
            <a:off x="9004554" y="1463040"/>
            <a:ext cx="2635758" cy="3703320"/>
          </a:xfrm>
          <a:prstGeom prst="roundRect">
            <a:avLst>
              <a:gd name="adj" fmla="val 4163"/>
            </a:avLst>
          </a:prstGeom>
          <a:solidFill>
            <a:schemeClr val="bg2"/>
          </a:solidFill>
          <a:ln/>
        </p:spPr>
      </p:sp>
      <p:sp>
        <p:nvSpPr>
          <p:cNvPr id="22" name="Text 20"/>
          <p:cNvSpPr txBox="1"/>
          <p:nvPr/>
        </p:nvSpPr>
        <p:spPr>
          <a:xfrm>
            <a:off x="9187434"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Home Assistant</a:t>
            </a:r>
            <a:endParaRPr lang="en-US" sz="1800" dirty="0"/>
          </a:p>
        </p:txBody>
      </p:sp>
      <p:sp>
        <p:nvSpPr>
          <p:cNvPr id="23" name="Text 21"/>
          <p:cNvSpPr txBox="1"/>
          <p:nvPr/>
        </p:nvSpPr>
        <p:spPr>
          <a:xfrm>
            <a:off x="9187434"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and open source; optional Cloud €7.50/month</a:t>
            </a:r>
            <a:endParaRPr lang="en-US" sz="1400" dirty="0"/>
          </a:p>
        </p:txBody>
      </p:sp>
      <p:sp>
        <p:nvSpPr>
          <p:cNvPr id="24" name="Text 22"/>
          <p:cNvSpPr txBox="1"/>
          <p:nvPr/>
        </p:nvSpPr>
        <p:spPr>
          <a:xfrm>
            <a:off x="9187434"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Local-first control of 1,000+ integrations; voice and AI through Assist</a:t>
            </a:r>
            <a:endParaRPr lang="en-US" sz="1400" dirty="0"/>
          </a:p>
        </p:txBody>
      </p:sp>
      <p:sp>
        <p:nvSpPr>
          <p:cNvPr id="25" name="Text 23"/>
          <p:cNvSpPr txBox="1"/>
          <p:nvPr/>
        </p:nvSpPr>
        <p:spPr>
          <a:xfrm>
            <a:off x="9187434"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6" name="Text 24"/>
          <p:cNvSpPr txBox="1"/>
          <p:nvPr/>
        </p:nvSpPr>
        <p:spPr>
          <a:xfrm>
            <a:off x="9187434"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Needs technical setup; devices only, no household planning</a:t>
            </a:r>
            <a:endParaRPr lang="en-US" sz="1400" dirty="0"/>
          </a:p>
        </p:txBody>
      </p:sp>
      <p:sp>
        <p:nvSpPr>
          <p:cNvPr id="27" name="card-115"/>
          <p:cNvSpPr/>
          <p:nvPr/>
        </p:nvSpPr>
        <p:spPr>
          <a:xfrm>
            <a:off x="548640" y="5349240"/>
            <a:ext cx="11091672" cy="640080"/>
          </a:xfrm>
          <a:prstGeom prst="roundRect">
            <a:avLst>
              <a:gd name="adj" fmla="val 17143"/>
            </a:avLst>
          </a:prstGeom>
          <a:solidFill>
            <a:schemeClr val="tx2"/>
          </a:solidFill>
          <a:ln/>
        </p:spPr>
      </p:sp>
      <p:sp>
        <p:nvSpPr>
          <p:cNvPr id="28" name="Text 26"/>
          <p:cNvSpPr txBox="1"/>
          <p:nvPr/>
        </p:nvSpPr>
        <p:spPr>
          <a:xfrm>
            <a:off x="822960" y="5349240"/>
            <a:ext cx="10543032" cy="640080"/>
          </a:xfrm>
          <a:prstGeom prst="rect">
            <a:avLst/>
          </a:prstGeom>
          <a:noFill/>
          <a:ln/>
        </p:spPr>
        <p:txBody>
          <a:bodyPr wrap="square" lIns="0" tIns="0" rIns="0" bIns="0" rtlCol="0" anchor="ctr"/>
          <a:lstStyle/>
          <a:p>
            <a:pPr indent="0" marL="0">
              <a:buNone/>
            </a:pPr>
            <a:r>
              <a:rPr lang="en-US" sz="1400" b="1" dirty="0">
                <a:solidFill>
                  <a:schemeClr val="bg1"/>
                </a:solidFill>
              </a:rPr>
              <a:t>Takeaway: </a:t>
            </a:r>
            <a:pPr indent="0" marL="0">
              <a:buNone/>
            </a:pPr>
            <a:r>
              <a:rPr lang="en-US" sz="1400" dirty="0">
                <a:solidFill>
                  <a:schemeClr val="bg1"/>
                </a:solidFill>
              </a:rPr>
              <a:t>These are device platforms, not rivals. We plug into them: Home Assistant and Matter as bridges, Alexa and Google as extra ways to talk to the house.</a:t>
            </a:r>
            <a:endParaRPr lang="en-US" sz="1400" dirty="0"/>
          </a:p>
        </p:txBody>
      </p:sp>
      <p:sp>
        <p:nvSpPr>
          <p:cNvPr id="29" name="Text 27"/>
          <p:cNvSpPr txBox="1"/>
          <p:nvPr/>
        </p:nvSpPr>
        <p:spPr>
          <a:xfrm>
            <a:off x="548640" y="608076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Prices and features from public sources, Oct 2026; euro prices are the EU store prices; verify before the final deck.</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C: Organization and automation</a:t>
            </a:r>
            <a:endParaRPr lang="en-US" sz="3600" dirty="0"/>
          </a:p>
        </p:txBody>
      </p:sp>
      <p:sp>
        <p:nvSpPr>
          <p:cNvPr id="3" name="card-116"/>
          <p:cNvSpPr/>
          <p:nvPr/>
        </p:nvSpPr>
        <p:spPr>
          <a:xfrm>
            <a:off x="548640" y="1463040"/>
            <a:ext cx="2635758" cy="3703320"/>
          </a:xfrm>
          <a:prstGeom prst="roundRect">
            <a:avLst>
              <a:gd name="adj" fmla="val 4163"/>
            </a:avLst>
          </a:prstGeom>
          <a:solidFill>
            <a:schemeClr val="bg2"/>
          </a:solidFill>
          <a:ln/>
        </p:spPr>
      </p:sp>
      <p:sp>
        <p:nvSpPr>
          <p:cNvPr id="4" name="Text 2"/>
          <p:cNvSpPr txBox="1"/>
          <p:nvPr/>
        </p:nvSpPr>
        <p:spPr>
          <a:xfrm>
            <a:off x="731520"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Notion</a:t>
            </a:r>
            <a:endParaRPr lang="en-US" sz="1800" dirty="0"/>
          </a:p>
        </p:txBody>
      </p:sp>
      <p:sp>
        <p:nvSpPr>
          <p:cNvPr id="5" name="Text 3"/>
          <p:cNvSpPr txBox="1"/>
          <p:nvPr/>
        </p:nvSpPr>
        <p:spPr>
          <a:xfrm>
            <a:off x="731520"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Plus $10, Business $20 per member/month</a:t>
            </a:r>
            <a:endParaRPr lang="en-US" sz="1400" dirty="0"/>
          </a:p>
        </p:txBody>
      </p:sp>
      <p:sp>
        <p:nvSpPr>
          <p:cNvPr id="6" name="Text 4"/>
          <p:cNvSpPr txBox="1"/>
          <p:nvPr/>
        </p:nvSpPr>
        <p:spPr>
          <a:xfrm>
            <a:off x="731520"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Workspace for notes and databases, with AI agents that work inside Notion</a:t>
            </a:r>
            <a:endParaRPr lang="en-US" sz="1400" dirty="0"/>
          </a:p>
        </p:txBody>
      </p:sp>
      <p:sp>
        <p:nvSpPr>
          <p:cNvPr id="7" name="Text 5"/>
          <p:cNvSpPr txBox="1"/>
          <p:nvPr/>
        </p:nvSpPr>
        <p:spPr>
          <a:xfrm>
            <a:off x="731520"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8" name="Text 6"/>
          <p:cNvSpPr txBox="1"/>
          <p:nvPr/>
        </p:nvSpPr>
        <p:spPr>
          <a:xfrm>
            <a:off x="731520"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Works only inside Notion; you design and maintain the system</a:t>
            </a:r>
            <a:endParaRPr lang="en-US" sz="1400" dirty="0"/>
          </a:p>
        </p:txBody>
      </p:sp>
      <p:sp>
        <p:nvSpPr>
          <p:cNvPr id="9" name="card-117"/>
          <p:cNvSpPr/>
          <p:nvPr/>
        </p:nvSpPr>
        <p:spPr>
          <a:xfrm>
            <a:off x="3367278" y="1463040"/>
            <a:ext cx="2635758" cy="3703320"/>
          </a:xfrm>
          <a:prstGeom prst="roundRect">
            <a:avLst>
              <a:gd name="adj" fmla="val 4163"/>
            </a:avLst>
          </a:prstGeom>
          <a:solidFill>
            <a:schemeClr val="bg2"/>
          </a:solidFill>
          <a:ln/>
        </p:spPr>
      </p:sp>
      <p:sp>
        <p:nvSpPr>
          <p:cNvPr id="10" name="Text 8"/>
          <p:cNvSpPr txBox="1"/>
          <p:nvPr/>
        </p:nvSpPr>
        <p:spPr>
          <a:xfrm>
            <a:off x="3550158"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Zapier</a:t>
            </a:r>
            <a:endParaRPr lang="en-US" sz="1800" dirty="0"/>
          </a:p>
        </p:txBody>
      </p:sp>
      <p:sp>
        <p:nvSpPr>
          <p:cNvPr id="11" name="Text 9"/>
          <p:cNvSpPr txBox="1"/>
          <p:nvPr/>
        </p:nvSpPr>
        <p:spPr>
          <a:xfrm>
            <a:off x="3550158"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(100 tasks); from $19.99/month for 750 tasks</a:t>
            </a:r>
            <a:endParaRPr lang="en-US" sz="1400" dirty="0"/>
          </a:p>
        </p:txBody>
      </p:sp>
      <p:sp>
        <p:nvSpPr>
          <p:cNvPr id="12" name="Text 10"/>
          <p:cNvSpPr txBox="1"/>
          <p:nvPr/>
        </p:nvSpPr>
        <p:spPr>
          <a:xfrm>
            <a:off x="3550158"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Connects thousands of apps; Zapier Agents run multi-step work</a:t>
            </a:r>
            <a:endParaRPr lang="en-US" sz="1400" dirty="0"/>
          </a:p>
        </p:txBody>
      </p:sp>
      <p:sp>
        <p:nvSpPr>
          <p:cNvPr id="13" name="Text 11"/>
          <p:cNvSpPr txBox="1"/>
          <p:nvPr/>
        </p:nvSpPr>
        <p:spPr>
          <a:xfrm>
            <a:off x="3550158"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14" name="Text 12"/>
          <p:cNvSpPr txBox="1"/>
          <p:nvPr/>
        </p:nvSpPr>
        <p:spPr>
          <a:xfrm>
            <a:off x="3550158"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You build the Zaps; the bill grows with tasks</a:t>
            </a:r>
            <a:endParaRPr lang="en-US" sz="1400" dirty="0"/>
          </a:p>
        </p:txBody>
      </p:sp>
      <p:sp>
        <p:nvSpPr>
          <p:cNvPr id="15" name="card-118"/>
          <p:cNvSpPr/>
          <p:nvPr/>
        </p:nvSpPr>
        <p:spPr>
          <a:xfrm>
            <a:off x="6185916" y="1463040"/>
            <a:ext cx="2635758" cy="3703320"/>
          </a:xfrm>
          <a:prstGeom prst="roundRect">
            <a:avLst>
              <a:gd name="adj" fmla="val 4163"/>
            </a:avLst>
          </a:prstGeom>
          <a:solidFill>
            <a:schemeClr val="bg2"/>
          </a:solidFill>
          <a:ln/>
        </p:spPr>
      </p:sp>
      <p:sp>
        <p:nvSpPr>
          <p:cNvPr id="16" name="Text 14"/>
          <p:cNvSpPr txBox="1"/>
          <p:nvPr/>
        </p:nvSpPr>
        <p:spPr>
          <a:xfrm>
            <a:off x="6368796"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Make</a:t>
            </a:r>
            <a:endParaRPr lang="en-US" sz="1800" dirty="0"/>
          </a:p>
        </p:txBody>
      </p:sp>
      <p:sp>
        <p:nvSpPr>
          <p:cNvPr id="17" name="Text 15"/>
          <p:cNvSpPr txBox="1"/>
          <p:nvPr/>
        </p:nvSpPr>
        <p:spPr>
          <a:xfrm>
            <a:off x="6368796"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Core about $9–11/month (10,000 credits)</a:t>
            </a:r>
            <a:endParaRPr lang="en-US" sz="1400" dirty="0"/>
          </a:p>
        </p:txBody>
      </p:sp>
      <p:sp>
        <p:nvSpPr>
          <p:cNvPr id="18" name="Text 16"/>
          <p:cNvSpPr txBox="1"/>
          <p:nvPr/>
        </p:nvSpPr>
        <p:spPr>
          <a:xfrm>
            <a:off x="6368796"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Visual builder for automations across thousands of apps; AI agents in beta</a:t>
            </a:r>
            <a:endParaRPr lang="en-US" sz="1400" dirty="0"/>
          </a:p>
        </p:txBody>
      </p:sp>
      <p:sp>
        <p:nvSpPr>
          <p:cNvPr id="19" name="Text 17"/>
          <p:cNvSpPr txBox="1"/>
          <p:nvPr/>
        </p:nvSpPr>
        <p:spPr>
          <a:xfrm>
            <a:off x="6368796"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0" name="Text 18"/>
          <p:cNvSpPr txBox="1"/>
          <p:nvPr/>
        </p:nvSpPr>
        <p:spPr>
          <a:xfrm>
            <a:off x="6368796"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Made for builders; no household context</a:t>
            </a:r>
            <a:endParaRPr lang="en-US" sz="1400" dirty="0"/>
          </a:p>
        </p:txBody>
      </p:sp>
      <p:sp>
        <p:nvSpPr>
          <p:cNvPr id="21" name="card-119"/>
          <p:cNvSpPr/>
          <p:nvPr/>
        </p:nvSpPr>
        <p:spPr>
          <a:xfrm>
            <a:off x="9004554" y="1463040"/>
            <a:ext cx="2635758" cy="3703320"/>
          </a:xfrm>
          <a:prstGeom prst="roundRect">
            <a:avLst>
              <a:gd name="adj" fmla="val 4163"/>
            </a:avLst>
          </a:prstGeom>
          <a:solidFill>
            <a:schemeClr val="bg2"/>
          </a:solidFill>
          <a:ln/>
        </p:spPr>
      </p:sp>
      <p:sp>
        <p:nvSpPr>
          <p:cNvPr id="22" name="Text 20"/>
          <p:cNvSpPr txBox="1"/>
          <p:nvPr/>
        </p:nvSpPr>
        <p:spPr>
          <a:xfrm>
            <a:off x="9187434"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IFTTT</a:t>
            </a:r>
            <a:endParaRPr lang="en-US" sz="1800" dirty="0"/>
          </a:p>
        </p:txBody>
      </p:sp>
      <p:sp>
        <p:nvSpPr>
          <p:cNvPr id="23" name="Text 21"/>
          <p:cNvSpPr txBox="1"/>
          <p:nvPr/>
        </p:nvSpPr>
        <p:spPr>
          <a:xfrm>
            <a:off x="9187434"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(2 applets); Pro $2.99; Pro+ about $9/month</a:t>
            </a:r>
            <a:endParaRPr lang="en-US" sz="1400" dirty="0"/>
          </a:p>
        </p:txBody>
      </p:sp>
      <p:sp>
        <p:nvSpPr>
          <p:cNvPr id="24" name="Text 22"/>
          <p:cNvSpPr txBox="1"/>
          <p:nvPr/>
        </p:nvSpPr>
        <p:spPr>
          <a:xfrm>
            <a:off x="9187434"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Simple if-this-then-that applets for consumer devices and services</a:t>
            </a:r>
            <a:endParaRPr lang="en-US" sz="1400" dirty="0"/>
          </a:p>
        </p:txBody>
      </p:sp>
      <p:sp>
        <p:nvSpPr>
          <p:cNvPr id="25" name="Text 23"/>
          <p:cNvSpPr txBox="1"/>
          <p:nvPr/>
        </p:nvSpPr>
        <p:spPr>
          <a:xfrm>
            <a:off x="9187434"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6" name="Text 24"/>
          <p:cNvSpPr txBox="1"/>
          <p:nvPr/>
        </p:nvSpPr>
        <p:spPr>
          <a:xfrm>
            <a:off x="9187434"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Simple triggers only; no autonomous agents</a:t>
            </a:r>
            <a:endParaRPr lang="en-US" sz="1400" dirty="0"/>
          </a:p>
        </p:txBody>
      </p:sp>
      <p:sp>
        <p:nvSpPr>
          <p:cNvPr id="27" name="card-120"/>
          <p:cNvSpPr/>
          <p:nvPr/>
        </p:nvSpPr>
        <p:spPr>
          <a:xfrm>
            <a:off x="548640" y="5349240"/>
            <a:ext cx="11091672" cy="640080"/>
          </a:xfrm>
          <a:prstGeom prst="roundRect">
            <a:avLst>
              <a:gd name="adj" fmla="val 17143"/>
            </a:avLst>
          </a:prstGeom>
          <a:solidFill>
            <a:schemeClr val="tx2"/>
          </a:solidFill>
          <a:ln/>
        </p:spPr>
      </p:sp>
      <p:sp>
        <p:nvSpPr>
          <p:cNvPr id="28" name="Text 26"/>
          <p:cNvSpPr txBox="1"/>
          <p:nvPr/>
        </p:nvSpPr>
        <p:spPr>
          <a:xfrm>
            <a:off x="822960" y="5349240"/>
            <a:ext cx="10543032" cy="640080"/>
          </a:xfrm>
          <a:prstGeom prst="rect">
            <a:avLst/>
          </a:prstGeom>
          <a:noFill/>
          <a:ln/>
        </p:spPr>
        <p:txBody>
          <a:bodyPr wrap="square" lIns="0" tIns="0" rIns="0" bIns="0" rtlCol="0" anchor="ctr"/>
          <a:lstStyle/>
          <a:p>
            <a:pPr indent="0" marL="0">
              <a:buNone/>
            </a:pPr>
            <a:r>
              <a:rPr lang="en-US" sz="1400" b="1" dirty="0">
                <a:solidFill>
                  <a:schemeClr val="bg1"/>
                </a:solidFill>
              </a:rPr>
              <a:t>Takeaway: </a:t>
            </a:r>
            <a:pPr indent="0" marL="0">
              <a:buNone/>
            </a:pPr>
            <a:r>
              <a:rPr lang="en-US" sz="1400" dirty="0">
                <a:solidFill>
                  <a:schemeClr val="bg1"/>
                </a:solidFill>
              </a:rPr>
              <a:t>These are toolkits: powerful, but the household must design, wire and maintain every workflow. Ours builds and repairs its own.</a:t>
            </a:r>
            <a:endParaRPr lang="en-US" sz="1400" dirty="0"/>
          </a:p>
        </p:txBody>
      </p:sp>
      <p:sp>
        <p:nvSpPr>
          <p:cNvPr id="29" name="Text 27"/>
          <p:cNvSpPr txBox="1"/>
          <p:nvPr/>
        </p:nvSpPr>
        <p:spPr>
          <a:xfrm>
            <a:off x="548640" y="608076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Prices from public sources, Oct 2026; agent credits and task limits change often; verify before the final deck.</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D: Family organizers and standards</a:t>
            </a:r>
            <a:endParaRPr lang="en-US" sz="3600" dirty="0"/>
          </a:p>
        </p:txBody>
      </p:sp>
      <p:sp>
        <p:nvSpPr>
          <p:cNvPr id="3" name="card-121"/>
          <p:cNvSpPr/>
          <p:nvPr/>
        </p:nvSpPr>
        <p:spPr>
          <a:xfrm>
            <a:off x="548640" y="1463040"/>
            <a:ext cx="2635758" cy="3703320"/>
          </a:xfrm>
          <a:prstGeom prst="roundRect">
            <a:avLst>
              <a:gd name="adj" fmla="val 4163"/>
            </a:avLst>
          </a:prstGeom>
          <a:solidFill>
            <a:schemeClr val="bg2"/>
          </a:solidFill>
          <a:ln/>
        </p:spPr>
      </p:sp>
      <p:sp>
        <p:nvSpPr>
          <p:cNvPr id="4" name="Text 2"/>
          <p:cNvSpPr txBox="1"/>
          <p:nvPr/>
        </p:nvSpPr>
        <p:spPr>
          <a:xfrm>
            <a:off x="731520"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Cozi</a:t>
            </a:r>
            <a:endParaRPr lang="en-US" sz="1800" dirty="0"/>
          </a:p>
        </p:txBody>
      </p:sp>
      <p:sp>
        <p:nvSpPr>
          <p:cNvPr id="5" name="Text 3"/>
          <p:cNvSpPr txBox="1"/>
          <p:nvPr/>
        </p:nvSpPr>
        <p:spPr>
          <a:xfrm>
            <a:off x="731520"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Gold $39/year; Max $79/year</a:t>
            </a:r>
            <a:endParaRPr lang="en-US" sz="1400" dirty="0"/>
          </a:p>
        </p:txBody>
      </p:sp>
      <p:sp>
        <p:nvSpPr>
          <p:cNvPr id="6" name="Text 4"/>
          <p:cNvSpPr txBox="1"/>
          <p:nvPr/>
        </p:nvSpPr>
        <p:spPr>
          <a:xfrm>
            <a:off x="731520"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Shared family calendar, lists and meals; Max adds AI event import and a meal planner</a:t>
            </a:r>
            <a:endParaRPr lang="en-US" sz="1400" dirty="0"/>
          </a:p>
        </p:txBody>
      </p:sp>
      <p:sp>
        <p:nvSpPr>
          <p:cNvPr id="7" name="Text 5"/>
          <p:cNvSpPr txBox="1"/>
          <p:nvPr/>
        </p:nvSpPr>
        <p:spPr>
          <a:xfrm>
            <a:off x="731520"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8" name="Text 6"/>
          <p:cNvSpPr txBox="1"/>
          <p:nvPr/>
        </p:nvSpPr>
        <p:spPr>
          <a:xfrm>
            <a:off x="731520"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Planning only; no devices, finances or learning tools</a:t>
            </a:r>
            <a:endParaRPr lang="en-US" sz="1400" dirty="0"/>
          </a:p>
        </p:txBody>
      </p:sp>
      <p:sp>
        <p:nvSpPr>
          <p:cNvPr id="9" name="card-122"/>
          <p:cNvSpPr/>
          <p:nvPr/>
        </p:nvSpPr>
        <p:spPr>
          <a:xfrm>
            <a:off x="3367278" y="1463040"/>
            <a:ext cx="2635758" cy="3703320"/>
          </a:xfrm>
          <a:prstGeom prst="roundRect">
            <a:avLst>
              <a:gd name="adj" fmla="val 4163"/>
            </a:avLst>
          </a:prstGeom>
          <a:solidFill>
            <a:schemeClr val="bg2"/>
          </a:solidFill>
          <a:ln/>
        </p:spPr>
      </p:sp>
      <p:sp>
        <p:nvSpPr>
          <p:cNvPr id="10" name="Text 8"/>
          <p:cNvSpPr txBox="1"/>
          <p:nvPr/>
        </p:nvSpPr>
        <p:spPr>
          <a:xfrm>
            <a:off x="3550158"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Skylight</a:t>
            </a:r>
            <a:endParaRPr lang="en-US" sz="1800" dirty="0"/>
          </a:p>
        </p:txBody>
      </p:sp>
      <p:sp>
        <p:nvSpPr>
          <p:cNvPr id="11" name="Text 9"/>
          <p:cNvSpPr txBox="1"/>
          <p:nvPr/>
        </p:nvSpPr>
        <p:spPr>
          <a:xfrm>
            <a:off x="3550158"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Screen $160–$600 once; Plus $39–$79/year</a:t>
            </a:r>
            <a:endParaRPr lang="en-US" sz="1400" dirty="0"/>
          </a:p>
        </p:txBody>
      </p:sp>
      <p:sp>
        <p:nvSpPr>
          <p:cNvPr id="12" name="Text 10"/>
          <p:cNvSpPr txBox="1"/>
          <p:nvPr/>
        </p:nvSpPr>
        <p:spPr>
          <a:xfrm>
            <a:off x="3550158"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Wall-mounted family calendar with chores, lists, meal plans and Sidekick AI</a:t>
            </a:r>
            <a:endParaRPr lang="en-US" sz="1400" dirty="0"/>
          </a:p>
        </p:txBody>
      </p:sp>
      <p:sp>
        <p:nvSpPr>
          <p:cNvPr id="13" name="Text 11"/>
          <p:cNvSpPr txBox="1"/>
          <p:nvPr/>
        </p:nvSpPr>
        <p:spPr>
          <a:xfrm>
            <a:off x="3550158"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14" name="Text 12"/>
          <p:cNvSpPr txBox="1"/>
          <p:nvPr/>
        </p:nvSpPr>
        <p:spPr>
          <a:xfrm>
            <a:off x="3550158"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Hardware-first; planning and chores only</a:t>
            </a:r>
            <a:endParaRPr lang="en-US" sz="1400" dirty="0"/>
          </a:p>
        </p:txBody>
      </p:sp>
      <p:sp>
        <p:nvSpPr>
          <p:cNvPr id="15" name="card-123"/>
          <p:cNvSpPr/>
          <p:nvPr/>
        </p:nvSpPr>
        <p:spPr>
          <a:xfrm>
            <a:off x="6185916" y="1463040"/>
            <a:ext cx="2635758" cy="3703320"/>
          </a:xfrm>
          <a:prstGeom prst="roundRect">
            <a:avLst>
              <a:gd name="adj" fmla="val 4163"/>
            </a:avLst>
          </a:prstGeom>
          <a:solidFill>
            <a:schemeClr val="bg2"/>
          </a:solidFill>
          <a:ln/>
        </p:spPr>
      </p:sp>
      <p:sp>
        <p:nvSpPr>
          <p:cNvPr id="16" name="Text 14"/>
          <p:cNvSpPr txBox="1"/>
          <p:nvPr/>
        </p:nvSpPr>
        <p:spPr>
          <a:xfrm>
            <a:off x="6368796"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SmartThings</a:t>
            </a:r>
            <a:endParaRPr lang="en-US" sz="1800" dirty="0"/>
          </a:p>
        </p:txBody>
      </p:sp>
      <p:sp>
        <p:nvSpPr>
          <p:cNvPr id="17" name="Text 15"/>
          <p:cNvSpPr txBox="1"/>
          <p:nvPr/>
        </p:nvSpPr>
        <p:spPr>
          <a:xfrm>
            <a:off x="6368796"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Free app; hubs $35–$150; paid API access from Oct 2026</a:t>
            </a:r>
            <a:endParaRPr lang="en-US" sz="1400" dirty="0"/>
          </a:p>
        </p:txBody>
      </p:sp>
      <p:sp>
        <p:nvSpPr>
          <p:cNvPr id="18" name="Text 16"/>
          <p:cNvSpPr txBox="1"/>
          <p:nvPr/>
        </p:nvSpPr>
        <p:spPr>
          <a:xfrm>
            <a:off x="6368796"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Samsung’s device platform, with Matter 1.5 support</a:t>
            </a:r>
            <a:endParaRPr lang="en-US" sz="1400" dirty="0"/>
          </a:p>
        </p:txBody>
      </p:sp>
      <p:sp>
        <p:nvSpPr>
          <p:cNvPr id="19" name="Text 17"/>
          <p:cNvSpPr txBox="1"/>
          <p:nvPr/>
        </p:nvSpPr>
        <p:spPr>
          <a:xfrm>
            <a:off x="6368796"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0" name="Text 18"/>
          <p:cNvSpPr txBox="1"/>
          <p:nvPr/>
        </p:nvSpPr>
        <p:spPr>
          <a:xfrm>
            <a:off x="6368796"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Devices only; third-party access now costs money ($4.99/month personal plan)</a:t>
            </a:r>
            <a:endParaRPr lang="en-US" sz="1400" dirty="0"/>
          </a:p>
        </p:txBody>
      </p:sp>
      <p:sp>
        <p:nvSpPr>
          <p:cNvPr id="21" name="card-124"/>
          <p:cNvSpPr/>
          <p:nvPr/>
        </p:nvSpPr>
        <p:spPr>
          <a:xfrm>
            <a:off x="9004554" y="1463040"/>
            <a:ext cx="2635758" cy="3703320"/>
          </a:xfrm>
          <a:prstGeom prst="roundRect">
            <a:avLst>
              <a:gd name="adj" fmla="val 4163"/>
            </a:avLst>
          </a:prstGeom>
          <a:solidFill>
            <a:schemeClr val="bg2"/>
          </a:solidFill>
          <a:ln/>
        </p:spPr>
      </p:sp>
      <p:sp>
        <p:nvSpPr>
          <p:cNvPr id="22" name="Text 20"/>
          <p:cNvSpPr txBox="1"/>
          <p:nvPr/>
        </p:nvSpPr>
        <p:spPr>
          <a:xfrm>
            <a:off x="9187434" y="1645920"/>
            <a:ext cx="2269998" cy="365760"/>
          </a:xfrm>
          <a:prstGeom prst="rect">
            <a:avLst/>
          </a:prstGeom>
          <a:noFill/>
          <a:ln/>
        </p:spPr>
        <p:txBody>
          <a:bodyPr wrap="square" lIns="0" tIns="0" rIns="0" bIns="0" rtlCol="0" anchor="t"/>
          <a:lstStyle/>
          <a:p>
            <a:pPr indent="0" marL="0">
              <a:buNone/>
            </a:pPr>
            <a:r>
              <a:rPr lang="en-US" sz="1800" b="1" dirty="0">
                <a:solidFill>
                  <a:schemeClr val="tx2"/>
                </a:solidFill>
              </a:rPr>
              <a:t>Matter</a:t>
            </a:r>
            <a:endParaRPr lang="en-US" sz="1800" dirty="0"/>
          </a:p>
        </p:txBody>
      </p:sp>
      <p:sp>
        <p:nvSpPr>
          <p:cNvPr id="23" name="Text 21"/>
          <p:cNvSpPr txBox="1"/>
          <p:nvPr/>
        </p:nvSpPr>
        <p:spPr>
          <a:xfrm>
            <a:off x="9187434" y="2057400"/>
            <a:ext cx="2269998" cy="731520"/>
          </a:xfrm>
          <a:prstGeom prst="rect">
            <a:avLst/>
          </a:prstGeom>
          <a:noFill/>
          <a:ln/>
        </p:spPr>
        <p:txBody>
          <a:bodyPr wrap="square" lIns="0" tIns="0" rIns="0" bIns="0" rtlCol="0" anchor="t"/>
          <a:lstStyle/>
          <a:p>
            <a:pPr indent="0" marL="0">
              <a:buNone/>
            </a:pPr>
            <a:r>
              <a:rPr lang="en-US" sz="1400" b="1" dirty="0">
                <a:solidFill>
                  <a:schemeClr val="accent1"/>
                </a:solidFill>
              </a:rPr>
              <a:t>Open standard, built into devices</a:t>
            </a:r>
            <a:endParaRPr lang="en-US" sz="1400" dirty="0"/>
          </a:p>
        </p:txBody>
      </p:sp>
      <p:sp>
        <p:nvSpPr>
          <p:cNvPr id="24" name="Text 22"/>
          <p:cNvSpPr txBox="1"/>
          <p:nvPr/>
        </p:nvSpPr>
        <p:spPr>
          <a:xfrm>
            <a:off x="9187434" y="2834640"/>
            <a:ext cx="2269998" cy="960120"/>
          </a:xfrm>
          <a:prstGeom prst="rect">
            <a:avLst/>
          </a:prstGeom>
          <a:noFill/>
          <a:ln/>
        </p:spPr>
        <p:txBody>
          <a:bodyPr wrap="square" lIns="0" tIns="0" rIns="0" bIns="0" rtlCol="0" anchor="t"/>
          <a:lstStyle/>
          <a:p>
            <a:pPr indent="0" marL="0">
              <a:buNone/>
            </a:pPr>
            <a:r>
              <a:rPr lang="en-US" sz="1400" dirty="0">
                <a:solidFill>
                  <a:schemeClr val="tx1"/>
                </a:solidFill>
              </a:rPr>
              <a:t>Cross-brand device standard backed by Apple, Google, Amazon and Samsung; 1.5 adds cameras</a:t>
            </a:r>
            <a:endParaRPr lang="en-US" sz="1400" dirty="0"/>
          </a:p>
        </p:txBody>
      </p:sp>
      <p:sp>
        <p:nvSpPr>
          <p:cNvPr id="25" name="Text 23"/>
          <p:cNvSpPr txBox="1"/>
          <p:nvPr/>
        </p:nvSpPr>
        <p:spPr>
          <a:xfrm>
            <a:off x="9187434" y="3931920"/>
            <a:ext cx="2269998" cy="228600"/>
          </a:xfrm>
          <a:prstGeom prst="rect">
            <a:avLst/>
          </a:prstGeom>
          <a:noFill/>
          <a:ln/>
        </p:spPr>
        <p:txBody>
          <a:bodyPr wrap="square" lIns="0" tIns="0" rIns="0" bIns="0" rtlCol="0" anchor="t"/>
          <a:lstStyle/>
          <a:p>
            <a:pPr indent="0" marL="0">
              <a:buNone/>
            </a:pPr>
            <a:r>
              <a:rPr lang="en-US" sz="1200" b="1" dirty="0">
                <a:solidFill>
                  <a:schemeClr val="accent5"/>
                </a:solidFill>
              </a:rPr>
              <a:t>For a household</a:t>
            </a:r>
            <a:endParaRPr lang="en-US" sz="1200" dirty="0"/>
          </a:p>
        </p:txBody>
      </p:sp>
      <p:sp>
        <p:nvSpPr>
          <p:cNvPr id="26" name="Text 24"/>
          <p:cNvSpPr txBox="1"/>
          <p:nvPr/>
        </p:nvSpPr>
        <p:spPr>
          <a:xfrm>
            <a:off x="9187434" y="4187952"/>
            <a:ext cx="2269998" cy="914400"/>
          </a:xfrm>
          <a:prstGeom prst="rect">
            <a:avLst/>
          </a:prstGeom>
          <a:noFill/>
          <a:ln/>
        </p:spPr>
        <p:txBody>
          <a:bodyPr wrap="square" lIns="0" tIns="0" rIns="0" bIns="0" rtlCol="0" anchor="t"/>
          <a:lstStyle/>
          <a:p>
            <a:pPr indent="0" marL="0">
              <a:buNone/>
            </a:pPr>
            <a:r>
              <a:rPr lang="en-US" sz="1400" dirty="0">
                <a:solidFill>
                  <a:schemeClr val="tx1"/>
                </a:solidFill>
              </a:rPr>
              <a:t>A standard, not an assistant; software must sit on top</a:t>
            </a:r>
            <a:endParaRPr lang="en-US" sz="1400" dirty="0"/>
          </a:p>
        </p:txBody>
      </p:sp>
      <p:sp>
        <p:nvSpPr>
          <p:cNvPr id="27" name="card-125"/>
          <p:cNvSpPr/>
          <p:nvPr/>
        </p:nvSpPr>
        <p:spPr>
          <a:xfrm>
            <a:off x="548640" y="5349240"/>
            <a:ext cx="11091672" cy="640080"/>
          </a:xfrm>
          <a:prstGeom prst="roundRect">
            <a:avLst>
              <a:gd name="adj" fmla="val 17143"/>
            </a:avLst>
          </a:prstGeom>
          <a:solidFill>
            <a:schemeClr val="tx2"/>
          </a:solidFill>
          <a:ln/>
        </p:spPr>
      </p:sp>
      <p:sp>
        <p:nvSpPr>
          <p:cNvPr id="28" name="Text 26"/>
          <p:cNvSpPr txBox="1"/>
          <p:nvPr/>
        </p:nvSpPr>
        <p:spPr>
          <a:xfrm>
            <a:off x="822960" y="5349240"/>
            <a:ext cx="10543032" cy="640080"/>
          </a:xfrm>
          <a:prstGeom prst="rect">
            <a:avLst/>
          </a:prstGeom>
          <a:noFill/>
          <a:ln/>
        </p:spPr>
        <p:txBody>
          <a:bodyPr wrap="square" lIns="0" tIns="0" rIns="0" bIns="0" rtlCol="0" anchor="ctr"/>
          <a:lstStyle/>
          <a:p>
            <a:pPr indent="0" marL="0">
              <a:buNone/>
            </a:pPr>
            <a:r>
              <a:rPr lang="en-US" sz="1400" b="1" dirty="0">
                <a:solidFill>
                  <a:schemeClr val="bg1"/>
                </a:solidFill>
              </a:rPr>
              <a:t>Takeaway: </a:t>
            </a:r>
            <a:pPr indent="0" marL="0">
              <a:buNone/>
            </a:pPr>
            <a:r>
              <a:rPr lang="en-US" sz="1400" dirty="0">
                <a:solidFill>
                  <a:schemeClr val="bg1"/>
                </a:solidFill>
              </a:rPr>
              <a:t>Cozi and Skylight own the family calendar; SmartThings and Matter own device compatibility. We join both layers and add the assistant on top.</a:t>
            </a:r>
            <a:endParaRPr lang="en-US" sz="1400" dirty="0"/>
          </a:p>
        </p:txBody>
      </p:sp>
      <p:sp>
        <p:nvSpPr>
          <p:cNvPr id="29" name="Text 27"/>
          <p:cNvSpPr txBox="1"/>
          <p:nvPr/>
        </p:nvSpPr>
        <p:spPr>
          <a:xfrm>
            <a:off x="548640" y="608076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Prices from public sources, Oct 2026; Skylight and SmartThings pricing varies by source; verify before the final deck.</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How the four spaces compare</a:t>
            </a:r>
            <a:endParaRPr lang="en-US" sz="3600" dirty="0"/>
          </a:p>
        </p:txBody>
      </p:sp>
      <p:graphicFrame>
        <p:nvGraphicFramePr>
          <p:cNvPr id="14" name="comparison-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834640"/>
                <a:gridCol w="2651760"/>
                <a:gridCol w="2834640"/>
                <a:gridCol w="2770632"/>
              </a:tblGrid>
              <a:tr h="457200">
                <a:tc>
                  <a:txBody>
                    <a:bodyPr/>
                    <a:lstStyle/>
                    <a:p>
                      <a:pPr indent="0" marL="0">
                        <a:buNone/>
                      </a:pPr>
                      <a:r>
                        <a:rPr lang="en-US" sz="1400" b="1" dirty="0">
                          <a:solidFill>
                            <a:srgbClr val="FFFFFF"/>
                          </a:solidFill>
                        </a:rPr>
                        <a:t>Space</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1D3B3A"/>
                    </a:solidFill>
                  </a:tcPr>
                </a:tc>
                <a:tc>
                  <a:txBody>
                    <a:bodyPr/>
                    <a:lstStyle/>
                    <a:p>
                      <a:pPr indent="0" marL="0">
                        <a:buNone/>
                      </a:pPr>
                      <a:r>
                        <a:rPr lang="en-US" sz="1400" b="1" dirty="0">
                          <a:solidFill>
                            <a:srgbClr val="FFFFFF"/>
                          </a:solidFill>
                        </a:rPr>
                        <a:t>Does well</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1D3B3A"/>
                    </a:solidFill>
                  </a:tcPr>
                </a:tc>
                <a:tc>
                  <a:txBody>
                    <a:bodyPr/>
                    <a:lstStyle/>
                    <a:p>
                      <a:pPr indent="0" marL="0">
                        <a:buNone/>
                      </a:pPr>
                      <a:r>
                        <a:rPr lang="en-US" sz="1400" b="1" dirty="0">
                          <a:solidFill>
                            <a:srgbClr val="FFFFFF"/>
                          </a:solidFill>
                        </a:rPr>
                        <a:t>Gap for a household</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1D3B3A"/>
                    </a:solidFill>
                  </a:tcPr>
                </a:tc>
                <a:tc>
                  <a:txBody>
                    <a:bodyPr/>
                    <a:lstStyle/>
                    <a:p>
                      <a:pPr indent="0" marL="0">
                        <a:buNone/>
                      </a:pPr>
                      <a:r>
                        <a:rPr lang="en-US" sz="1400" b="1" dirty="0">
                          <a:solidFill>
                            <a:srgbClr val="FFFFFF"/>
                          </a:solidFill>
                        </a:rPr>
                        <a:t>Our angle</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1D3B3A"/>
                    </a:solidFill>
                  </a:tcPr>
                </a:tc>
              </a:tr>
              <a:tr h="914400">
                <a:tc>
                  <a:txBody>
                    <a:bodyPr/>
                    <a:lstStyle/>
                    <a:p>
                      <a:pPr indent="0" marL="0">
                        <a:buNone/>
                      </a:pPr>
                      <a:r>
                        <a:rPr lang="en-US" sz="1400" b="1" dirty="0">
                          <a:solidFill>
                            <a:srgbClr val="1D3B3A"/>
                          </a:solidFill>
                        </a:rPr>
                        <a:t>A · AI agents</a:t>
                      </a:r>
                      <a:endParaRPr lang="en-US" sz="1200" dirty="0"/>
                    </a:p>
                    <a:p>
                      <a:pPr indent="0" marL="0">
                        <a:buNone/>
                      </a:pPr>
                      <a:r>
                        <a:rPr lang="en-US" sz="1200" dirty="0">
                          <a:solidFill>
                            <a:srgbClr val="56766F"/>
                          </a:solidFill>
                        </a:rPr>
                        <a:t>dots, Grok Bot, Muse, Instinct</a:t>
                      </a:r>
                      <a:endParaRPr lang="en-US" sz="12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Proactive, general-purpose, voice and chat</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Work-focused; little household or device context</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Family-shared; no ads or data sales; about 10x cheaper than dots</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1D3B3A"/>
                          </a:solidFill>
                        </a:rPr>
                        <a:t>B · Smart-home platforms</a:t>
                      </a:r>
                      <a:endParaRPr lang="en-US" sz="1200" dirty="0"/>
                    </a:p>
                    <a:p>
                      <a:pPr indent="0" marL="0">
                        <a:buNone/>
                      </a:pPr>
                      <a:r>
                        <a:rPr lang="en-US" sz="1200" dirty="0">
                          <a:solidFill>
                            <a:srgbClr val="56766F"/>
                          </a:solidFill>
                        </a:rPr>
                        <a:t>Apple Home, Google Home, Alexa, Home Assistant</a:t>
                      </a:r>
                      <a:endParaRPr lang="en-US" sz="12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Device control and large ecosystems</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Control only; little finance, learning or planning</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Use them as device bridges, not rivals</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r>
              <a:tr h="914400">
                <a:tc>
                  <a:txBody>
                    <a:bodyPr/>
                    <a:lstStyle/>
                    <a:p>
                      <a:pPr indent="0" marL="0">
                        <a:buNone/>
                      </a:pPr>
                      <a:r>
                        <a:rPr lang="en-US" sz="1400" b="1" dirty="0">
                          <a:solidFill>
                            <a:srgbClr val="1D3B3A"/>
                          </a:solidFill>
                        </a:rPr>
                        <a:t>C · Organization and automation</a:t>
                      </a:r>
                      <a:endParaRPr lang="en-US" sz="1200" dirty="0"/>
                    </a:p>
                    <a:p>
                      <a:pPr indent="0" marL="0">
                        <a:buNone/>
                      </a:pPr>
                      <a:r>
                        <a:rPr lang="en-US" sz="1200" dirty="0">
                          <a:solidFill>
                            <a:srgbClr val="56766F"/>
                          </a:solidFill>
                        </a:rPr>
                        <a:t>Notion, Zapier, Make, IFTTT</a:t>
                      </a:r>
                      <a:endParaRPr lang="en-US" sz="12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Flexible workflows and many integrations</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The user must build and maintain everything</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Self-evolving: builds and repairs its own workflows</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r>
              <a:tr h="914400">
                <a:tc>
                  <a:txBody>
                    <a:bodyPr/>
                    <a:lstStyle/>
                    <a:p>
                      <a:pPr indent="0" marL="0">
                        <a:buNone/>
                      </a:pPr>
                      <a:r>
                        <a:rPr lang="en-US" sz="1400" b="1" dirty="0">
                          <a:solidFill>
                            <a:srgbClr val="1D3B3A"/>
                          </a:solidFill>
                        </a:rPr>
                        <a:t>D · Family organizers and standards</a:t>
                      </a:r>
                      <a:endParaRPr lang="en-US" sz="1200" dirty="0"/>
                    </a:p>
                    <a:p>
                      <a:pPr indent="0" marL="0">
                        <a:buNone/>
                      </a:pPr>
                      <a:r>
                        <a:rPr lang="en-US" sz="1200" dirty="0">
                          <a:solidFill>
                            <a:srgbClr val="56766F"/>
                          </a:solidFill>
                        </a:rPr>
                        <a:t>Cozi, Skylight, SmartThings, Matter</a:t>
                      </a:r>
                      <a:endParaRPr lang="en-US" sz="12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Shared calendars, lists, device compatibility</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Narrow scope; little assistant intelligence</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One assistant across all of it</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r>
            </a:tbl>
          </a:graphicData>
        </a:graphic>
      </p:graphicFrame>
      <p:sp>
        <p:nvSpPr>
          <p:cNvPr id="4" name="Text 1"/>
          <p:cNvSpPr txBox="1"/>
          <p:nvPr/>
        </p:nvSpPr>
        <p:spPr>
          <a:xfrm>
            <a:off x="548640" y="608076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Based on public sources checked in Oct 2026; verify prices before the final deck.</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Who pays for it: you or advertisers?</a:t>
            </a:r>
            <a:endParaRPr lang="en-US" sz="3600" dirty="0"/>
          </a:p>
        </p:txBody>
      </p:sp>
      <p:sp>
        <p:nvSpPr>
          <p:cNvPr id="3" name="card-126"/>
          <p:cNvSpPr/>
          <p:nvPr/>
        </p:nvSpPr>
        <p:spPr>
          <a:xfrm>
            <a:off x="548640" y="1463040"/>
            <a:ext cx="7589520" cy="1005840"/>
          </a:xfrm>
          <a:prstGeom prst="roundRect">
            <a:avLst>
              <a:gd name="adj" fmla="val 10909"/>
            </a:avLst>
          </a:prstGeom>
          <a:solidFill>
            <a:schemeClr val="bg2"/>
          </a:solidFill>
          <a:ln/>
        </p:spPr>
      </p:sp>
      <p:sp>
        <p:nvSpPr>
          <p:cNvPr id="4" name="Text 2"/>
          <p:cNvSpPr txBox="1"/>
          <p:nvPr/>
        </p:nvSpPr>
        <p:spPr>
          <a:xfrm>
            <a:off x="777240" y="1463040"/>
            <a:ext cx="1645920" cy="1005840"/>
          </a:xfrm>
          <a:prstGeom prst="rect">
            <a:avLst/>
          </a:prstGeom>
          <a:noFill/>
          <a:ln/>
        </p:spPr>
        <p:txBody>
          <a:bodyPr wrap="square" lIns="0" tIns="0" rIns="0" bIns="0" rtlCol="0" anchor="ctr"/>
          <a:lstStyle/>
          <a:p>
            <a:pPr indent="0" marL="0">
              <a:buNone/>
            </a:pPr>
            <a:r>
              <a:rPr lang="en-US" sz="1800" b="1" dirty="0">
                <a:solidFill>
                  <a:schemeClr val="tx2"/>
                </a:solidFill>
              </a:rPr>
              <a:t>Meta Muse</a:t>
            </a:r>
            <a:endParaRPr lang="en-US" sz="1800" dirty="0"/>
          </a:p>
        </p:txBody>
      </p:sp>
      <p:sp>
        <p:nvSpPr>
          <p:cNvPr id="5" name="Text 3"/>
          <p:cNvSpPr txBox="1"/>
          <p:nvPr/>
        </p:nvSpPr>
        <p:spPr>
          <a:xfrm>
            <a:off x="2468880" y="1463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Free to start, then $20 or $100, inside an ad-funded company</a:t>
            </a:r>
            <a:endParaRPr lang="en-US" sz="1400" dirty="0"/>
          </a:p>
        </p:txBody>
      </p:sp>
      <p:sp>
        <p:nvSpPr>
          <p:cNvPr id="6" name="Text 4"/>
          <p:cNvSpPr txBox="1"/>
          <p:nvPr/>
        </p:nvSpPr>
        <p:spPr>
          <a:xfrm>
            <a:off x="5303520" y="1463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Discloses 31 of 35 data types it may collect; ad separation is a promise, not a technical barrier</a:t>
            </a:r>
            <a:endParaRPr lang="en-US" sz="1400" dirty="0"/>
          </a:p>
        </p:txBody>
      </p:sp>
      <p:sp>
        <p:nvSpPr>
          <p:cNvPr id="7" name="card-127"/>
          <p:cNvSpPr/>
          <p:nvPr/>
        </p:nvSpPr>
        <p:spPr>
          <a:xfrm>
            <a:off x="548640" y="2606040"/>
            <a:ext cx="7589520" cy="1005840"/>
          </a:xfrm>
          <a:prstGeom prst="roundRect">
            <a:avLst>
              <a:gd name="adj" fmla="val 10909"/>
            </a:avLst>
          </a:prstGeom>
          <a:solidFill>
            <a:schemeClr val="bg2"/>
          </a:solidFill>
          <a:ln/>
        </p:spPr>
      </p:sp>
      <p:sp>
        <p:nvSpPr>
          <p:cNvPr id="8" name="Text 6"/>
          <p:cNvSpPr txBox="1"/>
          <p:nvPr/>
        </p:nvSpPr>
        <p:spPr>
          <a:xfrm>
            <a:off x="777240" y="2606040"/>
            <a:ext cx="1645920" cy="1005840"/>
          </a:xfrm>
          <a:prstGeom prst="rect">
            <a:avLst/>
          </a:prstGeom>
          <a:noFill/>
          <a:ln/>
        </p:spPr>
        <p:txBody>
          <a:bodyPr wrap="square" lIns="0" tIns="0" rIns="0" bIns="0" rtlCol="0" anchor="ctr"/>
          <a:lstStyle/>
          <a:p>
            <a:pPr indent="0" marL="0">
              <a:buNone/>
            </a:pPr>
            <a:r>
              <a:rPr lang="en-US" sz="1800" b="1" dirty="0">
                <a:solidFill>
                  <a:schemeClr val="tx2"/>
                </a:solidFill>
              </a:rPr>
              <a:t>Alexa+</a:t>
            </a:r>
            <a:endParaRPr lang="en-US" sz="1800" dirty="0"/>
          </a:p>
        </p:txBody>
      </p:sp>
      <p:sp>
        <p:nvSpPr>
          <p:cNvPr id="9" name="Text 7"/>
          <p:cNvSpPr txBox="1"/>
          <p:nvPr/>
        </p:nvSpPr>
        <p:spPr>
          <a:xfrm>
            <a:off x="2468880" y="2606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Free with Prime or $19.99 a month; bundled to drive Prime and shopping</a:t>
            </a:r>
            <a:endParaRPr lang="en-US" sz="1400" dirty="0"/>
          </a:p>
        </p:txBody>
      </p:sp>
      <p:sp>
        <p:nvSpPr>
          <p:cNvPr id="10" name="Text 8"/>
          <p:cNvSpPr txBox="1"/>
          <p:nvPr/>
        </p:nvSpPr>
        <p:spPr>
          <a:xfrm>
            <a:off x="5303520" y="2606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Shopping and orders run through Amazon; US-first rollout</a:t>
            </a:r>
            <a:endParaRPr lang="en-US" sz="1400" dirty="0"/>
          </a:p>
        </p:txBody>
      </p:sp>
      <p:sp>
        <p:nvSpPr>
          <p:cNvPr id="11" name="card-128"/>
          <p:cNvSpPr/>
          <p:nvPr/>
        </p:nvSpPr>
        <p:spPr>
          <a:xfrm>
            <a:off x="548640" y="3749040"/>
            <a:ext cx="7589520" cy="1005840"/>
          </a:xfrm>
          <a:prstGeom prst="roundRect">
            <a:avLst>
              <a:gd name="adj" fmla="val 10909"/>
            </a:avLst>
          </a:prstGeom>
          <a:solidFill>
            <a:schemeClr val="bg2"/>
          </a:solidFill>
          <a:ln/>
        </p:spPr>
      </p:sp>
      <p:sp>
        <p:nvSpPr>
          <p:cNvPr id="12" name="Text 10"/>
          <p:cNvSpPr txBox="1"/>
          <p:nvPr/>
        </p:nvSpPr>
        <p:spPr>
          <a:xfrm>
            <a:off x="777240" y="3749040"/>
            <a:ext cx="1645920" cy="1005840"/>
          </a:xfrm>
          <a:prstGeom prst="rect">
            <a:avLst/>
          </a:prstGeom>
          <a:noFill/>
          <a:ln/>
        </p:spPr>
        <p:txBody>
          <a:bodyPr wrap="square" lIns="0" tIns="0" rIns="0" bIns="0" rtlCol="0" anchor="ctr"/>
          <a:lstStyle/>
          <a:p>
            <a:pPr indent="0" marL="0">
              <a:buNone/>
            </a:pPr>
            <a:r>
              <a:rPr lang="en-US" sz="1800" b="1" dirty="0">
                <a:solidFill>
                  <a:schemeClr val="tx2"/>
                </a:solidFill>
              </a:rPr>
              <a:t>Google Home</a:t>
            </a:r>
            <a:endParaRPr lang="en-US" sz="1800" dirty="0"/>
          </a:p>
        </p:txBody>
      </p:sp>
      <p:sp>
        <p:nvSpPr>
          <p:cNvPr id="13" name="Text 11"/>
          <p:cNvSpPr txBox="1"/>
          <p:nvPr/>
        </p:nvSpPr>
        <p:spPr>
          <a:xfrm>
            <a:off x="2468880" y="3749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Premium subscription, €10 or €18 a month</a:t>
            </a:r>
            <a:endParaRPr lang="en-US" sz="1400" dirty="0"/>
          </a:p>
        </p:txBody>
      </p:sp>
      <p:sp>
        <p:nvSpPr>
          <p:cNvPr id="14" name="Text 12"/>
          <p:cNvSpPr txBox="1"/>
          <p:nvPr/>
        </p:nvSpPr>
        <p:spPr>
          <a:xfrm>
            <a:off x="5303520" y="3749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Home data sits with an advertising-led company; camera-centered features</a:t>
            </a:r>
            <a:endParaRPr lang="en-US" sz="1400" dirty="0"/>
          </a:p>
        </p:txBody>
      </p:sp>
      <p:sp>
        <p:nvSpPr>
          <p:cNvPr id="15" name="card-129"/>
          <p:cNvSpPr/>
          <p:nvPr/>
        </p:nvSpPr>
        <p:spPr>
          <a:xfrm>
            <a:off x="548640" y="4892040"/>
            <a:ext cx="7589520" cy="1005840"/>
          </a:xfrm>
          <a:prstGeom prst="roundRect">
            <a:avLst>
              <a:gd name="adj" fmla="val 10909"/>
            </a:avLst>
          </a:prstGeom>
          <a:solidFill>
            <a:schemeClr val="bg2"/>
          </a:solidFill>
          <a:ln/>
        </p:spPr>
      </p:sp>
      <p:sp>
        <p:nvSpPr>
          <p:cNvPr id="16" name="Text 14"/>
          <p:cNvSpPr txBox="1"/>
          <p:nvPr/>
        </p:nvSpPr>
        <p:spPr>
          <a:xfrm>
            <a:off x="777240" y="4892040"/>
            <a:ext cx="1645920" cy="1005840"/>
          </a:xfrm>
          <a:prstGeom prst="rect">
            <a:avLst/>
          </a:prstGeom>
          <a:noFill/>
          <a:ln/>
        </p:spPr>
        <p:txBody>
          <a:bodyPr wrap="square" lIns="0" tIns="0" rIns="0" bIns="0" rtlCol="0" anchor="ctr"/>
          <a:lstStyle/>
          <a:p>
            <a:pPr indent="0" marL="0">
              <a:buNone/>
            </a:pPr>
            <a:r>
              <a:rPr lang="en-US" sz="1800" b="1" dirty="0">
                <a:solidFill>
                  <a:schemeClr val="tx2"/>
                </a:solidFill>
              </a:rPr>
              <a:t>Apple Home</a:t>
            </a:r>
            <a:endParaRPr lang="en-US" sz="1800" dirty="0"/>
          </a:p>
        </p:txBody>
      </p:sp>
      <p:sp>
        <p:nvSpPr>
          <p:cNvPr id="17" name="Text 15"/>
          <p:cNvSpPr txBox="1"/>
          <p:nvPr/>
        </p:nvSpPr>
        <p:spPr>
          <a:xfrm>
            <a:off x="2468880" y="4892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Hardware purchases; the Home app is free</a:t>
            </a:r>
            <a:endParaRPr lang="en-US" sz="1400" dirty="0"/>
          </a:p>
        </p:txBody>
      </p:sp>
      <p:sp>
        <p:nvSpPr>
          <p:cNvPr id="18" name="Text 16"/>
          <p:cNvSpPr txBox="1"/>
          <p:nvPr/>
        </p:nvSpPr>
        <p:spPr>
          <a:xfrm>
            <a:off x="5303520" y="4892040"/>
            <a:ext cx="2651760" cy="1005840"/>
          </a:xfrm>
          <a:prstGeom prst="rect">
            <a:avLst/>
          </a:prstGeom>
          <a:noFill/>
          <a:ln/>
        </p:spPr>
        <p:txBody>
          <a:bodyPr wrap="square" lIns="0" tIns="0" rIns="0" bIns="0" rtlCol="0" anchor="ctr"/>
          <a:lstStyle/>
          <a:p>
            <a:pPr indent="0" marL="0">
              <a:buNone/>
            </a:pPr>
            <a:r>
              <a:rPr lang="en-US" sz="1400" dirty="0">
                <a:solidFill>
                  <a:schemeClr val="tx1"/>
                </a:solidFill>
              </a:rPr>
              <a:t>Privacy-focused hardware model, but the hub is still unannounced and the ecosystem is closed</a:t>
            </a:r>
            <a:endParaRPr lang="en-US" sz="1400" dirty="0"/>
          </a:p>
        </p:txBody>
      </p:sp>
      <p:sp>
        <p:nvSpPr>
          <p:cNvPr id="19" name="card-130"/>
          <p:cNvSpPr/>
          <p:nvPr/>
        </p:nvSpPr>
        <p:spPr>
          <a:xfrm>
            <a:off x="8321040" y="1463040"/>
            <a:ext cx="3319272" cy="4434840"/>
          </a:xfrm>
          <a:prstGeom prst="roundRect">
            <a:avLst>
              <a:gd name="adj" fmla="val 3306"/>
            </a:avLst>
          </a:prstGeom>
          <a:solidFill>
            <a:schemeClr val="tx2"/>
          </a:solidFill>
          <a:ln/>
        </p:spPr>
      </p:sp>
      <p:sp>
        <p:nvSpPr>
          <p:cNvPr id="20" name="icon-circle-131"/>
          <p:cNvSpPr/>
          <p:nvPr/>
        </p:nvSpPr>
        <p:spPr>
          <a:xfrm>
            <a:off x="8595360" y="1691640"/>
            <a:ext cx="640080" cy="640080"/>
          </a:xfrm>
          <a:prstGeom prst="ellipse">
            <a:avLst/>
          </a:prstGeom>
          <a:solidFill>
            <a:schemeClr val="accent1"/>
          </a:solidFill>
          <a:ln/>
        </p:spPr>
      </p:sp>
      <p:pic>
        <p:nvPicPr>
          <p:cNvPr id="21" name="icon-lock-132" descr="lock icon">    </p:cNvPr>
          <p:cNvPicPr>
            <a:picLocks noChangeAspect="1"/>
          </p:cNvPicPr>
          <p:nvPr/>
        </p:nvPicPr>
        <p:blipFill>
          <a:blip r:embed="rId1"/>
          <a:stretch>
            <a:fillRect/>
          </a:stretch>
        </p:blipFill>
        <p:spPr>
          <a:xfrm>
            <a:off x="8755380" y="1851660"/>
            <a:ext cx="320040" cy="320040"/>
          </a:xfrm>
          <a:prstGeom prst="rect">
            <a:avLst/>
          </a:prstGeom>
        </p:spPr>
      </p:pic>
      <p:sp>
        <p:nvSpPr>
          <p:cNvPr id="22" name="Text 19"/>
          <p:cNvSpPr txBox="1"/>
          <p:nvPr/>
        </p:nvSpPr>
        <p:spPr>
          <a:xfrm>
            <a:off x="8595360" y="2423160"/>
            <a:ext cx="2834640" cy="548640"/>
          </a:xfrm>
          <a:prstGeom prst="rect">
            <a:avLst/>
          </a:prstGeom>
          <a:noFill/>
          <a:ln/>
        </p:spPr>
        <p:txBody>
          <a:bodyPr wrap="square" lIns="0" tIns="0" rIns="0" bIns="0" rtlCol="0" anchor="t"/>
          <a:lstStyle/>
          <a:p>
            <a:pPr indent="0" marL="0">
              <a:buNone/>
            </a:pPr>
            <a:r>
              <a:rPr lang="en-US" sz="2000" b="1" dirty="0">
                <a:solidFill>
                  <a:schemeClr val="bg1"/>
                </a:solidFill>
              </a:rPr>
              <a:t>You pay, not advertisers</a:t>
            </a:r>
            <a:endParaRPr lang="en-US" sz="2000" dirty="0"/>
          </a:p>
        </p:txBody>
      </p:sp>
      <p:sp>
        <p:nvSpPr>
          <p:cNvPr id="23" name="Text 20"/>
          <p:cNvSpPr txBox="1"/>
          <p:nvPr/>
        </p:nvSpPr>
        <p:spPr>
          <a:xfrm>
            <a:off x="8595360" y="3108960"/>
            <a:ext cx="283464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Subscription only: €20 target, €10 cost</a:t>
            </a:r>
            <a:endParaRPr lang="en-US" sz="1400" dirty="0"/>
          </a:p>
          <a:p>
            <a:pPr marL="342900" indent="-342900">
              <a:spcAft>
                <a:spcPts val="600"/>
              </a:spcAft>
              <a:buSzPct val="100000"/>
              <a:buChar char="•"/>
            </a:pPr>
            <a:r>
              <a:rPr lang="en-US" sz="1400" dirty="0">
                <a:solidFill>
                  <a:schemeClr val="bg1"/>
                </a:solidFill>
              </a:rPr>
              <a:t>No ads, no selling of household data</a:t>
            </a:r>
            <a:endParaRPr lang="en-US" sz="1400" dirty="0"/>
          </a:p>
          <a:p>
            <a:pPr marL="342900" indent="-342900">
              <a:spcAft>
                <a:spcPts val="600"/>
              </a:spcAft>
              <a:buSzPct val="100000"/>
              <a:buChar char="•"/>
            </a:pPr>
            <a:r>
              <a:rPr lang="en-US" sz="1400" dirty="0">
                <a:solidFill>
                  <a:schemeClr val="bg1"/>
                </a:solidFill>
              </a:rPr>
              <a:t>Each home’s data in its own isolated schema</a:t>
            </a:r>
            <a:endParaRPr lang="en-US" sz="1400" dirty="0"/>
          </a:p>
          <a:p>
            <a:pPr marL="342900" indent="-342900">
              <a:spcAft>
                <a:spcPts val="600"/>
              </a:spcAft>
              <a:buSzPct val="100000"/>
              <a:buChar char="•"/>
            </a:pPr>
            <a:r>
              <a:rPr lang="en-US" sz="1400" dirty="0">
                <a:solidFill>
                  <a:schemeClr val="bg1"/>
                </a:solidFill>
              </a:rPr>
              <a:t>AI providers see a pseudonym, not a person or a home (in development)</a:t>
            </a:r>
            <a:endParaRPr lang="en-US" sz="1400" dirty="0"/>
          </a:p>
          <a:p>
            <a:pPr marL="342900" indent="-342900">
              <a:buSzPct val="100000"/>
              <a:buChar char="•"/>
            </a:pPr>
            <a:r>
              <a:rPr lang="en-US" sz="1400" dirty="0">
                <a:solidFill>
                  <a:schemeClr val="bg1"/>
                </a:solidFill>
              </a:rPr>
              <a:t>Open source code anyone can inspect</a:t>
            </a:r>
            <a:endParaRPr lang="en-US" sz="1400" dirty="0"/>
          </a:p>
        </p:txBody>
      </p:sp>
      <p:sp>
        <p:nvSpPr>
          <p:cNvPr id="24" name="Text 21"/>
          <p:cNvSpPr txBox="1"/>
          <p:nvPr/>
        </p:nvSpPr>
        <p:spPr>
          <a:xfrm>
            <a:off x="548640" y="603504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Business models from public sources, Oct 2026. Described as ad-funded or bundled, not as selling data.</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What makes evolving-ai-mind different</a:t>
            </a:r>
            <a:endParaRPr lang="en-US" sz="3600" dirty="0"/>
          </a:p>
        </p:txBody>
      </p:sp>
      <p:sp>
        <p:nvSpPr>
          <p:cNvPr id="3" name="card-133"/>
          <p:cNvSpPr/>
          <p:nvPr/>
        </p:nvSpPr>
        <p:spPr>
          <a:xfrm>
            <a:off x="548640" y="1463040"/>
            <a:ext cx="11091672" cy="685800"/>
          </a:xfrm>
          <a:prstGeom prst="roundRect">
            <a:avLst>
              <a:gd name="adj" fmla="val 16000"/>
            </a:avLst>
          </a:prstGeom>
          <a:solidFill>
            <a:schemeClr val="bg2"/>
          </a:solidFill>
          <a:ln/>
        </p:spPr>
      </p:sp>
      <p:sp>
        <p:nvSpPr>
          <p:cNvPr id="4" name="icon-circle-134"/>
          <p:cNvSpPr/>
          <p:nvPr/>
        </p:nvSpPr>
        <p:spPr>
          <a:xfrm>
            <a:off x="777240" y="1531620"/>
            <a:ext cx="548640" cy="548640"/>
          </a:xfrm>
          <a:prstGeom prst="ellipse">
            <a:avLst/>
          </a:prstGeom>
          <a:solidFill>
            <a:schemeClr val="accent1"/>
          </a:solidFill>
          <a:ln/>
        </p:spPr>
      </p:sp>
      <p:pic>
        <p:nvPicPr>
          <p:cNvPr id="5" name="icon-lock-135" descr="lock icon">    </p:cNvPr>
          <p:cNvPicPr>
            <a:picLocks noChangeAspect="1"/>
          </p:cNvPicPr>
          <p:nvPr/>
        </p:nvPicPr>
        <p:blipFill>
          <a:blip r:embed="rId1"/>
          <a:stretch>
            <a:fillRect/>
          </a:stretch>
        </p:blipFill>
        <p:spPr>
          <a:xfrm>
            <a:off x="914400" y="1668780"/>
            <a:ext cx="274320" cy="274320"/>
          </a:xfrm>
          <a:prstGeom prst="rect">
            <a:avLst/>
          </a:prstGeom>
        </p:spPr>
      </p:pic>
      <p:sp>
        <p:nvSpPr>
          <p:cNvPr id="6" name="Text 3"/>
          <p:cNvSpPr txBox="1"/>
          <p:nvPr/>
        </p:nvSpPr>
        <p:spPr>
          <a:xfrm>
            <a:off x="1600200" y="1463040"/>
            <a:ext cx="3566160" cy="685800"/>
          </a:xfrm>
          <a:prstGeom prst="rect">
            <a:avLst/>
          </a:prstGeom>
          <a:noFill/>
          <a:ln/>
        </p:spPr>
        <p:txBody>
          <a:bodyPr wrap="square" lIns="0" tIns="0" rIns="0" bIns="0" rtlCol="0" anchor="ctr"/>
          <a:lstStyle/>
          <a:p>
            <a:pPr indent="0" marL="0">
              <a:buNone/>
            </a:pPr>
            <a:r>
              <a:rPr lang="en-US" sz="2000" b="1" dirty="0">
                <a:solidFill>
                  <a:schemeClr val="tx2"/>
                </a:solidFill>
              </a:rPr>
              <a:t>Data is not the product</a:t>
            </a:r>
            <a:endParaRPr lang="en-US" sz="2000" dirty="0"/>
          </a:p>
        </p:txBody>
      </p:sp>
      <p:sp>
        <p:nvSpPr>
          <p:cNvPr id="7" name="Text 4"/>
          <p:cNvSpPr txBox="1"/>
          <p:nvPr/>
        </p:nvSpPr>
        <p:spPr>
          <a:xfrm>
            <a:off x="4937760" y="1463040"/>
            <a:ext cx="6492240" cy="685800"/>
          </a:xfrm>
          <a:prstGeom prst="rect">
            <a:avLst/>
          </a:prstGeom>
          <a:noFill/>
          <a:ln/>
        </p:spPr>
        <p:txBody>
          <a:bodyPr wrap="square" lIns="0" tIns="0" rIns="0" bIns="0" rtlCol="0" anchor="ctr"/>
          <a:lstStyle/>
          <a:p>
            <a:pPr indent="0" marL="0">
              <a:buNone/>
            </a:pPr>
            <a:r>
              <a:rPr lang="en-US" sz="1400" dirty="0">
                <a:solidFill>
                  <a:schemeClr val="tx1"/>
                </a:solidFill>
              </a:rPr>
              <a:t>Subscription-only: no ads, no data sales; each home’s data in its own schema; AI providers see a pseudonym, not a person (in development)</a:t>
            </a:r>
            <a:endParaRPr lang="en-US" sz="1400" dirty="0"/>
          </a:p>
        </p:txBody>
      </p:sp>
      <p:sp>
        <p:nvSpPr>
          <p:cNvPr id="8" name="card-136"/>
          <p:cNvSpPr/>
          <p:nvPr/>
        </p:nvSpPr>
        <p:spPr>
          <a:xfrm>
            <a:off x="548640" y="2240280"/>
            <a:ext cx="11091672" cy="685800"/>
          </a:xfrm>
          <a:prstGeom prst="roundRect">
            <a:avLst>
              <a:gd name="adj" fmla="val 16000"/>
            </a:avLst>
          </a:prstGeom>
          <a:solidFill>
            <a:schemeClr val="bg2"/>
          </a:solidFill>
          <a:ln/>
        </p:spPr>
      </p:sp>
      <p:sp>
        <p:nvSpPr>
          <p:cNvPr id="9" name="icon-circle-137"/>
          <p:cNvSpPr/>
          <p:nvPr/>
        </p:nvSpPr>
        <p:spPr>
          <a:xfrm>
            <a:off x="777240" y="2308860"/>
            <a:ext cx="548640" cy="548640"/>
          </a:xfrm>
          <a:prstGeom prst="ellipse">
            <a:avLst/>
          </a:prstGeom>
          <a:solidFill>
            <a:schemeClr val="accent2"/>
          </a:solidFill>
          <a:ln/>
        </p:spPr>
      </p:sp>
      <p:pic>
        <p:nvPicPr>
          <p:cNvPr id="10" name="icon-search-138" descr="search icon">    </p:cNvPr>
          <p:cNvPicPr>
            <a:picLocks noChangeAspect="1"/>
          </p:cNvPicPr>
          <p:nvPr/>
        </p:nvPicPr>
        <p:blipFill>
          <a:blip r:embed="rId2"/>
          <a:stretch>
            <a:fillRect/>
          </a:stretch>
        </p:blipFill>
        <p:spPr>
          <a:xfrm>
            <a:off x="914400" y="2446020"/>
            <a:ext cx="274320" cy="274320"/>
          </a:xfrm>
          <a:prstGeom prst="rect">
            <a:avLst/>
          </a:prstGeom>
        </p:spPr>
      </p:pic>
      <p:sp>
        <p:nvSpPr>
          <p:cNvPr id="11" name="Text 7"/>
          <p:cNvSpPr txBox="1"/>
          <p:nvPr/>
        </p:nvSpPr>
        <p:spPr>
          <a:xfrm>
            <a:off x="1600200" y="2240280"/>
            <a:ext cx="3566160" cy="685800"/>
          </a:xfrm>
          <a:prstGeom prst="rect">
            <a:avLst/>
          </a:prstGeom>
          <a:noFill/>
          <a:ln/>
        </p:spPr>
        <p:txBody>
          <a:bodyPr wrap="square" lIns="0" tIns="0" rIns="0" bIns="0" rtlCol="0" anchor="ctr"/>
          <a:lstStyle/>
          <a:p>
            <a:pPr indent="0" marL="0">
              <a:buNone/>
            </a:pPr>
            <a:r>
              <a:rPr lang="en-US" sz="2000" b="1" dirty="0">
                <a:solidFill>
                  <a:schemeClr val="tx2"/>
                </a:solidFill>
              </a:rPr>
              <a:t>Natural-language intent</a:t>
            </a:r>
            <a:endParaRPr lang="en-US" sz="2000" dirty="0"/>
          </a:p>
        </p:txBody>
      </p:sp>
      <p:sp>
        <p:nvSpPr>
          <p:cNvPr id="12" name="Text 8"/>
          <p:cNvSpPr txBox="1"/>
          <p:nvPr/>
        </p:nvSpPr>
        <p:spPr>
          <a:xfrm>
            <a:off x="4937760" y="2240280"/>
            <a:ext cx="6492240" cy="685800"/>
          </a:xfrm>
          <a:prstGeom prst="rect">
            <a:avLst/>
          </a:prstGeom>
          <a:noFill/>
          <a:ln/>
        </p:spPr>
        <p:txBody>
          <a:bodyPr wrap="square" lIns="0" tIns="0" rIns="0" bIns="0" rtlCol="0" anchor="ctr"/>
          <a:lstStyle/>
          <a:p>
            <a:pPr indent="0" marL="0">
              <a:buNone/>
            </a:pPr>
            <a:r>
              <a:rPr lang="en-US" sz="1400" dirty="0">
                <a:solidFill>
                  <a:schemeClr val="tx1"/>
                </a:solidFill>
              </a:rPr>
              <a:t>Three-tier routing: exact match first, then a light search model, then a heavy LLM only when needed</a:t>
            </a:r>
            <a:endParaRPr lang="en-US" sz="1400" dirty="0"/>
          </a:p>
        </p:txBody>
      </p:sp>
      <p:sp>
        <p:nvSpPr>
          <p:cNvPr id="13" name="card-139"/>
          <p:cNvSpPr/>
          <p:nvPr/>
        </p:nvSpPr>
        <p:spPr>
          <a:xfrm>
            <a:off x="548640" y="3017520"/>
            <a:ext cx="11091672" cy="685800"/>
          </a:xfrm>
          <a:prstGeom prst="roundRect">
            <a:avLst>
              <a:gd name="adj" fmla="val 16000"/>
            </a:avLst>
          </a:prstGeom>
          <a:solidFill>
            <a:schemeClr val="bg2"/>
          </a:solidFill>
          <a:ln/>
        </p:spPr>
      </p:sp>
      <p:sp>
        <p:nvSpPr>
          <p:cNvPr id="14" name="icon-circle-140"/>
          <p:cNvSpPr/>
          <p:nvPr/>
        </p:nvSpPr>
        <p:spPr>
          <a:xfrm>
            <a:off x="777240" y="3086100"/>
            <a:ext cx="548640" cy="548640"/>
          </a:xfrm>
          <a:prstGeom prst="ellipse">
            <a:avLst/>
          </a:prstGeom>
          <a:solidFill>
            <a:schemeClr val="accent2"/>
          </a:solidFill>
          <a:ln/>
        </p:spPr>
      </p:sp>
      <p:pic>
        <p:nvPicPr>
          <p:cNvPr id="15" name="icon-magic-141" descr="magic icon">    </p:cNvPr>
          <p:cNvPicPr>
            <a:picLocks noChangeAspect="1"/>
          </p:cNvPicPr>
          <p:nvPr/>
        </p:nvPicPr>
        <p:blipFill>
          <a:blip r:embed="rId3"/>
          <a:stretch>
            <a:fillRect/>
          </a:stretch>
        </p:blipFill>
        <p:spPr>
          <a:xfrm>
            <a:off x="914400" y="3223260"/>
            <a:ext cx="274320" cy="274320"/>
          </a:xfrm>
          <a:prstGeom prst="rect">
            <a:avLst/>
          </a:prstGeom>
        </p:spPr>
      </p:pic>
      <p:sp>
        <p:nvSpPr>
          <p:cNvPr id="16" name="Text 11"/>
          <p:cNvSpPr txBox="1"/>
          <p:nvPr/>
        </p:nvSpPr>
        <p:spPr>
          <a:xfrm>
            <a:off x="1600200" y="3017520"/>
            <a:ext cx="3566160" cy="685800"/>
          </a:xfrm>
          <a:prstGeom prst="rect">
            <a:avLst/>
          </a:prstGeom>
          <a:noFill/>
          <a:ln/>
        </p:spPr>
        <p:txBody>
          <a:bodyPr wrap="square" lIns="0" tIns="0" rIns="0" bIns="0" rtlCol="0" anchor="ctr"/>
          <a:lstStyle/>
          <a:p>
            <a:pPr indent="0" marL="0">
              <a:buNone/>
            </a:pPr>
            <a:r>
              <a:rPr lang="en-US" sz="2000" b="1" dirty="0">
                <a:solidFill>
                  <a:schemeClr val="tx2"/>
                </a:solidFill>
              </a:rPr>
              <a:t>Self-evolving</a:t>
            </a:r>
            <a:endParaRPr lang="en-US" sz="2000" dirty="0"/>
          </a:p>
        </p:txBody>
      </p:sp>
      <p:sp>
        <p:nvSpPr>
          <p:cNvPr id="17" name="Text 12"/>
          <p:cNvSpPr txBox="1"/>
          <p:nvPr/>
        </p:nvSpPr>
        <p:spPr>
          <a:xfrm>
            <a:off x="4937760" y="3017520"/>
            <a:ext cx="6492240" cy="685800"/>
          </a:xfrm>
          <a:prstGeom prst="rect">
            <a:avLst/>
          </a:prstGeom>
          <a:noFill/>
          <a:ln/>
        </p:spPr>
        <p:txBody>
          <a:bodyPr wrap="square" lIns="0" tIns="0" rIns="0" bIns="0" rtlCol="0" anchor="ctr"/>
          <a:lstStyle/>
          <a:p>
            <a:pPr indent="0" marL="0">
              <a:buNone/>
            </a:pPr>
            <a:r>
              <a:rPr lang="en-US" sz="1400" dirty="0">
                <a:solidFill>
                  <a:schemeClr val="tx1"/>
                </a:solidFill>
              </a:rPr>
              <a:t>Adds new workflows and domains on request; the Spanish flashcards were the first use case</a:t>
            </a:r>
            <a:endParaRPr lang="en-US" sz="1400" dirty="0"/>
          </a:p>
        </p:txBody>
      </p:sp>
      <p:sp>
        <p:nvSpPr>
          <p:cNvPr id="18" name="card-142"/>
          <p:cNvSpPr/>
          <p:nvPr/>
        </p:nvSpPr>
        <p:spPr>
          <a:xfrm>
            <a:off x="548640" y="3794760"/>
            <a:ext cx="11091672" cy="685800"/>
          </a:xfrm>
          <a:prstGeom prst="roundRect">
            <a:avLst>
              <a:gd name="adj" fmla="val 16000"/>
            </a:avLst>
          </a:prstGeom>
          <a:solidFill>
            <a:schemeClr val="bg2"/>
          </a:solidFill>
          <a:ln/>
        </p:spPr>
      </p:sp>
      <p:sp>
        <p:nvSpPr>
          <p:cNvPr id="19" name="icon-circle-143"/>
          <p:cNvSpPr/>
          <p:nvPr/>
        </p:nvSpPr>
        <p:spPr>
          <a:xfrm>
            <a:off x="777240" y="3863340"/>
            <a:ext cx="548640" cy="548640"/>
          </a:xfrm>
          <a:prstGeom prst="ellipse">
            <a:avLst/>
          </a:prstGeom>
          <a:solidFill>
            <a:schemeClr val="accent2"/>
          </a:solidFill>
          <a:ln/>
        </p:spPr>
      </p:sp>
      <p:pic>
        <p:nvPicPr>
          <p:cNvPr id="20" name="icon-tools-144" descr="tools icon">    </p:cNvPr>
          <p:cNvPicPr>
            <a:picLocks noChangeAspect="1"/>
          </p:cNvPicPr>
          <p:nvPr/>
        </p:nvPicPr>
        <p:blipFill>
          <a:blip r:embed="rId4"/>
          <a:stretch>
            <a:fillRect/>
          </a:stretch>
        </p:blipFill>
        <p:spPr>
          <a:xfrm>
            <a:off x="914400" y="4000500"/>
            <a:ext cx="274320" cy="274320"/>
          </a:xfrm>
          <a:prstGeom prst="rect">
            <a:avLst/>
          </a:prstGeom>
        </p:spPr>
      </p:pic>
      <p:sp>
        <p:nvSpPr>
          <p:cNvPr id="21" name="Text 15"/>
          <p:cNvSpPr txBox="1"/>
          <p:nvPr/>
        </p:nvSpPr>
        <p:spPr>
          <a:xfrm>
            <a:off x="1600200" y="3794760"/>
            <a:ext cx="3566160" cy="685800"/>
          </a:xfrm>
          <a:prstGeom prst="rect">
            <a:avLst/>
          </a:prstGeom>
          <a:noFill/>
          <a:ln/>
        </p:spPr>
        <p:txBody>
          <a:bodyPr wrap="square" lIns="0" tIns="0" rIns="0" bIns="0" rtlCol="0" anchor="ctr"/>
          <a:lstStyle/>
          <a:p>
            <a:pPr indent="0" marL="0">
              <a:buNone/>
            </a:pPr>
            <a:r>
              <a:rPr lang="en-US" sz="2000" b="1" dirty="0">
                <a:solidFill>
                  <a:schemeClr val="tx2"/>
                </a:solidFill>
              </a:rPr>
              <a:t>Self-healing</a:t>
            </a:r>
            <a:endParaRPr lang="en-US" sz="2000" dirty="0"/>
          </a:p>
        </p:txBody>
      </p:sp>
      <p:sp>
        <p:nvSpPr>
          <p:cNvPr id="22" name="Text 16"/>
          <p:cNvSpPr txBox="1"/>
          <p:nvPr/>
        </p:nvSpPr>
        <p:spPr>
          <a:xfrm>
            <a:off x="4937760" y="3794760"/>
            <a:ext cx="6492240" cy="685800"/>
          </a:xfrm>
          <a:prstGeom prst="rect">
            <a:avLst/>
          </a:prstGeom>
          <a:noFill/>
          <a:ln/>
        </p:spPr>
        <p:txBody>
          <a:bodyPr wrap="square" lIns="0" tIns="0" rIns="0" bIns="0" rtlCol="0" anchor="ctr"/>
          <a:lstStyle/>
          <a:p>
            <a:pPr indent="0" marL="0">
              <a:buNone/>
            </a:pPr>
            <a:r>
              <a:rPr lang="en-US" sz="1400" dirty="0">
                <a:solidFill>
                  <a:schemeClr val="tx1"/>
                </a:solidFill>
              </a:rPr>
              <a:t>Diagnoses and repairs its own failing workflows from within</a:t>
            </a:r>
            <a:endParaRPr lang="en-US" sz="1400" dirty="0"/>
          </a:p>
        </p:txBody>
      </p:sp>
      <p:sp>
        <p:nvSpPr>
          <p:cNvPr id="23" name="card-145"/>
          <p:cNvSpPr/>
          <p:nvPr/>
        </p:nvSpPr>
        <p:spPr>
          <a:xfrm>
            <a:off x="548640" y="4572000"/>
            <a:ext cx="11091672" cy="685800"/>
          </a:xfrm>
          <a:prstGeom prst="roundRect">
            <a:avLst>
              <a:gd name="adj" fmla="val 16000"/>
            </a:avLst>
          </a:prstGeom>
          <a:solidFill>
            <a:schemeClr val="bg2"/>
          </a:solidFill>
          <a:ln/>
        </p:spPr>
      </p:sp>
      <p:sp>
        <p:nvSpPr>
          <p:cNvPr id="24" name="icon-circle-146"/>
          <p:cNvSpPr/>
          <p:nvPr/>
        </p:nvSpPr>
        <p:spPr>
          <a:xfrm>
            <a:off x="777240" y="4640580"/>
            <a:ext cx="548640" cy="548640"/>
          </a:xfrm>
          <a:prstGeom prst="ellipse">
            <a:avLst/>
          </a:prstGeom>
          <a:solidFill>
            <a:schemeClr val="accent2"/>
          </a:solidFill>
          <a:ln/>
        </p:spPr>
      </p:sp>
      <p:pic>
        <p:nvPicPr>
          <p:cNvPr id="25" name="icon-robot-147" descr="robot icon">    </p:cNvPr>
          <p:cNvPicPr>
            <a:picLocks noChangeAspect="1"/>
          </p:cNvPicPr>
          <p:nvPr/>
        </p:nvPicPr>
        <p:blipFill>
          <a:blip r:embed="rId5"/>
          <a:stretch>
            <a:fillRect/>
          </a:stretch>
        </p:blipFill>
        <p:spPr>
          <a:xfrm>
            <a:off x="914400" y="4777740"/>
            <a:ext cx="274320" cy="274320"/>
          </a:xfrm>
          <a:prstGeom prst="rect">
            <a:avLst/>
          </a:prstGeom>
        </p:spPr>
      </p:pic>
      <p:sp>
        <p:nvSpPr>
          <p:cNvPr id="26" name="Text 19"/>
          <p:cNvSpPr txBox="1"/>
          <p:nvPr/>
        </p:nvSpPr>
        <p:spPr>
          <a:xfrm>
            <a:off x="1600200" y="4572000"/>
            <a:ext cx="3566160" cy="685800"/>
          </a:xfrm>
          <a:prstGeom prst="rect">
            <a:avLst/>
          </a:prstGeom>
          <a:noFill/>
          <a:ln/>
        </p:spPr>
        <p:txBody>
          <a:bodyPr wrap="square" lIns="0" tIns="0" rIns="0" bIns="0" rtlCol="0" anchor="ctr"/>
          <a:lstStyle/>
          <a:p>
            <a:pPr indent="0" marL="0">
              <a:buNone/>
            </a:pPr>
            <a:r>
              <a:rPr lang="en-US" sz="2000" b="1" dirty="0">
                <a:solidFill>
                  <a:schemeClr val="tx2"/>
                </a:solidFill>
              </a:rPr>
              <a:t>Agentic execution</a:t>
            </a:r>
            <a:endParaRPr lang="en-US" sz="2000" dirty="0"/>
          </a:p>
        </p:txBody>
      </p:sp>
      <p:sp>
        <p:nvSpPr>
          <p:cNvPr id="27" name="Text 20"/>
          <p:cNvSpPr txBox="1"/>
          <p:nvPr/>
        </p:nvSpPr>
        <p:spPr>
          <a:xfrm>
            <a:off x="4937760" y="4572000"/>
            <a:ext cx="6492240" cy="685800"/>
          </a:xfrm>
          <a:prstGeom prst="rect">
            <a:avLst/>
          </a:prstGeom>
          <a:noFill/>
          <a:ln/>
        </p:spPr>
        <p:txBody>
          <a:bodyPr wrap="square" lIns="0" tIns="0" rIns="0" bIns="0" rtlCol="0" anchor="ctr"/>
          <a:lstStyle/>
          <a:p>
            <a:pPr indent="0" marL="0">
              <a:buNone/>
            </a:pPr>
            <a:r>
              <a:rPr lang="en-US" sz="1400" dirty="0">
                <a:solidFill>
                  <a:schemeClr val="tx1"/>
                </a:solidFill>
              </a:rPr>
              <a:t>Carries out multi-step tasks instead of only answering questions</a:t>
            </a:r>
            <a:endParaRPr lang="en-US" sz="1400" dirty="0"/>
          </a:p>
        </p:txBody>
      </p:sp>
      <p:sp>
        <p:nvSpPr>
          <p:cNvPr id="28" name="card-148"/>
          <p:cNvSpPr/>
          <p:nvPr/>
        </p:nvSpPr>
        <p:spPr>
          <a:xfrm>
            <a:off x="548640" y="5349240"/>
            <a:ext cx="11091672" cy="685800"/>
          </a:xfrm>
          <a:prstGeom prst="roundRect">
            <a:avLst>
              <a:gd name="adj" fmla="val 16000"/>
            </a:avLst>
          </a:prstGeom>
          <a:solidFill>
            <a:schemeClr val="bg2"/>
          </a:solidFill>
          <a:ln/>
        </p:spPr>
      </p:sp>
      <p:sp>
        <p:nvSpPr>
          <p:cNvPr id="29" name="icon-circle-149"/>
          <p:cNvSpPr/>
          <p:nvPr/>
        </p:nvSpPr>
        <p:spPr>
          <a:xfrm>
            <a:off x="777240" y="5417820"/>
            <a:ext cx="548640" cy="548640"/>
          </a:xfrm>
          <a:prstGeom prst="ellipse">
            <a:avLst/>
          </a:prstGeom>
          <a:solidFill>
            <a:schemeClr val="accent2"/>
          </a:solidFill>
          <a:ln/>
        </p:spPr>
      </p:sp>
      <p:pic>
        <p:nvPicPr>
          <p:cNvPr id="30" name="icon-userCheck-150" descr="userCheck icon">    </p:cNvPr>
          <p:cNvPicPr>
            <a:picLocks noChangeAspect="1"/>
          </p:cNvPicPr>
          <p:nvPr/>
        </p:nvPicPr>
        <p:blipFill>
          <a:blip r:embed="rId6"/>
          <a:stretch>
            <a:fillRect/>
          </a:stretch>
        </p:blipFill>
        <p:spPr>
          <a:xfrm>
            <a:off x="914400" y="5554980"/>
            <a:ext cx="274320" cy="274320"/>
          </a:xfrm>
          <a:prstGeom prst="rect">
            <a:avLst/>
          </a:prstGeom>
        </p:spPr>
      </p:pic>
      <p:sp>
        <p:nvSpPr>
          <p:cNvPr id="31" name="Text 23"/>
          <p:cNvSpPr txBox="1"/>
          <p:nvPr/>
        </p:nvSpPr>
        <p:spPr>
          <a:xfrm>
            <a:off x="1600200" y="5349240"/>
            <a:ext cx="3566160" cy="685800"/>
          </a:xfrm>
          <a:prstGeom prst="rect">
            <a:avLst/>
          </a:prstGeom>
          <a:noFill/>
          <a:ln/>
        </p:spPr>
        <p:txBody>
          <a:bodyPr wrap="square" lIns="0" tIns="0" rIns="0" bIns="0" rtlCol="0" anchor="ctr"/>
          <a:lstStyle/>
          <a:p>
            <a:pPr indent="0" marL="0">
              <a:buNone/>
            </a:pPr>
            <a:r>
              <a:rPr lang="en-US" sz="2000" b="1" dirty="0">
                <a:solidFill>
                  <a:schemeClr val="tx2"/>
                </a:solidFill>
              </a:rPr>
              <a:t>Human in the loop</a:t>
            </a:r>
            <a:endParaRPr lang="en-US" sz="2000" dirty="0"/>
          </a:p>
        </p:txBody>
      </p:sp>
      <p:sp>
        <p:nvSpPr>
          <p:cNvPr id="32" name="Text 24"/>
          <p:cNvSpPr txBox="1"/>
          <p:nvPr/>
        </p:nvSpPr>
        <p:spPr>
          <a:xfrm>
            <a:off x="4937760" y="5349240"/>
            <a:ext cx="6492240" cy="685800"/>
          </a:xfrm>
          <a:prstGeom prst="rect">
            <a:avLst/>
          </a:prstGeom>
          <a:noFill/>
          <a:ln/>
        </p:spPr>
        <p:txBody>
          <a:bodyPr wrap="square" lIns="0" tIns="0" rIns="0" bIns="0" rtlCol="0" anchor="ctr"/>
          <a:lstStyle/>
          <a:p>
            <a:pPr indent="0" marL="0">
              <a:buNone/>
            </a:pPr>
            <a:r>
              <a:rPr lang="en-US" sz="1400" dirty="0">
                <a:solidFill>
                  <a:schemeClr val="tx1"/>
                </a:solidFill>
              </a:rPr>
              <a:t>Asks for confirmation before destructive actions</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Architecture: three tiers, serverless</a:t>
            </a:r>
            <a:endParaRPr lang="en-US" sz="3600" dirty="0"/>
          </a:p>
        </p:txBody>
      </p:sp>
      <p:sp>
        <p:nvSpPr>
          <p:cNvPr id="3" name="card-151"/>
          <p:cNvSpPr/>
          <p:nvPr/>
        </p:nvSpPr>
        <p:spPr>
          <a:xfrm>
            <a:off x="548640" y="1508760"/>
            <a:ext cx="6949440" cy="1234440"/>
          </a:xfrm>
          <a:prstGeom prst="roundRect">
            <a:avLst>
              <a:gd name="adj" fmla="val 8889"/>
            </a:avLst>
          </a:prstGeom>
          <a:solidFill>
            <a:schemeClr val="bg2"/>
          </a:solidFill>
          <a:ln/>
        </p:spPr>
      </p:sp>
      <p:sp>
        <p:nvSpPr>
          <p:cNvPr id="4" name="icon-circle-152"/>
          <p:cNvSpPr/>
          <p:nvPr/>
        </p:nvSpPr>
        <p:spPr>
          <a:xfrm>
            <a:off x="822960" y="1805940"/>
            <a:ext cx="640080" cy="640080"/>
          </a:xfrm>
          <a:prstGeom prst="ellipse">
            <a:avLst/>
          </a:prstGeom>
          <a:solidFill>
            <a:schemeClr val="accent1"/>
          </a:solidFill>
          <a:ln/>
        </p:spPr>
      </p:sp>
      <p:pic>
        <p:nvPicPr>
          <p:cNvPr id="5" name="icon-mobile-153" descr="mobile icon">    </p:cNvPr>
          <p:cNvPicPr>
            <a:picLocks noChangeAspect="1"/>
          </p:cNvPicPr>
          <p:nvPr/>
        </p:nvPicPr>
        <p:blipFill>
          <a:blip r:embed="rId1"/>
          <a:stretch>
            <a:fillRect/>
          </a:stretch>
        </p:blipFill>
        <p:spPr>
          <a:xfrm>
            <a:off x="982980" y="1965960"/>
            <a:ext cx="320040" cy="320040"/>
          </a:xfrm>
          <a:prstGeom prst="rect">
            <a:avLst/>
          </a:prstGeom>
        </p:spPr>
      </p:pic>
      <p:sp>
        <p:nvSpPr>
          <p:cNvPr id="6" name="Text 3"/>
          <p:cNvSpPr txBox="1"/>
          <p:nvPr/>
        </p:nvSpPr>
        <p:spPr>
          <a:xfrm>
            <a:off x="1737360" y="1691640"/>
            <a:ext cx="5486400" cy="365760"/>
          </a:xfrm>
          <a:prstGeom prst="rect">
            <a:avLst/>
          </a:prstGeom>
          <a:noFill/>
          <a:ln/>
        </p:spPr>
        <p:txBody>
          <a:bodyPr wrap="square" lIns="0" tIns="0" rIns="0" bIns="0" rtlCol="0" anchor="t"/>
          <a:lstStyle/>
          <a:p>
            <a:pPr indent="0" marL="0">
              <a:buNone/>
            </a:pPr>
            <a:r>
              <a:rPr lang="en-US" sz="2000" b="1" dirty="0">
                <a:solidFill>
                  <a:schemeClr val="tx2"/>
                </a:solidFill>
              </a:rPr>
              <a:t>Experience</a:t>
            </a:r>
            <a:endParaRPr lang="en-US" sz="2000" dirty="0"/>
          </a:p>
        </p:txBody>
      </p:sp>
      <p:sp>
        <p:nvSpPr>
          <p:cNvPr id="7" name="Text 4"/>
          <p:cNvSpPr txBox="1"/>
          <p:nvPr/>
        </p:nvSpPr>
        <p:spPr>
          <a:xfrm>
            <a:off x="1737360" y="2103120"/>
            <a:ext cx="5486400" cy="548640"/>
          </a:xfrm>
          <a:prstGeom prst="rect">
            <a:avLst/>
          </a:prstGeom>
          <a:noFill/>
          <a:ln/>
        </p:spPr>
        <p:txBody>
          <a:bodyPr wrap="square" lIns="0" tIns="0" rIns="0" bIns="0" rtlCol="0" anchor="t"/>
          <a:lstStyle/>
          <a:p>
            <a:pPr indent="0" marL="0">
              <a:buNone/>
            </a:pPr>
            <a:r>
              <a:rPr lang="en-US" sz="1400" dirty="0">
                <a:solidFill>
                  <a:schemeClr val="tx1"/>
                </a:solidFill>
              </a:rPr>
              <a:t>Chat today (Slack); app, web and voice to come</a:t>
            </a:r>
            <a:endParaRPr lang="en-US" sz="1400" dirty="0"/>
          </a:p>
        </p:txBody>
      </p:sp>
      <p:sp>
        <p:nvSpPr>
          <p:cNvPr id="8" name="arrow-154"/>
          <p:cNvSpPr/>
          <p:nvPr/>
        </p:nvSpPr>
        <p:spPr>
          <a:xfrm>
            <a:off x="3840480" y="2788920"/>
            <a:ext cx="365760" cy="274320"/>
          </a:xfrm>
          <a:prstGeom prst="downArrow">
            <a:avLst/>
          </a:prstGeom>
          <a:solidFill>
            <a:schemeClr val="accent5"/>
          </a:solidFill>
          <a:ln/>
        </p:spPr>
      </p:sp>
      <p:sp>
        <p:nvSpPr>
          <p:cNvPr id="9" name="card-155"/>
          <p:cNvSpPr/>
          <p:nvPr/>
        </p:nvSpPr>
        <p:spPr>
          <a:xfrm>
            <a:off x="548640" y="3108960"/>
            <a:ext cx="6949440" cy="1234440"/>
          </a:xfrm>
          <a:prstGeom prst="roundRect">
            <a:avLst>
              <a:gd name="adj" fmla="val 8889"/>
            </a:avLst>
          </a:prstGeom>
          <a:solidFill>
            <a:schemeClr val="tx2"/>
          </a:solidFill>
          <a:ln/>
        </p:spPr>
      </p:sp>
      <p:sp>
        <p:nvSpPr>
          <p:cNvPr id="10" name="icon-circle-156"/>
          <p:cNvSpPr/>
          <p:nvPr/>
        </p:nvSpPr>
        <p:spPr>
          <a:xfrm>
            <a:off x="822960" y="3406140"/>
            <a:ext cx="640080" cy="640080"/>
          </a:xfrm>
          <a:prstGeom prst="ellipse">
            <a:avLst/>
          </a:prstGeom>
          <a:solidFill>
            <a:schemeClr val="accent1"/>
          </a:solidFill>
          <a:ln/>
        </p:spPr>
      </p:sp>
      <p:pic>
        <p:nvPicPr>
          <p:cNvPr id="11" name="icon-flow-157" descr="flow icon">    </p:cNvPr>
          <p:cNvPicPr>
            <a:picLocks noChangeAspect="1"/>
          </p:cNvPicPr>
          <p:nvPr/>
        </p:nvPicPr>
        <p:blipFill>
          <a:blip r:embed="rId2"/>
          <a:stretch>
            <a:fillRect/>
          </a:stretch>
        </p:blipFill>
        <p:spPr>
          <a:xfrm>
            <a:off x="982980" y="3566160"/>
            <a:ext cx="320040" cy="320040"/>
          </a:xfrm>
          <a:prstGeom prst="rect">
            <a:avLst/>
          </a:prstGeom>
        </p:spPr>
      </p:pic>
      <p:sp>
        <p:nvSpPr>
          <p:cNvPr id="12" name="Text 8"/>
          <p:cNvSpPr txBox="1"/>
          <p:nvPr/>
        </p:nvSpPr>
        <p:spPr>
          <a:xfrm>
            <a:off x="1737360" y="3291840"/>
            <a:ext cx="5486400" cy="365760"/>
          </a:xfrm>
          <a:prstGeom prst="rect">
            <a:avLst/>
          </a:prstGeom>
          <a:noFill/>
          <a:ln/>
        </p:spPr>
        <p:txBody>
          <a:bodyPr wrap="square" lIns="0" tIns="0" rIns="0" bIns="0" rtlCol="0" anchor="t"/>
          <a:lstStyle/>
          <a:p>
            <a:pPr indent="0" marL="0">
              <a:buNone/>
            </a:pPr>
            <a:r>
              <a:rPr lang="en-US" sz="2000" b="1" dirty="0">
                <a:solidFill>
                  <a:schemeClr val="bg1"/>
                </a:solidFill>
              </a:rPr>
              <a:t>Process</a:t>
            </a:r>
            <a:endParaRPr lang="en-US" sz="2000" dirty="0"/>
          </a:p>
        </p:txBody>
      </p:sp>
      <p:sp>
        <p:nvSpPr>
          <p:cNvPr id="13" name="Text 9"/>
          <p:cNvSpPr txBox="1"/>
          <p:nvPr/>
        </p:nvSpPr>
        <p:spPr>
          <a:xfrm>
            <a:off x="1737360" y="3703320"/>
            <a:ext cx="5486400" cy="548640"/>
          </a:xfrm>
          <a:prstGeom prst="rect">
            <a:avLst/>
          </a:prstGeom>
          <a:noFill/>
          <a:ln/>
        </p:spPr>
        <p:txBody>
          <a:bodyPr wrap="square" lIns="0" tIns="0" rIns="0" bIns="0" rtlCol="0" anchor="t"/>
          <a:lstStyle/>
          <a:p>
            <a:pPr indent="0" marL="0">
              <a:buNone/>
            </a:pPr>
            <a:r>
              <a:rPr lang="en-US" sz="1400" dirty="0">
                <a:solidFill>
                  <a:schemeClr val="bg1"/>
                </a:solidFill>
              </a:rPr>
              <a:t>Intent routing, declarative workflows, agents and memory on serverless compute (Lambda, SQS)</a:t>
            </a:r>
            <a:endParaRPr lang="en-US" sz="1400" dirty="0"/>
          </a:p>
        </p:txBody>
      </p:sp>
      <p:sp>
        <p:nvSpPr>
          <p:cNvPr id="14" name="arrow-158"/>
          <p:cNvSpPr/>
          <p:nvPr/>
        </p:nvSpPr>
        <p:spPr>
          <a:xfrm>
            <a:off x="3840480" y="4389120"/>
            <a:ext cx="365760" cy="274320"/>
          </a:xfrm>
          <a:prstGeom prst="downArrow">
            <a:avLst/>
          </a:prstGeom>
          <a:solidFill>
            <a:schemeClr val="accent5"/>
          </a:solidFill>
          <a:ln/>
        </p:spPr>
      </p:sp>
      <p:sp>
        <p:nvSpPr>
          <p:cNvPr id="15" name="card-159"/>
          <p:cNvSpPr/>
          <p:nvPr/>
        </p:nvSpPr>
        <p:spPr>
          <a:xfrm>
            <a:off x="548640" y="4709160"/>
            <a:ext cx="6949440" cy="1234440"/>
          </a:xfrm>
          <a:prstGeom prst="roundRect">
            <a:avLst>
              <a:gd name="adj" fmla="val 8889"/>
            </a:avLst>
          </a:prstGeom>
          <a:solidFill>
            <a:schemeClr val="bg2"/>
          </a:solidFill>
          <a:ln/>
        </p:spPr>
      </p:sp>
      <p:sp>
        <p:nvSpPr>
          <p:cNvPr id="16" name="icon-circle-160"/>
          <p:cNvSpPr/>
          <p:nvPr/>
        </p:nvSpPr>
        <p:spPr>
          <a:xfrm>
            <a:off x="822960" y="5006340"/>
            <a:ext cx="640080" cy="640080"/>
          </a:xfrm>
          <a:prstGeom prst="ellipse">
            <a:avLst/>
          </a:prstGeom>
          <a:solidFill>
            <a:schemeClr val="accent1"/>
          </a:solidFill>
          <a:ln/>
        </p:spPr>
      </p:sp>
      <p:pic>
        <p:nvPicPr>
          <p:cNvPr id="17" name="icon-db-161" descr="db icon">    </p:cNvPr>
          <p:cNvPicPr>
            <a:picLocks noChangeAspect="1"/>
          </p:cNvPicPr>
          <p:nvPr/>
        </p:nvPicPr>
        <p:blipFill>
          <a:blip r:embed="rId3"/>
          <a:stretch>
            <a:fillRect/>
          </a:stretch>
        </p:blipFill>
        <p:spPr>
          <a:xfrm>
            <a:off x="982980" y="5166360"/>
            <a:ext cx="320040" cy="320040"/>
          </a:xfrm>
          <a:prstGeom prst="rect">
            <a:avLst/>
          </a:prstGeom>
        </p:spPr>
      </p:pic>
      <p:sp>
        <p:nvSpPr>
          <p:cNvPr id="18" name="Text 13"/>
          <p:cNvSpPr txBox="1"/>
          <p:nvPr/>
        </p:nvSpPr>
        <p:spPr>
          <a:xfrm>
            <a:off x="1737360" y="4892040"/>
            <a:ext cx="5486400" cy="365760"/>
          </a:xfrm>
          <a:prstGeom prst="rect">
            <a:avLst/>
          </a:prstGeom>
          <a:noFill/>
          <a:ln/>
        </p:spPr>
        <p:txBody>
          <a:bodyPr wrap="square" lIns="0" tIns="0" rIns="0" bIns="0" rtlCol="0" anchor="t"/>
          <a:lstStyle/>
          <a:p>
            <a:pPr indent="0" marL="0">
              <a:buNone/>
            </a:pPr>
            <a:r>
              <a:rPr lang="en-US" sz="2000" b="1" dirty="0">
                <a:solidFill>
                  <a:schemeClr val="tx2"/>
                </a:solidFill>
              </a:rPr>
              <a:t>Service</a:t>
            </a:r>
            <a:endParaRPr lang="en-US" sz="2000" dirty="0"/>
          </a:p>
        </p:txBody>
      </p:sp>
      <p:sp>
        <p:nvSpPr>
          <p:cNvPr id="19" name="Text 14"/>
          <p:cNvSpPr txBox="1"/>
          <p:nvPr/>
        </p:nvSpPr>
        <p:spPr>
          <a:xfrm>
            <a:off x="1737360" y="5303520"/>
            <a:ext cx="5486400" cy="548640"/>
          </a:xfrm>
          <a:prstGeom prst="rect">
            <a:avLst/>
          </a:prstGeom>
          <a:noFill/>
          <a:ln/>
        </p:spPr>
        <p:txBody>
          <a:bodyPr wrap="square" lIns="0" tIns="0" rIns="0" bIns="0" rtlCol="0" anchor="t"/>
          <a:lstStyle/>
          <a:p>
            <a:pPr indent="0" marL="0">
              <a:buNone/>
            </a:pPr>
            <a:r>
              <a:rPr lang="en-US" sz="1400" dirty="0">
                <a:solidFill>
                  <a:schemeClr val="tx1"/>
                </a:solidFill>
              </a:rPr>
              <a:t>PostgreSQL with pgvector, LLM APIs and device bridges; RDB being made multi-tenant, a private schema per home</a:t>
            </a:r>
            <a:endParaRPr lang="en-US" sz="1400" dirty="0"/>
          </a:p>
        </p:txBody>
      </p:sp>
      <p:sp>
        <p:nvSpPr>
          <p:cNvPr id="20" name="card-162"/>
          <p:cNvSpPr/>
          <p:nvPr/>
        </p:nvSpPr>
        <p:spPr>
          <a:xfrm>
            <a:off x="7772400" y="1508760"/>
            <a:ext cx="3867912" cy="4434840"/>
          </a:xfrm>
          <a:prstGeom prst="roundRect">
            <a:avLst>
              <a:gd name="adj" fmla="val 2837"/>
            </a:avLst>
          </a:prstGeom>
          <a:solidFill>
            <a:schemeClr val="bg2"/>
          </a:solidFill>
          <a:ln/>
        </p:spPr>
      </p:sp>
      <p:sp>
        <p:nvSpPr>
          <p:cNvPr id="21" name="Text 16"/>
          <p:cNvSpPr txBox="1"/>
          <p:nvPr/>
        </p:nvSpPr>
        <p:spPr>
          <a:xfrm>
            <a:off x="8046720" y="1737360"/>
            <a:ext cx="3383280" cy="457200"/>
          </a:xfrm>
          <a:prstGeom prst="rect">
            <a:avLst/>
          </a:prstGeom>
          <a:noFill/>
          <a:ln/>
        </p:spPr>
        <p:txBody>
          <a:bodyPr wrap="square" lIns="0" tIns="0" rIns="0" bIns="0" rtlCol="0" anchor="t"/>
          <a:lstStyle/>
          <a:p>
            <a:pPr indent="0" marL="0">
              <a:buNone/>
            </a:pPr>
            <a:r>
              <a:rPr lang="en-US" sz="2000" b="1" dirty="0">
                <a:solidFill>
                  <a:schemeClr val="tx2"/>
                </a:solidFill>
              </a:rPr>
              <a:t>Extension points</a:t>
            </a:r>
            <a:endParaRPr lang="en-US" sz="2000" dirty="0"/>
          </a:p>
        </p:txBody>
      </p:sp>
      <p:sp>
        <p:nvSpPr>
          <p:cNvPr id="22" name="icon-circle-163"/>
          <p:cNvSpPr/>
          <p:nvPr/>
        </p:nvSpPr>
        <p:spPr>
          <a:xfrm>
            <a:off x="8046720" y="2468880"/>
            <a:ext cx="548640" cy="548640"/>
          </a:xfrm>
          <a:prstGeom prst="ellipse">
            <a:avLst/>
          </a:prstGeom>
          <a:solidFill>
            <a:schemeClr val="accent2"/>
          </a:solidFill>
          <a:ln/>
        </p:spPr>
      </p:sp>
      <p:pic>
        <p:nvPicPr>
          <p:cNvPr id="23" name="icon-mobile-164" descr="mobile icon">    </p:cNvPr>
          <p:cNvPicPr>
            <a:picLocks noChangeAspect="1"/>
          </p:cNvPicPr>
          <p:nvPr/>
        </p:nvPicPr>
        <p:blipFill>
          <a:blip r:embed="rId4"/>
          <a:stretch>
            <a:fillRect/>
          </a:stretch>
        </p:blipFill>
        <p:spPr>
          <a:xfrm>
            <a:off x="8183880" y="2606040"/>
            <a:ext cx="274320" cy="274320"/>
          </a:xfrm>
          <a:prstGeom prst="rect">
            <a:avLst/>
          </a:prstGeom>
        </p:spPr>
      </p:pic>
      <p:sp>
        <p:nvSpPr>
          <p:cNvPr id="24" name="Text 18"/>
          <p:cNvSpPr txBox="1"/>
          <p:nvPr/>
        </p:nvSpPr>
        <p:spPr>
          <a:xfrm>
            <a:off x="8778240" y="2468880"/>
            <a:ext cx="2651760" cy="822960"/>
          </a:xfrm>
          <a:prstGeom prst="rect">
            <a:avLst/>
          </a:prstGeom>
          <a:noFill/>
          <a:ln/>
        </p:spPr>
        <p:txBody>
          <a:bodyPr wrap="square" lIns="0" tIns="0" rIns="0" bIns="0" rtlCol="0" anchor="ctr"/>
          <a:lstStyle/>
          <a:p>
            <a:pPr indent="0" marL="0">
              <a:buNone/>
            </a:pPr>
            <a:r>
              <a:rPr lang="en-US" sz="1400" dirty="0">
                <a:solidFill>
                  <a:schemeClr val="tx1"/>
                </a:solidFill>
              </a:rPr>
              <a:t>User experience: custom app and website, always on via Alexa or other voice assistants</a:t>
            </a:r>
            <a:endParaRPr lang="en-US" sz="1400" dirty="0"/>
          </a:p>
        </p:txBody>
      </p:sp>
      <p:sp>
        <p:nvSpPr>
          <p:cNvPr id="25" name="icon-circle-165"/>
          <p:cNvSpPr/>
          <p:nvPr/>
        </p:nvSpPr>
        <p:spPr>
          <a:xfrm>
            <a:off x="8046720" y="3566160"/>
            <a:ext cx="548640" cy="548640"/>
          </a:xfrm>
          <a:prstGeom prst="ellipse">
            <a:avLst/>
          </a:prstGeom>
          <a:solidFill>
            <a:schemeClr val="accent2"/>
          </a:solidFill>
          <a:ln/>
        </p:spPr>
      </p:sp>
      <p:pic>
        <p:nvPicPr>
          <p:cNvPr id="26" name="icon-layers-166" descr="layers icon">    </p:cNvPr>
          <p:cNvPicPr>
            <a:picLocks noChangeAspect="1"/>
          </p:cNvPicPr>
          <p:nvPr/>
        </p:nvPicPr>
        <p:blipFill>
          <a:blip r:embed="rId5"/>
          <a:stretch>
            <a:fillRect/>
          </a:stretch>
        </p:blipFill>
        <p:spPr>
          <a:xfrm>
            <a:off x="8183880" y="3703320"/>
            <a:ext cx="274320" cy="274320"/>
          </a:xfrm>
          <a:prstGeom prst="rect">
            <a:avLst/>
          </a:prstGeom>
        </p:spPr>
      </p:pic>
      <p:sp>
        <p:nvSpPr>
          <p:cNvPr id="27" name="Text 20"/>
          <p:cNvSpPr txBox="1"/>
          <p:nvPr/>
        </p:nvSpPr>
        <p:spPr>
          <a:xfrm>
            <a:off x="8778240" y="3566160"/>
            <a:ext cx="2651760" cy="822960"/>
          </a:xfrm>
          <a:prstGeom prst="rect">
            <a:avLst/>
          </a:prstGeom>
          <a:noFill/>
          <a:ln/>
        </p:spPr>
        <p:txBody>
          <a:bodyPr wrap="square" lIns="0" tIns="0" rIns="0" bIns="0" rtlCol="0" anchor="ctr"/>
          <a:lstStyle/>
          <a:p>
            <a:pPr indent="0" marL="0">
              <a:buNone/>
            </a:pPr>
            <a:r>
              <a:rPr lang="en-US" sz="1400" dirty="0">
                <a:solidFill>
                  <a:schemeClr val="tx1"/>
                </a:solidFill>
              </a:rPr>
              <a:t>Seeded domains: finance, TV, learning, planning</a:t>
            </a:r>
            <a:endParaRPr lang="en-US" sz="1400" dirty="0"/>
          </a:p>
        </p:txBody>
      </p:sp>
      <p:sp>
        <p:nvSpPr>
          <p:cNvPr id="28" name="icon-circle-167"/>
          <p:cNvSpPr/>
          <p:nvPr/>
        </p:nvSpPr>
        <p:spPr>
          <a:xfrm>
            <a:off x="8046720" y="4663440"/>
            <a:ext cx="548640" cy="548640"/>
          </a:xfrm>
          <a:prstGeom prst="ellipse">
            <a:avLst/>
          </a:prstGeom>
          <a:solidFill>
            <a:schemeClr val="accent2"/>
          </a:solidFill>
          <a:ln/>
        </p:spPr>
      </p:sp>
      <p:pic>
        <p:nvPicPr>
          <p:cNvPr id="29" name="icon-plug-168" descr="plug icon">    </p:cNvPr>
          <p:cNvPicPr>
            <a:picLocks noChangeAspect="1"/>
          </p:cNvPicPr>
          <p:nvPr/>
        </p:nvPicPr>
        <p:blipFill>
          <a:blip r:embed="rId6"/>
          <a:stretch>
            <a:fillRect/>
          </a:stretch>
        </p:blipFill>
        <p:spPr>
          <a:xfrm>
            <a:off x="8183880" y="4800600"/>
            <a:ext cx="274320" cy="274320"/>
          </a:xfrm>
          <a:prstGeom prst="rect">
            <a:avLst/>
          </a:prstGeom>
        </p:spPr>
      </p:pic>
      <p:sp>
        <p:nvSpPr>
          <p:cNvPr id="30" name="Text 22"/>
          <p:cNvSpPr txBox="1"/>
          <p:nvPr/>
        </p:nvSpPr>
        <p:spPr>
          <a:xfrm>
            <a:off x="8778240" y="4663440"/>
            <a:ext cx="2651760" cy="822960"/>
          </a:xfrm>
          <a:prstGeom prst="rect">
            <a:avLst/>
          </a:prstGeom>
          <a:noFill/>
          <a:ln/>
        </p:spPr>
        <p:txBody>
          <a:bodyPr wrap="square" lIns="0" tIns="0" rIns="0" bIns="0" rtlCol="0" anchor="ctr"/>
          <a:lstStyle/>
          <a:p>
            <a:pPr indent="0" marL="0">
              <a:buNone/>
            </a:pPr>
            <a:r>
              <a:rPr lang="en-US" sz="1400" dirty="0">
                <a:solidFill>
                  <a:schemeClr val="tx1"/>
                </a:solidFill>
              </a:rPr>
              <a:t>New devices through bridges such as Home Assistant or Matter</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Shared core, private space per home</a:t>
            </a:r>
            <a:endParaRPr lang="en-US" sz="3600" dirty="0"/>
          </a:p>
        </p:txBody>
      </p:sp>
      <p:sp>
        <p:nvSpPr>
          <p:cNvPr id="3" name="card-169"/>
          <p:cNvSpPr/>
          <p:nvPr/>
        </p:nvSpPr>
        <p:spPr>
          <a:xfrm>
            <a:off x="548640" y="1508760"/>
            <a:ext cx="6949440" cy="3611880"/>
          </a:xfrm>
          <a:prstGeom prst="roundRect">
            <a:avLst>
              <a:gd name="adj" fmla="val 3038"/>
            </a:avLst>
          </a:prstGeom>
          <a:solidFill>
            <a:schemeClr val="bg2"/>
          </a:solidFill>
          <a:ln/>
        </p:spPr>
      </p:sp>
      <p:sp>
        <p:nvSpPr>
          <p:cNvPr id="4" name="icon-circle-170"/>
          <p:cNvSpPr/>
          <p:nvPr/>
        </p:nvSpPr>
        <p:spPr>
          <a:xfrm>
            <a:off x="822960" y="1691640"/>
            <a:ext cx="548640" cy="548640"/>
          </a:xfrm>
          <a:prstGeom prst="ellipse">
            <a:avLst/>
          </a:prstGeom>
          <a:solidFill>
            <a:schemeClr val="accent1"/>
          </a:solidFill>
          <a:ln/>
        </p:spPr>
      </p:sp>
      <p:pic>
        <p:nvPicPr>
          <p:cNvPr id="5" name="icon-db-171" descr="db icon">    </p:cNvPr>
          <p:cNvPicPr>
            <a:picLocks noChangeAspect="1"/>
          </p:cNvPicPr>
          <p:nvPr/>
        </p:nvPicPr>
        <p:blipFill>
          <a:blip r:embed="rId1"/>
          <a:stretch>
            <a:fillRect/>
          </a:stretch>
        </p:blipFill>
        <p:spPr>
          <a:xfrm>
            <a:off x="960120" y="1828800"/>
            <a:ext cx="274320" cy="274320"/>
          </a:xfrm>
          <a:prstGeom prst="rect">
            <a:avLst/>
          </a:prstGeom>
        </p:spPr>
      </p:pic>
      <p:sp>
        <p:nvSpPr>
          <p:cNvPr id="6" name="Text 3"/>
          <p:cNvSpPr txBox="1"/>
          <p:nvPr/>
        </p:nvSpPr>
        <p:spPr>
          <a:xfrm>
            <a:off x="1554480" y="1691640"/>
            <a:ext cx="5669280" cy="548640"/>
          </a:xfrm>
          <a:prstGeom prst="rect">
            <a:avLst/>
          </a:prstGeom>
          <a:noFill/>
          <a:ln/>
        </p:spPr>
        <p:txBody>
          <a:bodyPr wrap="square" lIns="0" tIns="0" rIns="0" bIns="0" rtlCol="0" anchor="ctr"/>
          <a:lstStyle/>
          <a:p>
            <a:pPr indent="0" marL="0">
              <a:buNone/>
            </a:pPr>
            <a:r>
              <a:rPr lang="en-US" sz="2000" b="1" dirty="0">
                <a:solidFill>
                  <a:schemeClr val="tx2"/>
                </a:solidFill>
              </a:rPr>
              <a:t>Shared enterprise RDS (PostgreSQL)</a:t>
            </a:r>
            <a:endParaRPr lang="en-US" sz="2000" dirty="0"/>
          </a:p>
        </p:txBody>
      </p:sp>
      <p:sp>
        <p:nvSpPr>
          <p:cNvPr id="7" name="card-172"/>
          <p:cNvSpPr/>
          <p:nvPr/>
        </p:nvSpPr>
        <p:spPr>
          <a:xfrm>
            <a:off x="822960" y="2423160"/>
            <a:ext cx="6400800" cy="777240"/>
          </a:xfrm>
          <a:prstGeom prst="roundRect">
            <a:avLst>
              <a:gd name="adj" fmla="val 14118"/>
            </a:avLst>
          </a:prstGeom>
          <a:solidFill>
            <a:schemeClr val="tx2"/>
          </a:solidFill>
          <a:ln/>
        </p:spPr>
      </p:sp>
      <p:sp>
        <p:nvSpPr>
          <p:cNvPr id="8" name="Text 5"/>
          <p:cNvSpPr txBox="1"/>
          <p:nvPr/>
        </p:nvSpPr>
        <p:spPr>
          <a:xfrm>
            <a:off x="1051560" y="2423160"/>
            <a:ext cx="5943600" cy="777240"/>
          </a:xfrm>
          <a:prstGeom prst="rect">
            <a:avLst/>
          </a:prstGeom>
          <a:noFill/>
          <a:ln/>
        </p:spPr>
        <p:txBody>
          <a:bodyPr wrap="square" lIns="0" tIns="0" rIns="0" bIns="0" rtlCol="0" anchor="ctr"/>
          <a:lstStyle/>
          <a:p>
            <a:pPr indent="0" marL="0">
              <a:buNone/>
            </a:pPr>
            <a:r>
              <a:rPr lang="en-US" sz="1600" b="1" dirty="0">
                <a:solidFill>
                  <a:schemeClr val="bg1"/>
                </a:solidFill>
              </a:rPr>
              <a:t>Shared platform tables (PGC_)</a:t>
            </a:r>
            <a:endParaRPr lang="en-US" sz="1400" dirty="0"/>
          </a:p>
          <a:p>
            <a:pPr indent="0" marL="0">
              <a:buNone/>
            </a:pPr>
            <a:r>
              <a:rPr lang="en-US" sz="1400" dirty="0">
                <a:solidFill>
                  <a:schemeClr val="bg1"/>
                </a:solidFill>
              </a:rPr>
              <a:t>Used by every home: workflows and system context</a:t>
            </a:r>
            <a:endParaRPr lang="en-US" sz="1400" dirty="0"/>
          </a:p>
        </p:txBody>
      </p:sp>
      <p:sp>
        <p:nvSpPr>
          <p:cNvPr id="9" name="Text 6"/>
          <p:cNvSpPr txBox="1"/>
          <p:nvPr/>
        </p:nvSpPr>
        <p:spPr>
          <a:xfrm>
            <a:off x="822960" y="3337560"/>
            <a:ext cx="6400800" cy="274320"/>
          </a:xfrm>
          <a:prstGeom prst="rect">
            <a:avLst/>
          </a:prstGeom>
          <a:noFill/>
          <a:ln/>
        </p:spPr>
        <p:txBody>
          <a:bodyPr wrap="square" lIns="0" tIns="0" rIns="0" bIns="0" rtlCol="0" anchor="t"/>
          <a:lstStyle/>
          <a:p>
            <a:pPr indent="0" marL="0">
              <a:buNone/>
            </a:pPr>
            <a:r>
              <a:rPr lang="en-US" sz="1400" b="1" dirty="0">
                <a:solidFill>
                  <a:schemeClr val="tx2"/>
                </a:solidFill>
              </a:rPr>
              <a:t>Each home’s own schema (PGD_ domain tables)</a:t>
            </a:r>
            <a:endParaRPr lang="en-US" sz="1400" dirty="0"/>
          </a:p>
        </p:txBody>
      </p:sp>
      <p:sp>
        <p:nvSpPr>
          <p:cNvPr id="10" name="card-173"/>
          <p:cNvSpPr/>
          <p:nvPr/>
        </p:nvSpPr>
        <p:spPr>
          <a:xfrm>
            <a:off x="822960" y="3703320"/>
            <a:ext cx="2042160" cy="1234440"/>
          </a:xfrm>
          <a:prstGeom prst="roundRect">
            <a:avLst>
              <a:gd name="adj" fmla="val 8889"/>
            </a:avLst>
          </a:prstGeom>
          <a:solidFill>
            <a:schemeClr val="bg1"/>
          </a:solidFill>
          <a:ln/>
        </p:spPr>
      </p:sp>
      <p:sp>
        <p:nvSpPr>
          <p:cNvPr id="11" name="Text 8"/>
          <p:cNvSpPr txBox="1"/>
          <p:nvPr/>
        </p:nvSpPr>
        <p:spPr>
          <a:xfrm>
            <a:off x="1005840" y="3840480"/>
            <a:ext cx="1676400" cy="320040"/>
          </a:xfrm>
          <a:prstGeom prst="rect">
            <a:avLst/>
          </a:prstGeom>
          <a:noFill/>
          <a:ln/>
        </p:spPr>
        <p:txBody>
          <a:bodyPr wrap="square" lIns="0" tIns="0" rIns="0" bIns="0" rtlCol="0" anchor="t"/>
          <a:lstStyle/>
          <a:p>
            <a:pPr indent="0" marL="0">
              <a:buNone/>
            </a:pPr>
            <a:r>
              <a:rPr lang="en-US" sz="1800" b="1" dirty="0">
                <a:solidFill>
                  <a:schemeClr val="tx2"/>
                </a:solidFill>
              </a:rPr>
              <a:t>Home A</a:t>
            </a:r>
            <a:endParaRPr lang="en-US" sz="1800" dirty="0"/>
          </a:p>
        </p:txBody>
      </p:sp>
      <p:sp>
        <p:nvSpPr>
          <p:cNvPr id="12" name="Text 9"/>
          <p:cNvSpPr txBox="1"/>
          <p:nvPr/>
        </p:nvSpPr>
        <p:spPr>
          <a:xfrm>
            <a:off x="1005840" y="4251960"/>
            <a:ext cx="1676400" cy="594360"/>
          </a:xfrm>
          <a:prstGeom prst="rect">
            <a:avLst/>
          </a:prstGeom>
          <a:noFill/>
          <a:ln/>
        </p:spPr>
        <p:txBody>
          <a:bodyPr wrap="square" lIns="0" tIns="0" rIns="0" bIns="0" rtlCol="0" anchor="t"/>
          <a:lstStyle/>
          <a:p>
            <a:pPr indent="0" marL="0">
              <a:buNone/>
            </a:pPr>
            <a:r>
              <a:rPr lang="en-US" sz="1400" dirty="0">
                <a:solidFill>
                  <a:schemeClr val="tx1"/>
                </a:solidFill>
              </a:rPr>
              <a:t>Inventory, stock portfolio</a:t>
            </a:r>
            <a:endParaRPr lang="en-US" sz="1400" dirty="0"/>
          </a:p>
        </p:txBody>
      </p:sp>
      <p:sp>
        <p:nvSpPr>
          <p:cNvPr id="13" name="card-174"/>
          <p:cNvSpPr/>
          <p:nvPr/>
        </p:nvSpPr>
        <p:spPr>
          <a:xfrm>
            <a:off x="3002280" y="3703320"/>
            <a:ext cx="2042160" cy="1234440"/>
          </a:xfrm>
          <a:prstGeom prst="roundRect">
            <a:avLst>
              <a:gd name="adj" fmla="val 8889"/>
            </a:avLst>
          </a:prstGeom>
          <a:solidFill>
            <a:schemeClr val="bg1"/>
          </a:solidFill>
          <a:ln/>
        </p:spPr>
      </p:sp>
      <p:sp>
        <p:nvSpPr>
          <p:cNvPr id="14" name="Text 11"/>
          <p:cNvSpPr txBox="1"/>
          <p:nvPr/>
        </p:nvSpPr>
        <p:spPr>
          <a:xfrm>
            <a:off x="3185160" y="3840480"/>
            <a:ext cx="1676400" cy="320040"/>
          </a:xfrm>
          <a:prstGeom prst="rect">
            <a:avLst/>
          </a:prstGeom>
          <a:noFill/>
          <a:ln/>
        </p:spPr>
        <p:txBody>
          <a:bodyPr wrap="square" lIns="0" tIns="0" rIns="0" bIns="0" rtlCol="0" anchor="t"/>
          <a:lstStyle/>
          <a:p>
            <a:pPr indent="0" marL="0">
              <a:buNone/>
            </a:pPr>
            <a:r>
              <a:rPr lang="en-US" sz="1800" b="1" dirty="0">
                <a:solidFill>
                  <a:schemeClr val="tx2"/>
                </a:solidFill>
              </a:rPr>
              <a:t>Home B</a:t>
            </a:r>
            <a:endParaRPr lang="en-US" sz="1800" dirty="0"/>
          </a:p>
        </p:txBody>
      </p:sp>
      <p:sp>
        <p:nvSpPr>
          <p:cNvPr id="15" name="Text 12"/>
          <p:cNvSpPr txBox="1"/>
          <p:nvPr/>
        </p:nvSpPr>
        <p:spPr>
          <a:xfrm>
            <a:off x="3185160" y="4251960"/>
            <a:ext cx="1676400" cy="594360"/>
          </a:xfrm>
          <a:prstGeom prst="rect">
            <a:avLst/>
          </a:prstGeom>
          <a:noFill/>
          <a:ln/>
        </p:spPr>
        <p:txBody>
          <a:bodyPr wrap="square" lIns="0" tIns="0" rIns="0" bIns="0" rtlCol="0" anchor="t"/>
          <a:lstStyle/>
          <a:p>
            <a:pPr indent="0" marL="0">
              <a:buNone/>
            </a:pPr>
            <a:r>
              <a:rPr lang="en-US" sz="1400" dirty="0">
                <a:solidFill>
                  <a:schemeClr val="tx1"/>
                </a:solidFill>
              </a:rPr>
              <a:t>Study sessions, flashcards</a:t>
            </a:r>
            <a:endParaRPr lang="en-US" sz="1400" dirty="0"/>
          </a:p>
        </p:txBody>
      </p:sp>
      <p:sp>
        <p:nvSpPr>
          <p:cNvPr id="16" name="card-175"/>
          <p:cNvSpPr/>
          <p:nvPr/>
        </p:nvSpPr>
        <p:spPr>
          <a:xfrm>
            <a:off x="5181600" y="3703320"/>
            <a:ext cx="2042160" cy="1234440"/>
          </a:xfrm>
          <a:prstGeom prst="roundRect">
            <a:avLst>
              <a:gd name="adj" fmla="val 8889"/>
            </a:avLst>
          </a:prstGeom>
          <a:solidFill>
            <a:schemeClr val="bg1"/>
          </a:solidFill>
          <a:ln/>
        </p:spPr>
      </p:sp>
      <p:sp>
        <p:nvSpPr>
          <p:cNvPr id="17" name="Text 14"/>
          <p:cNvSpPr txBox="1"/>
          <p:nvPr/>
        </p:nvSpPr>
        <p:spPr>
          <a:xfrm>
            <a:off x="5364480" y="3840480"/>
            <a:ext cx="1676400" cy="320040"/>
          </a:xfrm>
          <a:prstGeom prst="rect">
            <a:avLst/>
          </a:prstGeom>
          <a:noFill/>
          <a:ln/>
        </p:spPr>
        <p:txBody>
          <a:bodyPr wrap="square" lIns="0" tIns="0" rIns="0" bIns="0" rtlCol="0" anchor="t"/>
          <a:lstStyle/>
          <a:p>
            <a:pPr indent="0" marL="0">
              <a:buNone/>
            </a:pPr>
            <a:r>
              <a:rPr lang="en-US" sz="1800" b="1" dirty="0">
                <a:solidFill>
                  <a:schemeClr val="tx2"/>
                </a:solidFill>
              </a:rPr>
              <a:t>Home N</a:t>
            </a:r>
            <a:endParaRPr lang="en-US" sz="1800" dirty="0"/>
          </a:p>
        </p:txBody>
      </p:sp>
      <p:sp>
        <p:nvSpPr>
          <p:cNvPr id="18" name="Text 15"/>
          <p:cNvSpPr txBox="1"/>
          <p:nvPr/>
        </p:nvSpPr>
        <p:spPr>
          <a:xfrm>
            <a:off x="5364480" y="4251960"/>
            <a:ext cx="1676400" cy="594360"/>
          </a:xfrm>
          <a:prstGeom prst="rect">
            <a:avLst/>
          </a:prstGeom>
          <a:noFill/>
          <a:ln/>
        </p:spPr>
        <p:txBody>
          <a:bodyPr wrap="square" lIns="0" tIns="0" rIns="0" bIns="0" rtlCol="0" anchor="t"/>
          <a:lstStyle/>
          <a:p>
            <a:pPr indent="0" marL="0">
              <a:buNone/>
            </a:pPr>
            <a:r>
              <a:rPr lang="en-US" sz="1400" dirty="0">
                <a:solidFill>
                  <a:schemeClr val="tx1"/>
                </a:solidFill>
              </a:rPr>
              <a:t>Whatever domains they create</a:t>
            </a:r>
            <a:endParaRPr lang="en-US" sz="1400" dirty="0"/>
          </a:p>
        </p:txBody>
      </p:sp>
      <p:sp>
        <p:nvSpPr>
          <p:cNvPr id="19" name="card-176"/>
          <p:cNvSpPr/>
          <p:nvPr/>
        </p:nvSpPr>
        <p:spPr>
          <a:xfrm>
            <a:off x="7772400" y="1508760"/>
            <a:ext cx="3867912" cy="3611880"/>
          </a:xfrm>
          <a:prstGeom prst="roundRect">
            <a:avLst>
              <a:gd name="adj" fmla="val 3038"/>
            </a:avLst>
          </a:prstGeom>
          <a:solidFill>
            <a:schemeClr val="tx2"/>
          </a:solidFill>
          <a:ln/>
        </p:spPr>
      </p:sp>
      <p:sp>
        <p:nvSpPr>
          <p:cNvPr id="20" name="icon-circle-177"/>
          <p:cNvSpPr/>
          <p:nvPr/>
        </p:nvSpPr>
        <p:spPr>
          <a:xfrm>
            <a:off x="8046720" y="1737360"/>
            <a:ext cx="640080" cy="640080"/>
          </a:xfrm>
          <a:prstGeom prst="ellipse">
            <a:avLst/>
          </a:prstGeom>
          <a:solidFill>
            <a:schemeClr val="accent1"/>
          </a:solidFill>
          <a:ln/>
        </p:spPr>
      </p:sp>
      <p:pic>
        <p:nvPicPr>
          <p:cNvPr id="21" name="icon-coins-178" descr="coins icon">    </p:cNvPr>
          <p:cNvPicPr>
            <a:picLocks noChangeAspect="1"/>
          </p:cNvPicPr>
          <p:nvPr/>
        </p:nvPicPr>
        <p:blipFill>
          <a:blip r:embed="rId2"/>
          <a:stretch>
            <a:fillRect/>
          </a:stretch>
        </p:blipFill>
        <p:spPr>
          <a:xfrm>
            <a:off x="8206740" y="1897380"/>
            <a:ext cx="320040" cy="320040"/>
          </a:xfrm>
          <a:prstGeom prst="rect">
            <a:avLst/>
          </a:prstGeom>
        </p:spPr>
      </p:pic>
      <p:sp>
        <p:nvSpPr>
          <p:cNvPr id="22" name="Text 18"/>
          <p:cNvSpPr txBox="1"/>
          <p:nvPr/>
        </p:nvSpPr>
        <p:spPr>
          <a:xfrm>
            <a:off x="8869680" y="1737360"/>
            <a:ext cx="2560320" cy="320040"/>
          </a:xfrm>
          <a:prstGeom prst="rect">
            <a:avLst/>
          </a:prstGeom>
          <a:noFill/>
          <a:ln/>
        </p:spPr>
        <p:txBody>
          <a:bodyPr wrap="square" lIns="0" tIns="0" rIns="0" bIns="0" rtlCol="0" anchor="t"/>
          <a:lstStyle/>
          <a:p>
            <a:pPr indent="0" marL="0">
              <a:buNone/>
            </a:pPr>
            <a:r>
              <a:rPr lang="en-US" sz="1800" b="1" dirty="0">
                <a:solidFill>
                  <a:schemeClr val="bg1"/>
                </a:solidFill>
              </a:rPr>
              <a:t>Economies of scale</a:t>
            </a:r>
            <a:endParaRPr lang="en-US" sz="1800" dirty="0"/>
          </a:p>
        </p:txBody>
      </p:sp>
      <p:sp>
        <p:nvSpPr>
          <p:cNvPr id="23" name="Text 19"/>
          <p:cNvSpPr txBox="1"/>
          <p:nvPr/>
        </p:nvSpPr>
        <p:spPr>
          <a:xfrm>
            <a:off x="8869680" y="2103120"/>
            <a:ext cx="2560320" cy="548640"/>
          </a:xfrm>
          <a:prstGeom prst="rect">
            <a:avLst/>
          </a:prstGeom>
          <a:noFill/>
          <a:ln/>
        </p:spPr>
        <p:txBody>
          <a:bodyPr wrap="square" lIns="0" tIns="0" rIns="0" bIns="0" rtlCol="0" anchor="t"/>
          <a:lstStyle/>
          <a:p>
            <a:pPr indent="0" marL="0">
              <a:buNone/>
            </a:pPr>
            <a:r>
              <a:rPr lang="en-US" sz="1400" dirty="0">
                <a:solidFill>
                  <a:schemeClr val="bg1"/>
                </a:solidFill>
              </a:rPr>
              <a:t>Platform tables are shared by every home</a:t>
            </a:r>
            <a:endParaRPr lang="en-US" sz="1400" dirty="0"/>
          </a:p>
        </p:txBody>
      </p:sp>
      <p:sp>
        <p:nvSpPr>
          <p:cNvPr id="24" name="icon-circle-179"/>
          <p:cNvSpPr/>
          <p:nvPr/>
        </p:nvSpPr>
        <p:spPr>
          <a:xfrm>
            <a:off x="8046720" y="2834640"/>
            <a:ext cx="640080" cy="640080"/>
          </a:xfrm>
          <a:prstGeom prst="ellipse">
            <a:avLst/>
          </a:prstGeom>
          <a:solidFill>
            <a:schemeClr val="accent1"/>
          </a:solidFill>
          <a:ln/>
        </p:spPr>
      </p:sp>
      <p:pic>
        <p:nvPicPr>
          <p:cNvPr id="25" name="icon-layers-180" descr="layers icon">    </p:cNvPr>
          <p:cNvPicPr>
            <a:picLocks noChangeAspect="1"/>
          </p:cNvPicPr>
          <p:nvPr/>
        </p:nvPicPr>
        <p:blipFill>
          <a:blip r:embed="rId3"/>
          <a:stretch>
            <a:fillRect/>
          </a:stretch>
        </p:blipFill>
        <p:spPr>
          <a:xfrm>
            <a:off x="8206740" y="2994660"/>
            <a:ext cx="320040" cy="320040"/>
          </a:xfrm>
          <a:prstGeom prst="rect">
            <a:avLst/>
          </a:prstGeom>
        </p:spPr>
      </p:pic>
      <p:sp>
        <p:nvSpPr>
          <p:cNvPr id="26" name="Text 21"/>
          <p:cNvSpPr txBox="1"/>
          <p:nvPr/>
        </p:nvSpPr>
        <p:spPr>
          <a:xfrm>
            <a:off x="8869680" y="2834640"/>
            <a:ext cx="2560320" cy="320040"/>
          </a:xfrm>
          <a:prstGeom prst="rect">
            <a:avLst/>
          </a:prstGeom>
          <a:noFill/>
          <a:ln/>
        </p:spPr>
        <p:txBody>
          <a:bodyPr wrap="square" lIns="0" tIns="0" rIns="0" bIns="0" rtlCol="0" anchor="t"/>
          <a:lstStyle/>
          <a:p>
            <a:pPr indent="0" marL="0">
              <a:buNone/>
            </a:pPr>
            <a:r>
              <a:rPr lang="en-US" sz="1800" b="1" dirty="0">
                <a:solidFill>
                  <a:schemeClr val="bg1"/>
                </a:solidFill>
              </a:rPr>
              <a:t>No collisions</a:t>
            </a:r>
            <a:endParaRPr lang="en-US" sz="1800" dirty="0"/>
          </a:p>
        </p:txBody>
      </p:sp>
      <p:sp>
        <p:nvSpPr>
          <p:cNvPr id="27" name="Text 22"/>
          <p:cNvSpPr txBox="1"/>
          <p:nvPr/>
        </p:nvSpPr>
        <p:spPr>
          <a:xfrm>
            <a:off x="8869680" y="3200400"/>
            <a:ext cx="2560320" cy="548640"/>
          </a:xfrm>
          <a:prstGeom prst="rect">
            <a:avLst/>
          </a:prstGeom>
          <a:noFill/>
          <a:ln/>
        </p:spPr>
        <p:txBody>
          <a:bodyPr wrap="square" lIns="0" tIns="0" rIns="0" bIns="0" rtlCol="0" anchor="t"/>
          <a:lstStyle/>
          <a:p>
            <a:pPr indent="0" marL="0">
              <a:buNone/>
            </a:pPr>
            <a:r>
              <a:rPr lang="en-US" sz="1400" dirty="0">
                <a:solidFill>
                  <a:schemeClr val="bg1"/>
                </a:solidFill>
              </a:rPr>
              <a:t>Each home’s domain tables stay in its own schema</a:t>
            </a:r>
            <a:endParaRPr lang="en-US" sz="1400" dirty="0"/>
          </a:p>
        </p:txBody>
      </p:sp>
      <p:sp>
        <p:nvSpPr>
          <p:cNvPr id="28" name="icon-circle-181"/>
          <p:cNvSpPr/>
          <p:nvPr/>
        </p:nvSpPr>
        <p:spPr>
          <a:xfrm>
            <a:off x="8046720" y="3931920"/>
            <a:ext cx="640080" cy="640080"/>
          </a:xfrm>
          <a:prstGeom prst="ellipse">
            <a:avLst/>
          </a:prstGeom>
          <a:solidFill>
            <a:schemeClr val="accent1"/>
          </a:solidFill>
          <a:ln/>
        </p:spPr>
      </p:sp>
      <p:pic>
        <p:nvPicPr>
          <p:cNvPr id="29" name="icon-lock-182" descr="lock icon">    </p:cNvPr>
          <p:cNvPicPr>
            <a:picLocks noChangeAspect="1"/>
          </p:cNvPicPr>
          <p:nvPr/>
        </p:nvPicPr>
        <p:blipFill>
          <a:blip r:embed="rId4"/>
          <a:stretch>
            <a:fillRect/>
          </a:stretch>
        </p:blipFill>
        <p:spPr>
          <a:xfrm>
            <a:off x="8206740" y="4091940"/>
            <a:ext cx="320040" cy="320040"/>
          </a:xfrm>
          <a:prstGeom prst="rect">
            <a:avLst/>
          </a:prstGeom>
        </p:spPr>
      </p:pic>
      <p:sp>
        <p:nvSpPr>
          <p:cNvPr id="30" name="Text 24"/>
          <p:cNvSpPr txBox="1"/>
          <p:nvPr/>
        </p:nvSpPr>
        <p:spPr>
          <a:xfrm>
            <a:off x="8869680" y="3931920"/>
            <a:ext cx="2560320" cy="320040"/>
          </a:xfrm>
          <a:prstGeom prst="rect">
            <a:avLst/>
          </a:prstGeom>
          <a:noFill/>
          <a:ln/>
        </p:spPr>
        <p:txBody>
          <a:bodyPr wrap="square" lIns="0" tIns="0" rIns="0" bIns="0" rtlCol="0" anchor="t"/>
          <a:lstStyle/>
          <a:p>
            <a:pPr indent="0" marL="0">
              <a:buNone/>
            </a:pPr>
            <a:r>
              <a:rPr lang="en-US" sz="1800" b="1" dirty="0">
                <a:solidFill>
                  <a:schemeClr val="bg1"/>
                </a:solidFill>
              </a:rPr>
              <a:t>Isolation by design</a:t>
            </a:r>
            <a:endParaRPr lang="en-US" sz="1800" dirty="0"/>
          </a:p>
        </p:txBody>
      </p:sp>
      <p:sp>
        <p:nvSpPr>
          <p:cNvPr id="31" name="Text 25"/>
          <p:cNvSpPr txBox="1"/>
          <p:nvPr/>
        </p:nvSpPr>
        <p:spPr>
          <a:xfrm>
            <a:off x="8869680" y="4297680"/>
            <a:ext cx="2560320" cy="548640"/>
          </a:xfrm>
          <a:prstGeom prst="rect">
            <a:avLst/>
          </a:prstGeom>
          <a:noFill/>
          <a:ln/>
        </p:spPr>
        <p:txBody>
          <a:bodyPr wrap="square" lIns="0" tIns="0" rIns="0" bIns="0" rtlCol="0" anchor="t"/>
          <a:lstStyle/>
          <a:p>
            <a:pPr indent="0" marL="0">
              <a:buNone/>
            </a:pPr>
            <a:r>
              <a:rPr lang="en-US" sz="1400" dirty="0">
                <a:solidFill>
                  <a:schemeClr val="bg1"/>
                </a:solidFill>
              </a:rPr>
              <a:t>Own user with access to its own schema only</a:t>
            </a:r>
            <a:endParaRPr lang="en-US" sz="1400" dirty="0"/>
          </a:p>
        </p:txBody>
      </p:sp>
      <p:sp>
        <p:nvSpPr>
          <p:cNvPr id="32" name="card-183"/>
          <p:cNvSpPr/>
          <p:nvPr/>
        </p:nvSpPr>
        <p:spPr>
          <a:xfrm>
            <a:off x="548640" y="5349240"/>
            <a:ext cx="11091672" cy="777240"/>
          </a:xfrm>
          <a:prstGeom prst="roundRect">
            <a:avLst>
              <a:gd name="adj" fmla="val 14118"/>
            </a:avLst>
          </a:prstGeom>
          <a:solidFill>
            <a:schemeClr val="bg2"/>
          </a:solidFill>
          <a:ln/>
        </p:spPr>
      </p:sp>
      <p:sp>
        <p:nvSpPr>
          <p:cNvPr id="33" name="icon-circle-184"/>
          <p:cNvSpPr/>
          <p:nvPr/>
        </p:nvSpPr>
        <p:spPr>
          <a:xfrm>
            <a:off x="777240" y="5463540"/>
            <a:ext cx="548640" cy="548640"/>
          </a:xfrm>
          <a:prstGeom prst="ellipse">
            <a:avLst/>
          </a:prstGeom>
          <a:solidFill>
            <a:schemeClr val="accent1"/>
          </a:solidFill>
          <a:ln/>
        </p:spPr>
      </p:sp>
      <p:pic>
        <p:nvPicPr>
          <p:cNvPr id="34" name="icon-question-185" descr="question icon">    </p:cNvPr>
          <p:cNvPicPr>
            <a:picLocks noChangeAspect="1"/>
          </p:cNvPicPr>
          <p:nvPr/>
        </p:nvPicPr>
        <p:blipFill>
          <a:blip r:embed="rId5"/>
          <a:stretch>
            <a:fillRect/>
          </a:stretch>
        </p:blipFill>
        <p:spPr>
          <a:xfrm>
            <a:off x="914400" y="5600700"/>
            <a:ext cx="274320" cy="274320"/>
          </a:xfrm>
          <a:prstGeom prst="rect">
            <a:avLst/>
          </a:prstGeom>
        </p:spPr>
      </p:pic>
      <p:sp>
        <p:nvSpPr>
          <p:cNvPr id="35" name="Text 28"/>
          <p:cNvSpPr txBox="1"/>
          <p:nvPr/>
        </p:nvSpPr>
        <p:spPr>
          <a:xfrm>
            <a:off x="1554480" y="5349240"/>
            <a:ext cx="9811512" cy="777240"/>
          </a:xfrm>
          <a:prstGeom prst="rect">
            <a:avLst/>
          </a:prstGeom>
          <a:noFill/>
          <a:ln/>
        </p:spPr>
        <p:txBody>
          <a:bodyPr wrap="square" lIns="0" tIns="0" rIns="0" bIns="0" rtlCol="0" anchor="ctr"/>
          <a:lstStyle/>
          <a:p>
            <a:pPr indent="0" marL="0">
              <a:buNone/>
            </a:pPr>
            <a:r>
              <a:rPr lang="en-US" sz="1400" b="1" dirty="0">
                <a:solidFill>
                  <a:srgbClr val="1D3B3A"/>
                </a:solidFill>
              </a:rPr>
              <a:t>Scaling path: </a:t>
            </a:r>
            <a:pPr indent="0" marL="0">
              <a:buNone/>
            </a:pPr>
            <a:r>
              <a:rPr lang="en-US" sz="1400" dirty="0">
                <a:solidFill>
                  <a:schemeClr val="tx1"/>
                </a:solidFill>
              </a:rPr>
              <a:t>a schema per home through the MVP and first rollout; at thousands of homes, shared tables with row-level security for common domains, flexible records for custom ones, or homes split across several databases.</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Cost trade-offs behind the design</a:t>
            </a:r>
            <a:endParaRPr lang="en-US" sz="3600" dirty="0"/>
          </a:p>
        </p:txBody>
      </p:sp>
      <p:sp>
        <p:nvSpPr>
          <p:cNvPr id="3" name="card-186"/>
          <p:cNvSpPr/>
          <p:nvPr/>
        </p:nvSpPr>
        <p:spPr>
          <a:xfrm>
            <a:off x="548640" y="1508760"/>
            <a:ext cx="3514344" cy="2926080"/>
          </a:xfrm>
          <a:prstGeom prst="roundRect">
            <a:avLst>
              <a:gd name="adj" fmla="val 3750"/>
            </a:avLst>
          </a:prstGeom>
          <a:solidFill>
            <a:schemeClr val="bg2"/>
          </a:solidFill>
          <a:ln/>
        </p:spPr>
      </p:sp>
      <p:sp>
        <p:nvSpPr>
          <p:cNvPr id="4" name="icon-circle-187"/>
          <p:cNvSpPr/>
          <p:nvPr/>
        </p:nvSpPr>
        <p:spPr>
          <a:xfrm>
            <a:off x="822960" y="1783080"/>
            <a:ext cx="731520" cy="731520"/>
          </a:xfrm>
          <a:prstGeom prst="ellipse">
            <a:avLst/>
          </a:prstGeom>
          <a:solidFill>
            <a:schemeClr val="accent2"/>
          </a:solidFill>
          <a:ln/>
        </p:spPr>
      </p:sp>
      <p:pic>
        <p:nvPicPr>
          <p:cNvPr id="5" name="icon-brain-188" descr="brain icon">    </p:cNvPr>
          <p:cNvPicPr>
            <a:picLocks noChangeAspect="1"/>
          </p:cNvPicPr>
          <p:nvPr/>
        </p:nvPicPr>
        <p:blipFill>
          <a:blip r:embed="rId1"/>
          <a:stretch>
            <a:fillRect/>
          </a:stretch>
        </p:blipFill>
        <p:spPr>
          <a:xfrm>
            <a:off x="1005840" y="1965960"/>
            <a:ext cx="365760" cy="365760"/>
          </a:xfrm>
          <a:prstGeom prst="rect">
            <a:avLst/>
          </a:prstGeom>
        </p:spPr>
      </p:pic>
      <p:sp>
        <p:nvSpPr>
          <p:cNvPr id="6" name="Text 3"/>
          <p:cNvSpPr txBox="1"/>
          <p:nvPr/>
        </p:nvSpPr>
        <p:spPr>
          <a:xfrm>
            <a:off x="822960" y="2743200"/>
            <a:ext cx="2965704" cy="411480"/>
          </a:xfrm>
          <a:prstGeom prst="rect">
            <a:avLst/>
          </a:prstGeom>
          <a:noFill/>
          <a:ln/>
        </p:spPr>
        <p:txBody>
          <a:bodyPr wrap="square" lIns="0" tIns="0" rIns="0" bIns="0" rtlCol="0" anchor="t"/>
          <a:lstStyle/>
          <a:p>
            <a:pPr indent="0" marL="0">
              <a:buNone/>
            </a:pPr>
            <a:r>
              <a:rPr lang="en-US" sz="2000" b="1" dirty="0">
                <a:solidFill>
                  <a:schemeClr val="tx2"/>
                </a:solidFill>
              </a:rPr>
              <a:t>LLM as a last resort</a:t>
            </a:r>
            <a:endParaRPr lang="en-US" sz="2000" dirty="0"/>
          </a:p>
        </p:txBody>
      </p:sp>
      <p:sp>
        <p:nvSpPr>
          <p:cNvPr id="7" name="Text 4"/>
          <p:cNvSpPr txBox="1"/>
          <p:nvPr/>
        </p:nvSpPr>
        <p:spPr>
          <a:xfrm>
            <a:off x="822960" y="3291840"/>
            <a:ext cx="2965704" cy="1005840"/>
          </a:xfrm>
          <a:prstGeom prst="rect">
            <a:avLst/>
          </a:prstGeom>
          <a:noFill/>
          <a:ln/>
        </p:spPr>
        <p:txBody>
          <a:bodyPr wrap="square" lIns="0" tIns="0" rIns="0" bIns="0" rtlCol="0" anchor="t"/>
          <a:lstStyle/>
          <a:p>
            <a:pPr indent="0" marL="0">
              <a:buNone/>
            </a:pPr>
            <a:r>
              <a:rPr lang="en-US" sz="1400" dirty="0">
                <a:solidFill>
                  <a:schemeClr val="tx1"/>
                </a:solidFill>
              </a:rPr>
              <a:t>Cheap tiers answer first; the heavy model is called only when needed.</a:t>
            </a:r>
            <a:endParaRPr lang="en-US" sz="1400" dirty="0"/>
          </a:p>
        </p:txBody>
      </p:sp>
      <p:sp>
        <p:nvSpPr>
          <p:cNvPr id="8" name="card-189"/>
          <p:cNvSpPr/>
          <p:nvPr/>
        </p:nvSpPr>
        <p:spPr>
          <a:xfrm>
            <a:off x="4337304" y="1508760"/>
            <a:ext cx="3514344" cy="2926080"/>
          </a:xfrm>
          <a:prstGeom prst="roundRect">
            <a:avLst>
              <a:gd name="adj" fmla="val 3750"/>
            </a:avLst>
          </a:prstGeom>
          <a:solidFill>
            <a:schemeClr val="bg2"/>
          </a:solidFill>
          <a:ln/>
        </p:spPr>
      </p:sp>
      <p:sp>
        <p:nvSpPr>
          <p:cNvPr id="9" name="icon-circle-190"/>
          <p:cNvSpPr/>
          <p:nvPr/>
        </p:nvSpPr>
        <p:spPr>
          <a:xfrm>
            <a:off x="4611624" y="1783080"/>
            <a:ext cx="731520" cy="731520"/>
          </a:xfrm>
          <a:prstGeom prst="ellipse">
            <a:avLst/>
          </a:prstGeom>
          <a:solidFill>
            <a:schemeClr val="accent2"/>
          </a:solidFill>
          <a:ln/>
        </p:spPr>
      </p:sp>
      <p:pic>
        <p:nvPicPr>
          <p:cNvPr id="10" name="icon-cloud-191" descr="cloud icon">    </p:cNvPr>
          <p:cNvPicPr>
            <a:picLocks noChangeAspect="1"/>
          </p:cNvPicPr>
          <p:nvPr/>
        </p:nvPicPr>
        <p:blipFill>
          <a:blip r:embed="rId2"/>
          <a:stretch>
            <a:fillRect/>
          </a:stretch>
        </p:blipFill>
        <p:spPr>
          <a:xfrm>
            <a:off x="4794504" y="1965960"/>
            <a:ext cx="365760" cy="365760"/>
          </a:xfrm>
          <a:prstGeom prst="rect">
            <a:avLst/>
          </a:prstGeom>
        </p:spPr>
      </p:pic>
      <p:sp>
        <p:nvSpPr>
          <p:cNvPr id="11" name="Text 7"/>
          <p:cNvSpPr txBox="1"/>
          <p:nvPr/>
        </p:nvSpPr>
        <p:spPr>
          <a:xfrm>
            <a:off x="4611624" y="2743200"/>
            <a:ext cx="2965704" cy="411480"/>
          </a:xfrm>
          <a:prstGeom prst="rect">
            <a:avLst/>
          </a:prstGeom>
          <a:noFill/>
          <a:ln/>
        </p:spPr>
        <p:txBody>
          <a:bodyPr wrap="square" lIns="0" tIns="0" rIns="0" bIns="0" rtlCol="0" anchor="t"/>
          <a:lstStyle/>
          <a:p>
            <a:pPr indent="0" marL="0">
              <a:buNone/>
            </a:pPr>
            <a:r>
              <a:rPr lang="en-US" sz="2000" b="1" dirty="0">
                <a:solidFill>
                  <a:schemeClr val="tx2"/>
                </a:solidFill>
              </a:rPr>
              <a:t>Pay per use</a:t>
            </a:r>
            <a:endParaRPr lang="en-US" sz="2000" dirty="0"/>
          </a:p>
        </p:txBody>
      </p:sp>
      <p:sp>
        <p:nvSpPr>
          <p:cNvPr id="12" name="Text 8"/>
          <p:cNvSpPr txBox="1"/>
          <p:nvPr/>
        </p:nvSpPr>
        <p:spPr>
          <a:xfrm>
            <a:off x="4611624" y="3291840"/>
            <a:ext cx="2965704" cy="1005840"/>
          </a:xfrm>
          <a:prstGeom prst="rect">
            <a:avLst/>
          </a:prstGeom>
          <a:noFill/>
          <a:ln/>
        </p:spPr>
        <p:txBody>
          <a:bodyPr wrap="square" lIns="0" tIns="0" rIns="0" bIns="0" rtlCol="0" anchor="t"/>
          <a:lstStyle/>
          <a:p>
            <a:pPr indent="0" marL="0">
              <a:buNone/>
            </a:pPr>
            <a:r>
              <a:rPr lang="en-US" sz="1400" dirty="0">
                <a:solidFill>
                  <a:schemeClr val="tx1"/>
                </a:solidFill>
              </a:rPr>
              <a:t>Serverless compute (Lambda, SQS) instead of always-on servers.</a:t>
            </a:r>
            <a:endParaRPr lang="en-US" sz="1400" dirty="0"/>
          </a:p>
        </p:txBody>
      </p:sp>
      <p:sp>
        <p:nvSpPr>
          <p:cNvPr id="13" name="card-192"/>
          <p:cNvSpPr/>
          <p:nvPr/>
        </p:nvSpPr>
        <p:spPr>
          <a:xfrm>
            <a:off x="8125968" y="1508760"/>
            <a:ext cx="3514344" cy="2926080"/>
          </a:xfrm>
          <a:prstGeom prst="roundRect">
            <a:avLst>
              <a:gd name="adj" fmla="val 3750"/>
            </a:avLst>
          </a:prstGeom>
          <a:solidFill>
            <a:schemeClr val="bg2"/>
          </a:solidFill>
          <a:ln/>
        </p:spPr>
      </p:sp>
      <p:sp>
        <p:nvSpPr>
          <p:cNvPr id="14" name="icon-circle-193"/>
          <p:cNvSpPr/>
          <p:nvPr/>
        </p:nvSpPr>
        <p:spPr>
          <a:xfrm>
            <a:off x="8400288" y="1783080"/>
            <a:ext cx="731520" cy="731520"/>
          </a:xfrm>
          <a:prstGeom prst="ellipse">
            <a:avLst/>
          </a:prstGeom>
          <a:solidFill>
            <a:schemeClr val="accent2"/>
          </a:solidFill>
          <a:ln/>
        </p:spPr>
      </p:sp>
      <p:pic>
        <p:nvPicPr>
          <p:cNvPr id="15" name="icon-db-194" descr="db icon">    </p:cNvPr>
          <p:cNvPicPr>
            <a:picLocks noChangeAspect="1"/>
          </p:cNvPicPr>
          <p:nvPr/>
        </p:nvPicPr>
        <p:blipFill>
          <a:blip r:embed="rId3"/>
          <a:stretch>
            <a:fillRect/>
          </a:stretch>
        </p:blipFill>
        <p:spPr>
          <a:xfrm>
            <a:off x="8583168" y="1965960"/>
            <a:ext cx="365760" cy="365760"/>
          </a:xfrm>
          <a:prstGeom prst="rect">
            <a:avLst/>
          </a:prstGeom>
        </p:spPr>
      </p:pic>
      <p:sp>
        <p:nvSpPr>
          <p:cNvPr id="16" name="Text 11"/>
          <p:cNvSpPr txBox="1"/>
          <p:nvPr/>
        </p:nvSpPr>
        <p:spPr>
          <a:xfrm>
            <a:off x="8400288" y="2743200"/>
            <a:ext cx="2965704" cy="411480"/>
          </a:xfrm>
          <a:prstGeom prst="rect">
            <a:avLst/>
          </a:prstGeom>
          <a:noFill/>
          <a:ln/>
        </p:spPr>
        <p:txBody>
          <a:bodyPr wrap="square" lIns="0" tIns="0" rIns="0" bIns="0" rtlCol="0" anchor="t"/>
          <a:lstStyle/>
          <a:p>
            <a:pPr indent="0" marL="0">
              <a:buNone/>
            </a:pPr>
            <a:r>
              <a:rPr lang="en-US" sz="2000" b="1" dirty="0">
                <a:solidFill>
                  <a:schemeClr val="tx2"/>
                </a:solidFill>
              </a:rPr>
              <a:t>One shared database</a:t>
            </a:r>
            <a:endParaRPr lang="en-US" sz="2000" dirty="0"/>
          </a:p>
        </p:txBody>
      </p:sp>
      <p:sp>
        <p:nvSpPr>
          <p:cNvPr id="17" name="Text 12"/>
          <p:cNvSpPr txBox="1"/>
          <p:nvPr/>
        </p:nvSpPr>
        <p:spPr>
          <a:xfrm>
            <a:off x="8400288" y="3291840"/>
            <a:ext cx="2965704" cy="1005840"/>
          </a:xfrm>
          <a:prstGeom prst="rect">
            <a:avLst/>
          </a:prstGeom>
          <a:noFill/>
          <a:ln/>
        </p:spPr>
        <p:txBody>
          <a:bodyPr wrap="square" lIns="0" tIns="0" rIns="0" bIns="0" rtlCol="0" anchor="t"/>
          <a:lstStyle/>
          <a:p>
            <a:pPr indent="0" marL="0">
              <a:buNone/>
            </a:pPr>
            <a:r>
              <a:rPr lang="en-US" sz="1400" dirty="0">
                <a:solidFill>
                  <a:schemeClr val="tx1"/>
                </a:solidFill>
              </a:rPr>
              <a:t>Shared platform tables plus a private schema per home on one RDS instance, not an instance per home.</a:t>
            </a:r>
            <a:endParaRPr lang="en-US" sz="1400" dirty="0"/>
          </a:p>
        </p:txBody>
      </p:sp>
      <p:sp>
        <p:nvSpPr>
          <p:cNvPr id="18" name="card-195"/>
          <p:cNvSpPr/>
          <p:nvPr/>
        </p:nvSpPr>
        <p:spPr>
          <a:xfrm>
            <a:off x="548640" y="4663440"/>
            <a:ext cx="11091672" cy="1280160"/>
          </a:xfrm>
          <a:prstGeom prst="roundRect">
            <a:avLst>
              <a:gd name="adj" fmla="val 8571"/>
            </a:avLst>
          </a:prstGeom>
          <a:solidFill>
            <a:schemeClr val="tx2"/>
          </a:solidFill>
          <a:ln/>
        </p:spPr>
      </p:sp>
      <p:sp>
        <p:nvSpPr>
          <p:cNvPr id="19" name="icon-circle-196"/>
          <p:cNvSpPr/>
          <p:nvPr/>
        </p:nvSpPr>
        <p:spPr>
          <a:xfrm>
            <a:off x="822960" y="5029200"/>
            <a:ext cx="548640" cy="548640"/>
          </a:xfrm>
          <a:prstGeom prst="ellipse">
            <a:avLst/>
          </a:prstGeom>
          <a:solidFill>
            <a:schemeClr val="accent1"/>
          </a:solidFill>
          <a:ln/>
        </p:spPr>
      </p:sp>
      <p:pic>
        <p:nvPicPr>
          <p:cNvPr id="20" name="icon-warn-197" descr="warn icon">    </p:cNvPr>
          <p:cNvPicPr>
            <a:picLocks noChangeAspect="1"/>
          </p:cNvPicPr>
          <p:nvPr/>
        </p:nvPicPr>
        <p:blipFill>
          <a:blip r:embed="rId4"/>
          <a:stretch>
            <a:fillRect/>
          </a:stretch>
        </p:blipFill>
        <p:spPr>
          <a:xfrm>
            <a:off x="960120" y="5166360"/>
            <a:ext cx="274320" cy="274320"/>
          </a:xfrm>
          <a:prstGeom prst="rect">
            <a:avLst/>
          </a:prstGeom>
        </p:spPr>
      </p:pic>
      <p:sp>
        <p:nvSpPr>
          <p:cNvPr id="21" name="Text 15"/>
          <p:cNvSpPr txBox="1"/>
          <p:nvPr/>
        </p:nvSpPr>
        <p:spPr>
          <a:xfrm>
            <a:off x="1645920" y="4846320"/>
            <a:ext cx="9601200" cy="365760"/>
          </a:xfrm>
          <a:prstGeom prst="rect">
            <a:avLst/>
          </a:prstGeom>
          <a:noFill/>
          <a:ln/>
        </p:spPr>
        <p:txBody>
          <a:bodyPr wrap="square" lIns="0" tIns="0" rIns="0" bIns="0" rtlCol="0" anchor="t"/>
          <a:lstStyle/>
          <a:p>
            <a:pPr indent="0" marL="0">
              <a:buNone/>
            </a:pPr>
            <a:r>
              <a:rPr lang="en-US" sz="1800" b="1" dirty="0">
                <a:solidFill>
                  <a:schemeClr val="bg1"/>
                </a:solidFill>
              </a:rPr>
              <a:t>What could push cost above the €10 target</a:t>
            </a:r>
            <a:endParaRPr lang="en-US" sz="1800" dirty="0"/>
          </a:p>
        </p:txBody>
      </p:sp>
      <p:sp>
        <p:nvSpPr>
          <p:cNvPr id="22" name="Text 16"/>
          <p:cNvSpPr txBox="1"/>
          <p:nvPr/>
        </p:nvSpPr>
        <p:spPr>
          <a:xfrm>
            <a:off x="1645920" y="5303520"/>
            <a:ext cx="9601200" cy="457200"/>
          </a:xfrm>
          <a:prstGeom prst="rect">
            <a:avLst/>
          </a:prstGeom>
          <a:noFill/>
          <a:ln/>
        </p:spPr>
        <p:txBody>
          <a:bodyPr wrap="square" lIns="0" tIns="0" rIns="0" bIns="0" rtlCol="0" anchor="t"/>
          <a:lstStyle/>
          <a:p>
            <a:pPr indent="0" marL="0">
              <a:buNone/>
            </a:pPr>
            <a:r>
              <a:rPr lang="en-US" sz="1400" dirty="0">
                <a:solidFill>
                  <a:schemeClr val="bg1"/>
                </a:solidFill>
              </a:rPr>
              <a:t>Always-on operation, voice, and image or document generation. Per-home usage must be measured before the number is final.</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Target: €20 a month, €10 to run</a:t>
            </a:r>
            <a:endParaRPr lang="en-US" sz="3600" dirty="0"/>
          </a:p>
        </p:txBody>
      </p:sp>
      <p:sp>
        <p:nvSpPr>
          <p:cNvPr id="3" name="card-198"/>
          <p:cNvSpPr/>
          <p:nvPr/>
        </p:nvSpPr>
        <p:spPr>
          <a:xfrm>
            <a:off x="548640" y="1508760"/>
            <a:ext cx="3514344" cy="1783080"/>
          </a:xfrm>
          <a:prstGeom prst="roundRect">
            <a:avLst>
              <a:gd name="adj" fmla="val 6154"/>
            </a:avLst>
          </a:prstGeom>
          <a:solidFill>
            <a:schemeClr val="tx2"/>
          </a:solidFill>
          <a:ln/>
        </p:spPr>
      </p:sp>
      <p:sp>
        <p:nvSpPr>
          <p:cNvPr id="4" name="Text 2"/>
          <p:cNvSpPr txBox="1"/>
          <p:nvPr/>
        </p:nvSpPr>
        <p:spPr>
          <a:xfrm>
            <a:off x="822960" y="1645920"/>
            <a:ext cx="2965704"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€20</a:t>
            </a:r>
            <a:endParaRPr lang="en-US" sz="5400" dirty="0"/>
          </a:p>
        </p:txBody>
      </p:sp>
      <p:sp>
        <p:nvSpPr>
          <p:cNvPr id="5" name="Text 3"/>
          <p:cNvSpPr txBox="1"/>
          <p:nvPr/>
        </p:nvSpPr>
        <p:spPr>
          <a:xfrm>
            <a:off x="822960" y="2651760"/>
            <a:ext cx="2965704" cy="457200"/>
          </a:xfrm>
          <a:prstGeom prst="rect">
            <a:avLst/>
          </a:prstGeom>
          <a:noFill/>
          <a:ln/>
        </p:spPr>
        <p:txBody>
          <a:bodyPr wrap="square" lIns="0" tIns="0" rIns="0" bIns="0" rtlCol="0" anchor="t"/>
          <a:lstStyle/>
          <a:p>
            <a:pPr indent="0" marL="0">
              <a:buNone/>
            </a:pPr>
            <a:r>
              <a:rPr lang="en-US" sz="1400" dirty="0">
                <a:solidFill>
                  <a:schemeClr val="bg1"/>
                </a:solidFill>
              </a:rPr>
              <a:t>Target subscription per home, per month</a:t>
            </a:r>
            <a:endParaRPr lang="en-US" sz="1400" dirty="0"/>
          </a:p>
        </p:txBody>
      </p:sp>
      <p:sp>
        <p:nvSpPr>
          <p:cNvPr id="6" name="card-199"/>
          <p:cNvSpPr/>
          <p:nvPr/>
        </p:nvSpPr>
        <p:spPr>
          <a:xfrm>
            <a:off x="4337304" y="1508760"/>
            <a:ext cx="3514344" cy="1783080"/>
          </a:xfrm>
          <a:prstGeom prst="roundRect">
            <a:avLst>
              <a:gd name="adj" fmla="val 6154"/>
            </a:avLst>
          </a:prstGeom>
          <a:solidFill>
            <a:schemeClr val="bg2"/>
          </a:solidFill>
          <a:ln/>
        </p:spPr>
      </p:sp>
      <p:sp>
        <p:nvSpPr>
          <p:cNvPr id="7" name="Text 5"/>
          <p:cNvSpPr txBox="1"/>
          <p:nvPr/>
        </p:nvSpPr>
        <p:spPr>
          <a:xfrm>
            <a:off x="4611624" y="1645920"/>
            <a:ext cx="2965704" cy="914400"/>
          </a:xfrm>
          <a:prstGeom prst="rect">
            <a:avLst/>
          </a:prstGeom>
          <a:noFill/>
          <a:ln/>
        </p:spPr>
        <p:txBody>
          <a:bodyPr wrap="square" lIns="0" tIns="0" rIns="0" bIns="0" rtlCol="0" anchor="ctr"/>
          <a:lstStyle/>
          <a:p>
            <a:pPr indent="0" marL="0">
              <a:buNone/>
            </a:pPr>
            <a:r>
              <a:rPr lang="en-US" sz="5400" b="1" dirty="0">
                <a:solidFill>
                  <a:schemeClr val="tx2"/>
                </a:solidFill>
                <a:latin typeface="Cambria" pitchFamily="34" charset="0"/>
                <a:ea typeface="Cambria" pitchFamily="34" charset="-122"/>
                <a:cs typeface="Cambria" pitchFamily="34" charset="-120"/>
              </a:rPr>
              <a:t>€10</a:t>
            </a:r>
            <a:endParaRPr lang="en-US" sz="5400" dirty="0"/>
          </a:p>
        </p:txBody>
      </p:sp>
      <p:sp>
        <p:nvSpPr>
          <p:cNvPr id="8" name="Text 6"/>
          <p:cNvSpPr txBox="1"/>
          <p:nvPr/>
        </p:nvSpPr>
        <p:spPr>
          <a:xfrm>
            <a:off x="4611624" y="2651760"/>
            <a:ext cx="2965704" cy="457200"/>
          </a:xfrm>
          <a:prstGeom prst="rect">
            <a:avLst/>
          </a:prstGeom>
          <a:noFill/>
          <a:ln/>
        </p:spPr>
        <p:txBody>
          <a:bodyPr wrap="square" lIns="0" tIns="0" rIns="0" bIns="0" rtlCol="0" anchor="t"/>
          <a:lstStyle/>
          <a:p>
            <a:pPr indent="0" marL="0">
              <a:buNone/>
            </a:pPr>
            <a:r>
              <a:rPr lang="en-US" sz="1400" dirty="0">
                <a:solidFill>
                  <a:schemeClr val="tx2"/>
                </a:solidFill>
              </a:rPr>
              <a:t>Target running cost per home, per month</a:t>
            </a:r>
            <a:endParaRPr lang="en-US" sz="1400" dirty="0"/>
          </a:p>
        </p:txBody>
      </p:sp>
      <p:sp>
        <p:nvSpPr>
          <p:cNvPr id="9" name="card-200"/>
          <p:cNvSpPr/>
          <p:nvPr/>
        </p:nvSpPr>
        <p:spPr>
          <a:xfrm>
            <a:off x="8125968" y="1508760"/>
            <a:ext cx="3514344" cy="1783080"/>
          </a:xfrm>
          <a:prstGeom prst="roundRect">
            <a:avLst>
              <a:gd name="adj" fmla="val 6154"/>
            </a:avLst>
          </a:prstGeom>
          <a:solidFill>
            <a:schemeClr val="accent1"/>
          </a:solidFill>
          <a:ln/>
        </p:spPr>
      </p:sp>
      <p:sp>
        <p:nvSpPr>
          <p:cNvPr id="10" name="Text 8"/>
          <p:cNvSpPr txBox="1"/>
          <p:nvPr/>
        </p:nvSpPr>
        <p:spPr>
          <a:xfrm>
            <a:off x="8400288" y="1645920"/>
            <a:ext cx="2965704"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€10</a:t>
            </a:r>
            <a:endParaRPr lang="en-US" sz="5400" dirty="0"/>
          </a:p>
        </p:txBody>
      </p:sp>
      <p:sp>
        <p:nvSpPr>
          <p:cNvPr id="11" name="Text 9"/>
          <p:cNvSpPr txBox="1"/>
          <p:nvPr/>
        </p:nvSpPr>
        <p:spPr>
          <a:xfrm>
            <a:off x="8400288" y="2651760"/>
            <a:ext cx="2965704" cy="457200"/>
          </a:xfrm>
          <a:prstGeom prst="rect">
            <a:avLst/>
          </a:prstGeom>
          <a:noFill/>
          <a:ln/>
        </p:spPr>
        <p:txBody>
          <a:bodyPr wrap="square" lIns="0" tIns="0" rIns="0" bIns="0" rtlCol="0" anchor="t"/>
          <a:lstStyle/>
          <a:p>
            <a:pPr indent="0" marL="0">
              <a:buNone/>
            </a:pPr>
            <a:r>
              <a:rPr lang="en-US" sz="1400" dirty="0">
                <a:solidFill>
                  <a:schemeClr val="bg1"/>
                </a:solidFill>
              </a:rPr>
              <a:t>Margin per home, per month</a:t>
            </a:r>
            <a:endParaRPr lang="en-US" sz="1400" dirty="0"/>
          </a:p>
        </p:txBody>
      </p:sp>
      <p:graphicFrame>
        <p:nvGraphicFramePr>
          <p:cNvPr id="20" name="scale-table"/>
          <p:cNvGraphicFramePr>
            <a:graphicFrameLocks noGrp="1"/>
          </p:cNvGraphicFramePr>
          <p:nvPr>
            <p:extLst>
              <p:ext uri="{D42A27DB-BD31-4B8C-83A1-F6EECF244321}">
                <p14:modId xmlns:p14="http://schemas.microsoft.com/office/powerpoint/2010/main" val="1579011935"/>
              </p:ext>
            </p:extLst>
          </p:nvPr>
        </p:nvGraphicFramePr>
        <p:xfrm>
          <a:off x="548640" y="3611880"/>
          <a:ext cx="6949440" cy="914400"/>
        </p:xfrm>
        <a:graphic>
          <a:graphicData uri="http://schemas.openxmlformats.org/drawingml/2006/table">
            <a:tbl>
              <a:tblPr/>
              <a:tblGrid>
                <a:gridCol w="2011680"/>
                <a:gridCol w="2468880"/>
                <a:gridCol w="2468880"/>
              </a:tblGrid>
              <a:tr h="457200">
                <a:tc>
                  <a:txBody>
                    <a:bodyPr/>
                    <a:lstStyle/>
                    <a:p>
                      <a:pPr indent="0" marL="0">
                        <a:buNone/>
                      </a:pPr>
                      <a:r>
                        <a:rPr lang="en-US" sz="1400" b="1" dirty="0">
                          <a:solidFill>
                            <a:srgbClr val="FFFFFF"/>
                          </a:solidFill>
                        </a:rPr>
                        <a:t>Homes</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1D3B3A"/>
                    </a:solidFill>
                  </a:tcPr>
                </a:tc>
                <a:tc>
                  <a:txBody>
                    <a:bodyPr/>
                    <a:lstStyle/>
                    <a:p>
                      <a:pPr indent="0" marL="0">
                        <a:buNone/>
                      </a:pPr>
                      <a:r>
                        <a:rPr lang="en-US" sz="1400" b="1" dirty="0">
                          <a:solidFill>
                            <a:srgbClr val="FFFFFF"/>
                          </a:solidFill>
                        </a:rPr>
                        <a:t>Revenue per month</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1D3B3A"/>
                    </a:solidFill>
                  </a:tcPr>
                </a:tc>
                <a:tc>
                  <a:txBody>
                    <a:bodyPr/>
                    <a:lstStyle/>
                    <a:p>
                      <a:pPr indent="0" marL="0">
                        <a:buNone/>
                      </a:pPr>
                      <a:r>
                        <a:rPr lang="en-US" sz="1400" b="1" dirty="0">
                          <a:solidFill>
                            <a:srgbClr val="FFFFFF"/>
                          </a:solidFill>
                        </a:rPr>
                        <a:t>Margin per month</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1D3B3A"/>
                    </a:solidFill>
                  </a:tcPr>
                </a:tc>
              </a:tr>
              <a:tr h="457200">
                <a:tc>
                  <a:txBody>
                    <a:bodyPr/>
                    <a:lstStyle/>
                    <a:p>
                      <a:pPr indent="0" marL="0">
                        <a:buNone/>
                      </a:pPr>
                      <a:r>
                        <a:rPr lang="en-US" sz="1400" dirty="0">
                          <a:solidFill>
                            <a:srgbClr val="1B2B2A"/>
                          </a:solidFill>
                        </a:rPr>
                        <a:t>100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€2,000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€1,000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B2A"/>
                          </a:solidFill>
                        </a:rPr>
                        <a:t>1,000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€20,000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c>
                  <a:txBody>
                    <a:bodyPr/>
                    <a:lstStyle/>
                    <a:p>
                      <a:pPr indent="0" marL="0">
                        <a:buNone/>
                      </a:pPr>
                      <a:r>
                        <a:rPr lang="en-US" sz="1400" dirty="0">
                          <a:solidFill>
                            <a:srgbClr val="1B2B2A"/>
                          </a:solidFill>
                        </a:rPr>
                        <a:t>€10,000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EDF3F1"/>
                    </a:solidFill>
                  </a:tcPr>
                </a:tc>
              </a:tr>
              <a:tr h="457200">
                <a:tc>
                  <a:txBody>
                    <a:bodyPr/>
                    <a:lstStyle/>
                    <a:p>
                      <a:pPr indent="0" marL="0">
                        <a:buNone/>
                      </a:pPr>
                      <a:r>
                        <a:rPr lang="en-US" sz="1400" dirty="0">
                          <a:solidFill>
                            <a:srgbClr val="1B2B2A"/>
                          </a:solidFill>
                        </a:rPr>
                        <a:t>10,000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€200,000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c>
                  <a:txBody>
                    <a:bodyPr/>
                    <a:lstStyle/>
                    <a:p>
                      <a:pPr indent="0" marL="0">
                        <a:buNone/>
                      </a:pPr>
                      <a:r>
                        <a:rPr lang="en-US" sz="1400" dirty="0">
                          <a:solidFill>
                            <a:srgbClr val="1B2B2A"/>
                          </a:solidFill>
                        </a:rPr>
                        <a:t>€100,000</a:t>
                      </a:r>
                      <a:endParaRPr lang="en-US" sz="1400" dirty="0"/>
                    </a:p>
                  </a:txBody>
                  <a:tcPr marL="91440" marR="91440" marT="45720" marB="45720" anchor="ctr">
                    <a:lnL w="9525" cap="flat" cmpd="sng" algn="ctr">
                      <a:solidFill>
                        <a:srgbClr val="D5DEDA"/>
                      </a:solidFill>
                      <a:prstDash val="solid"/>
                      <a:round/>
                      <a:headEnd type="none" w="med" len="med"/>
                      <a:tailEnd type="none" w="med" len="med"/>
                    </a:lnL>
                    <a:lnR w="9525" cap="flat" cmpd="sng" algn="ctr">
                      <a:solidFill>
                        <a:srgbClr val="D5DEDA"/>
                      </a:solidFill>
                      <a:prstDash val="solid"/>
                      <a:round/>
                      <a:headEnd type="none" w="med" len="med"/>
                      <a:tailEnd type="none" w="med" len="med"/>
                    </a:lnR>
                    <a:lnT w="9525" cap="flat" cmpd="sng" algn="ctr">
                      <a:solidFill>
                        <a:srgbClr val="D5DEDA"/>
                      </a:solidFill>
                      <a:prstDash val="solid"/>
                      <a:round/>
                      <a:headEnd type="none" w="med" len="med"/>
                      <a:tailEnd type="none" w="med" len="med"/>
                    </a:lnT>
                    <a:lnB w="9525" cap="flat" cmpd="sng" algn="ctr">
                      <a:solidFill>
                        <a:srgbClr val="D5DEDA"/>
                      </a:solidFill>
                      <a:prstDash val="solid"/>
                      <a:round/>
                      <a:headEnd type="none" w="med" len="med"/>
                      <a:tailEnd type="none" w="med" len="med"/>
                    </a:lnB>
                    <a:solidFill>
                      <a:srgbClr val="FFFFFF"/>
                    </a:solidFill>
                  </a:tcPr>
                </a:tc>
              </a:tr>
            </a:tbl>
          </a:graphicData>
        </a:graphic>
      </p:graphicFrame>
      <p:sp>
        <p:nvSpPr>
          <p:cNvPr id="13" name="card-201"/>
          <p:cNvSpPr/>
          <p:nvPr/>
        </p:nvSpPr>
        <p:spPr>
          <a:xfrm>
            <a:off x="7772400" y="3611880"/>
            <a:ext cx="3867912" cy="2194560"/>
          </a:xfrm>
          <a:prstGeom prst="roundRect">
            <a:avLst>
              <a:gd name="adj" fmla="val 5000"/>
            </a:avLst>
          </a:prstGeom>
          <a:solidFill>
            <a:schemeClr val="bg2"/>
          </a:solidFill>
          <a:ln/>
        </p:spPr>
      </p:sp>
      <p:sp>
        <p:nvSpPr>
          <p:cNvPr id="14" name="Text 11"/>
          <p:cNvSpPr txBox="1"/>
          <p:nvPr/>
        </p:nvSpPr>
        <p:spPr>
          <a:xfrm>
            <a:off x="8046720" y="3794760"/>
            <a:ext cx="3383280" cy="365760"/>
          </a:xfrm>
          <a:prstGeom prst="rect">
            <a:avLst/>
          </a:prstGeom>
          <a:noFill/>
          <a:ln/>
        </p:spPr>
        <p:txBody>
          <a:bodyPr wrap="square" lIns="0" tIns="0" rIns="0" bIns="0" rtlCol="0" anchor="t"/>
          <a:lstStyle/>
          <a:p>
            <a:pPr indent="0" marL="0">
              <a:buNone/>
            </a:pPr>
            <a:r>
              <a:rPr lang="en-US" sz="1800" b="1" dirty="0">
                <a:solidFill>
                  <a:schemeClr val="tx2"/>
                </a:solidFill>
              </a:rPr>
              <a:t>Illustrative only</a:t>
            </a:r>
            <a:endParaRPr lang="en-US" sz="1800" dirty="0"/>
          </a:p>
        </p:txBody>
      </p:sp>
      <p:sp>
        <p:nvSpPr>
          <p:cNvPr id="15" name="Text 12"/>
          <p:cNvSpPr txBox="1"/>
          <p:nvPr/>
        </p:nvSpPr>
        <p:spPr>
          <a:xfrm>
            <a:off x="8046720" y="4251960"/>
            <a:ext cx="3383280" cy="1371600"/>
          </a:xfrm>
          <a:prstGeom prst="rect">
            <a:avLst/>
          </a:prstGeom>
          <a:noFill/>
          <a:ln/>
        </p:spPr>
        <p:txBody>
          <a:bodyPr wrap="square" lIns="0" tIns="0" rIns="0" bIns="0" rtlCol="0" anchor="t"/>
          <a:lstStyle/>
          <a:p>
            <a:pPr indent="0" marL="0">
              <a:buNone/>
            </a:pPr>
            <a:r>
              <a:rPr lang="en-US" sz="1400" dirty="0">
                <a:solidFill>
                  <a:schemeClr val="tx1"/>
                </a:solidFill>
              </a:rPr>
              <a:t>Assumes a €10 margin per home. VAT and payment fees are not included, and the deal structure with David is not reflected.</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Future work: the product experience</a:t>
            </a:r>
            <a:endParaRPr lang="en-US" sz="3600" dirty="0"/>
          </a:p>
        </p:txBody>
      </p:sp>
      <p:sp>
        <p:nvSpPr>
          <p:cNvPr id="3" name="card-202"/>
          <p:cNvSpPr/>
          <p:nvPr/>
        </p:nvSpPr>
        <p:spPr>
          <a:xfrm>
            <a:off x="548640" y="1508760"/>
            <a:ext cx="5408676" cy="2103120"/>
          </a:xfrm>
          <a:prstGeom prst="roundRect">
            <a:avLst>
              <a:gd name="adj" fmla="val 5217"/>
            </a:avLst>
          </a:prstGeom>
          <a:solidFill>
            <a:schemeClr val="bg2"/>
          </a:solidFill>
          <a:ln/>
        </p:spPr>
      </p:sp>
      <p:sp>
        <p:nvSpPr>
          <p:cNvPr id="4" name="icon-circle-203"/>
          <p:cNvSpPr/>
          <p:nvPr/>
        </p:nvSpPr>
        <p:spPr>
          <a:xfrm>
            <a:off x="868680" y="2148840"/>
            <a:ext cx="822960" cy="822960"/>
          </a:xfrm>
          <a:prstGeom prst="ellipse">
            <a:avLst/>
          </a:prstGeom>
          <a:solidFill>
            <a:schemeClr val="accent1"/>
          </a:solidFill>
          <a:ln/>
        </p:spPr>
      </p:sp>
      <p:pic>
        <p:nvPicPr>
          <p:cNvPr id="5" name="icon-mobile-204" descr="mobile icon">    </p:cNvPr>
          <p:cNvPicPr>
            <a:picLocks noChangeAspect="1"/>
          </p:cNvPicPr>
          <p:nvPr/>
        </p:nvPicPr>
        <p:blipFill>
          <a:blip r:embed="rId1"/>
          <a:stretch>
            <a:fillRect/>
          </a:stretch>
        </p:blipFill>
        <p:spPr>
          <a:xfrm>
            <a:off x="1074420" y="2354580"/>
            <a:ext cx="411480" cy="411480"/>
          </a:xfrm>
          <a:prstGeom prst="rect">
            <a:avLst/>
          </a:prstGeom>
        </p:spPr>
      </p:pic>
      <p:sp>
        <p:nvSpPr>
          <p:cNvPr id="6" name="Text 3"/>
          <p:cNvSpPr txBox="1"/>
          <p:nvPr/>
        </p:nvSpPr>
        <p:spPr>
          <a:xfrm>
            <a:off x="2011680" y="1737360"/>
            <a:ext cx="3671316" cy="731520"/>
          </a:xfrm>
          <a:prstGeom prst="rect">
            <a:avLst/>
          </a:prstGeom>
          <a:noFill/>
          <a:ln/>
        </p:spPr>
        <p:txBody>
          <a:bodyPr wrap="square" lIns="0" tIns="0" rIns="0" bIns="0" rtlCol="0" anchor="ctr"/>
          <a:lstStyle/>
          <a:p>
            <a:pPr indent="0" marL="0">
              <a:buNone/>
            </a:pPr>
            <a:r>
              <a:rPr lang="en-US" sz="2000" b="1" dirty="0">
                <a:solidFill>
                  <a:schemeClr val="tx2"/>
                </a:solidFill>
              </a:rPr>
              <a:t>Its own app and website</a:t>
            </a:r>
            <a:endParaRPr lang="en-US" sz="2000" dirty="0"/>
          </a:p>
        </p:txBody>
      </p:sp>
      <p:sp>
        <p:nvSpPr>
          <p:cNvPr id="7" name="Text 4"/>
          <p:cNvSpPr txBox="1"/>
          <p:nvPr/>
        </p:nvSpPr>
        <p:spPr>
          <a:xfrm>
            <a:off x="2011680" y="2560320"/>
            <a:ext cx="3671316" cy="868680"/>
          </a:xfrm>
          <a:prstGeom prst="rect">
            <a:avLst/>
          </a:prstGeom>
          <a:noFill/>
          <a:ln/>
        </p:spPr>
        <p:txBody>
          <a:bodyPr wrap="square" lIns="0" tIns="0" rIns="0" bIns="0" rtlCol="0" anchor="t"/>
          <a:lstStyle/>
          <a:p>
            <a:pPr indent="0" marL="0">
              <a:buNone/>
            </a:pPr>
            <a:r>
              <a:rPr lang="en-US" sz="1400" dirty="0">
                <a:solidFill>
                  <a:schemeClr val="tx1"/>
                </a:solidFill>
              </a:rPr>
              <a:t>Today the interface is Slack. Homes need a dedicated app and web experience.</a:t>
            </a:r>
            <a:endParaRPr lang="en-US" sz="1400" dirty="0"/>
          </a:p>
        </p:txBody>
      </p:sp>
      <p:sp>
        <p:nvSpPr>
          <p:cNvPr id="8" name="card-205"/>
          <p:cNvSpPr/>
          <p:nvPr/>
        </p:nvSpPr>
        <p:spPr>
          <a:xfrm>
            <a:off x="6231636" y="1508760"/>
            <a:ext cx="5408676" cy="2103120"/>
          </a:xfrm>
          <a:prstGeom prst="roundRect">
            <a:avLst>
              <a:gd name="adj" fmla="val 5217"/>
            </a:avLst>
          </a:prstGeom>
          <a:solidFill>
            <a:schemeClr val="bg2"/>
          </a:solidFill>
          <a:ln/>
        </p:spPr>
      </p:sp>
      <p:sp>
        <p:nvSpPr>
          <p:cNvPr id="9" name="icon-circle-206"/>
          <p:cNvSpPr/>
          <p:nvPr/>
        </p:nvSpPr>
        <p:spPr>
          <a:xfrm>
            <a:off x="6551676" y="2148840"/>
            <a:ext cx="822960" cy="822960"/>
          </a:xfrm>
          <a:prstGeom prst="ellipse">
            <a:avLst/>
          </a:prstGeom>
          <a:solidFill>
            <a:schemeClr val="accent2"/>
          </a:solidFill>
          <a:ln/>
        </p:spPr>
      </p:sp>
      <p:pic>
        <p:nvPicPr>
          <p:cNvPr id="10" name="icon-bolt-207" descr="bolt icon">    </p:cNvPr>
          <p:cNvPicPr>
            <a:picLocks noChangeAspect="1"/>
          </p:cNvPicPr>
          <p:nvPr/>
        </p:nvPicPr>
        <p:blipFill>
          <a:blip r:embed="rId2"/>
          <a:stretch>
            <a:fillRect/>
          </a:stretch>
        </p:blipFill>
        <p:spPr>
          <a:xfrm>
            <a:off x="6757416" y="2354580"/>
            <a:ext cx="411480" cy="411480"/>
          </a:xfrm>
          <a:prstGeom prst="rect">
            <a:avLst/>
          </a:prstGeom>
        </p:spPr>
      </p:pic>
      <p:sp>
        <p:nvSpPr>
          <p:cNvPr id="11" name="Text 7"/>
          <p:cNvSpPr txBox="1"/>
          <p:nvPr/>
        </p:nvSpPr>
        <p:spPr>
          <a:xfrm>
            <a:off x="7694676" y="1737360"/>
            <a:ext cx="3671316" cy="731520"/>
          </a:xfrm>
          <a:prstGeom prst="rect">
            <a:avLst/>
          </a:prstGeom>
          <a:noFill/>
          <a:ln/>
        </p:spPr>
        <p:txBody>
          <a:bodyPr wrap="square" lIns="0" tIns="0" rIns="0" bIns="0" rtlCol="0" anchor="ctr"/>
          <a:lstStyle/>
          <a:p>
            <a:pPr indent="0" marL="0">
              <a:buNone/>
            </a:pPr>
            <a:r>
              <a:rPr lang="en-US" sz="2000" b="1" dirty="0">
                <a:solidFill>
                  <a:schemeClr val="tx2"/>
                </a:solidFill>
              </a:rPr>
              <a:t>Always on</a:t>
            </a:r>
            <a:endParaRPr lang="en-US" sz="2000" dirty="0"/>
          </a:p>
        </p:txBody>
      </p:sp>
      <p:sp>
        <p:nvSpPr>
          <p:cNvPr id="12" name="Text 8"/>
          <p:cNvSpPr txBox="1"/>
          <p:nvPr/>
        </p:nvSpPr>
        <p:spPr>
          <a:xfrm>
            <a:off x="7694676" y="2560320"/>
            <a:ext cx="3671316" cy="868680"/>
          </a:xfrm>
          <a:prstGeom prst="rect">
            <a:avLst/>
          </a:prstGeom>
          <a:noFill/>
          <a:ln/>
        </p:spPr>
        <p:txBody>
          <a:bodyPr wrap="square" lIns="0" tIns="0" rIns="0" bIns="0" rtlCol="0" anchor="t"/>
          <a:lstStyle/>
          <a:p>
            <a:pPr indent="0" marL="0">
              <a:buNone/>
            </a:pPr>
            <a:r>
              <a:rPr lang="en-US" sz="1400" dirty="0">
                <a:solidFill>
                  <a:schemeClr val="tx1"/>
                </a:solidFill>
              </a:rPr>
              <a:t>Available at any moment, like dots or Alexa, not only when a chat is open.</a:t>
            </a:r>
            <a:endParaRPr lang="en-US" sz="1400" dirty="0"/>
          </a:p>
        </p:txBody>
      </p:sp>
      <p:sp>
        <p:nvSpPr>
          <p:cNvPr id="13" name="card-208"/>
          <p:cNvSpPr/>
          <p:nvPr/>
        </p:nvSpPr>
        <p:spPr>
          <a:xfrm>
            <a:off x="548640" y="3886200"/>
            <a:ext cx="5408676" cy="2103120"/>
          </a:xfrm>
          <a:prstGeom prst="roundRect">
            <a:avLst>
              <a:gd name="adj" fmla="val 5217"/>
            </a:avLst>
          </a:prstGeom>
          <a:solidFill>
            <a:schemeClr val="bg2"/>
          </a:solidFill>
          <a:ln/>
        </p:spPr>
      </p:sp>
      <p:sp>
        <p:nvSpPr>
          <p:cNvPr id="14" name="icon-circle-209"/>
          <p:cNvSpPr/>
          <p:nvPr/>
        </p:nvSpPr>
        <p:spPr>
          <a:xfrm>
            <a:off x="868680" y="4526280"/>
            <a:ext cx="822960" cy="822960"/>
          </a:xfrm>
          <a:prstGeom prst="ellipse">
            <a:avLst/>
          </a:prstGeom>
          <a:solidFill>
            <a:schemeClr val="accent2"/>
          </a:solidFill>
          <a:ln/>
        </p:spPr>
      </p:sp>
      <p:pic>
        <p:nvPicPr>
          <p:cNvPr id="15" name="icon-camera-210" descr="camera icon">    </p:cNvPr>
          <p:cNvPicPr>
            <a:picLocks noChangeAspect="1"/>
          </p:cNvPicPr>
          <p:nvPr/>
        </p:nvPicPr>
        <p:blipFill>
          <a:blip r:embed="rId3"/>
          <a:stretch>
            <a:fillRect/>
          </a:stretch>
        </p:blipFill>
        <p:spPr>
          <a:xfrm>
            <a:off x="1074420" y="4732020"/>
            <a:ext cx="411480" cy="411480"/>
          </a:xfrm>
          <a:prstGeom prst="rect">
            <a:avLst/>
          </a:prstGeom>
        </p:spPr>
      </p:pic>
      <p:sp>
        <p:nvSpPr>
          <p:cNvPr id="16" name="Text 11"/>
          <p:cNvSpPr txBox="1"/>
          <p:nvPr/>
        </p:nvSpPr>
        <p:spPr>
          <a:xfrm>
            <a:off x="2011680" y="4114800"/>
            <a:ext cx="3671316" cy="731520"/>
          </a:xfrm>
          <a:prstGeom prst="rect">
            <a:avLst/>
          </a:prstGeom>
          <a:noFill/>
          <a:ln/>
        </p:spPr>
        <p:txBody>
          <a:bodyPr wrap="square" lIns="0" tIns="0" rIns="0" bIns="0" rtlCol="0" anchor="ctr"/>
          <a:lstStyle/>
          <a:p>
            <a:pPr indent="0" marL="0">
              <a:buNone/>
            </a:pPr>
            <a:r>
              <a:rPr lang="en-US" sz="2000" b="1" dirty="0">
                <a:solidFill>
                  <a:schemeClr val="tx2"/>
                </a:solidFill>
              </a:rPr>
              <a:t>Takes in documents, images and voice</a:t>
            </a:r>
            <a:endParaRPr lang="en-US" sz="2000" dirty="0"/>
          </a:p>
        </p:txBody>
      </p:sp>
      <p:sp>
        <p:nvSpPr>
          <p:cNvPr id="17" name="Text 12"/>
          <p:cNvSpPr txBox="1"/>
          <p:nvPr/>
        </p:nvSpPr>
        <p:spPr>
          <a:xfrm>
            <a:off x="2011680" y="4937760"/>
            <a:ext cx="3671316" cy="868680"/>
          </a:xfrm>
          <a:prstGeom prst="rect">
            <a:avLst/>
          </a:prstGeom>
          <a:noFill/>
          <a:ln/>
        </p:spPr>
        <p:txBody>
          <a:bodyPr wrap="square" lIns="0" tIns="0" rIns="0" bIns="0" rtlCol="0" anchor="t"/>
          <a:lstStyle/>
          <a:p>
            <a:pPr indent="0" marL="0">
              <a:buNone/>
            </a:pPr>
            <a:r>
              <a:rPr lang="en-US" sz="1400" dirty="0">
                <a:solidFill>
                  <a:schemeClr val="tx1"/>
                </a:solidFill>
              </a:rPr>
              <a:t>Photos of bills, scanned letters and spoken requests, with speech recognition.</a:t>
            </a:r>
            <a:endParaRPr lang="en-US" sz="1400" dirty="0"/>
          </a:p>
        </p:txBody>
      </p:sp>
      <p:sp>
        <p:nvSpPr>
          <p:cNvPr id="18" name="card-211"/>
          <p:cNvSpPr/>
          <p:nvPr/>
        </p:nvSpPr>
        <p:spPr>
          <a:xfrm>
            <a:off x="6231636" y="3886200"/>
            <a:ext cx="5408676" cy="2103120"/>
          </a:xfrm>
          <a:prstGeom prst="roundRect">
            <a:avLst>
              <a:gd name="adj" fmla="val 5217"/>
            </a:avLst>
          </a:prstGeom>
          <a:solidFill>
            <a:schemeClr val="bg2"/>
          </a:solidFill>
          <a:ln/>
        </p:spPr>
      </p:sp>
      <p:sp>
        <p:nvSpPr>
          <p:cNvPr id="19" name="icon-circle-212"/>
          <p:cNvSpPr/>
          <p:nvPr/>
        </p:nvSpPr>
        <p:spPr>
          <a:xfrm>
            <a:off x="6551676" y="4526280"/>
            <a:ext cx="822960" cy="822960"/>
          </a:xfrm>
          <a:prstGeom prst="ellipse">
            <a:avLst/>
          </a:prstGeom>
          <a:solidFill>
            <a:schemeClr val="accent2"/>
          </a:solidFill>
          <a:ln/>
        </p:spPr>
      </p:sp>
      <p:pic>
        <p:nvPicPr>
          <p:cNvPr id="20" name="icon-volume-213" descr="volume icon">    </p:cNvPr>
          <p:cNvPicPr>
            <a:picLocks noChangeAspect="1"/>
          </p:cNvPicPr>
          <p:nvPr/>
        </p:nvPicPr>
        <p:blipFill>
          <a:blip r:embed="rId4"/>
          <a:stretch>
            <a:fillRect/>
          </a:stretch>
        </p:blipFill>
        <p:spPr>
          <a:xfrm>
            <a:off x="6757416" y="4732020"/>
            <a:ext cx="411480" cy="411480"/>
          </a:xfrm>
          <a:prstGeom prst="rect">
            <a:avLst/>
          </a:prstGeom>
        </p:spPr>
      </p:pic>
      <p:sp>
        <p:nvSpPr>
          <p:cNvPr id="21" name="Text 15"/>
          <p:cNvSpPr txBox="1"/>
          <p:nvPr/>
        </p:nvSpPr>
        <p:spPr>
          <a:xfrm>
            <a:off x="7694676" y="4114800"/>
            <a:ext cx="3671316" cy="731520"/>
          </a:xfrm>
          <a:prstGeom prst="rect">
            <a:avLst/>
          </a:prstGeom>
          <a:noFill/>
          <a:ln/>
        </p:spPr>
        <p:txBody>
          <a:bodyPr wrap="square" lIns="0" tIns="0" rIns="0" bIns="0" rtlCol="0" anchor="ctr"/>
          <a:lstStyle/>
          <a:p>
            <a:pPr indent="0" marL="0">
              <a:buNone/>
            </a:pPr>
            <a:r>
              <a:rPr lang="en-US" sz="2000" b="1" dirty="0">
                <a:solidFill>
                  <a:schemeClr val="tx2"/>
                </a:solidFill>
              </a:rPr>
              <a:t>Produces images, documents and speech</a:t>
            </a:r>
            <a:endParaRPr lang="en-US" sz="2000" dirty="0"/>
          </a:p>
        </p:txBody>
      </p:sp>
      <p:sp>
        <p:nvSpPr>
          <p:cNvPr id="22" name="Text 16"/>
          <p:cNvSpPr txBox="1"/>
          <p:nvPr/>
        </p:nvSpPr>
        <p:spPr>
          <a:xfrm>
            <a:off x="7694676" y="4937760"/>
            <a:ext cx="3671316" cy="868680"/>
          </a:xfrm>
          <a:prstGeom prst="rect">
            <a:avLst/>
          </a:prstGeom>
          <a:noFill/>
          <a:ln/>
        </p:spPr>
        <p:txBody>
          <a:bodyPr wrap="square" lIns="0" tIns="0" rIns="0" bIns="0" rtlCol="0" anchor="t"/>
          <a:lstStyle/>
          <a:p>
            <a:pPr indent="0" marL="0">
              <a:buNone/>
            </a:pPr>
            <a:r>
              <a:rPr lang="en-US" sz="1400" dirty="0">
                <a:solidFill>
                  <a:schemeClr val="tx1"/>
                </a:solidFill>
              </a:rPr>
              <a:t>Answers as pictures, documents or a spoken voice, not only text.</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Future work: the platform</a:t>
            </a:r>
            <a:endParaRPr lang="en-US" sz="3600" dirty="0"/>
          </a:p>
        </p:txBody>
      </p:sp>
      <p:sp>
        <p:nvSpPr>
          <p:cNvPr id="3" name="card-214"/>
          <p:cNvSpPr/>
          <p:nvPr/>
        </p:nvSpPr>
        <p:spPr>
          <a:xfrm>
            <a:off x="548640" y="1508760"/>
            <a:ext cx="4297680" cy="4434840"/>
          </a:xfrm>
          <a:prstGeom prst="roundRect">
            <a:avLst>
              <a:gd name="adj" fmla="val 2553"/>
            </a:avLst>
          </a:prstGeom>
          <a:solidFill>
            <a:schemeClr val="tx2"/>
          </a:solidFill>
          <a:ln/>
        </p:spPr>
      </p:sp>
      <p:sp>
        <p:nvSpPr>
          <p:cNvPr id="4" name="Text 2"/>
          <p:cNvSpPr txBox="1"/>
          <p:nvPr/>
        </p:nvSpPr>
        <p:spPr>
          <a:xfrm>
            <a:off x="822960" y="1737360"/>
            <a:ext cx="3749040" cy="457200"/>
          </a:xfrm>
          <a:prstGeom prst="rect">
            <a:avLst/>
          </a:prstGeom>
          <a:noFill/>
          <a:ln/>
        </p:spPr>
        <p:txBody>
          <a:bodyPr wrap="square" lIns="0" tIns="0" rIns="0" bIns="0" rtlCol="0" anchor="t"/>
          <a:lstStyle/>
          <a:p>
            <a:pPr indent="0" marL="0">
              <a:buNone/>
            </a:pPr>
            <a:r>
              <a:rPr lang="en-US" sz="2000" b="1" dirty="0">
                <a:solidFill>
                  <a:schemeClr val="bg1"/>
                </a:solidFill>
              </a:rPr>
              <a:t>Scale to 100–10,000 homes</a:t>
            </a:r>
            <a:endParaRPr lang="en-US" sz="2000" dirty="0"/>
          </a:p>
        </p:txBody>
      </p:sp>
      <p:sp>
        <p:nvSpPr>
          <p:cNvPr id="5" name="scale-circle-215"/>
          <p:cNvSpPr txBox="1"/>
          <p:nvPr/>
        </p:nvSpPr>
        <p:spPr>
          <a:xfrm>
            <a:off x="822960" y="3931920"/>
            <a:ext cx="640080" cy="6400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100</a:t>
            </a:r>
            <a:endParaRPr lang="en-US" sz="1400" dirty="0"/>
          </a:p>
        </p:txBody>
      </p:sp>
      <p:sp>
        <p:nvSpPr>
          <p:cNvPr id="6" name="scale-circle-216"/>
          <p:cNvSpPr txBox="1"/>
          <p:nvPr/>
        </p:nvSpPr>
        <p:spPr>
          <a:xfrm>
            <a:off x="1645920" y="3474720"/>
            <a:ext cx="1097280" cy="10972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1,000</a:t>
            </a:r>
            <a:endParaRPr lang="en-US" sz="1400" dirty="0"/>
          </a:p>
        </p:txBody>
      </p:sp>
      <p:sp>
        <p:nvSpPr>
          <p:cNvPr id="7" name="scale-circle-217"/>
          <p:cNvSpPr txBox="1"/>
          <p:nvPr/>
        </p:nvSpPr>
        <p:spPr>
          <a:xfrm>
            <a:off x="2926080" y="2926080"/>
            <a:ext cx="1645920" cy="1645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10,000</a:t>
            </a:r>
            <a:endParaRPr lang="en-US" sz="1800" dirty="0"/>
          </a:p>
        </p:txBody>
      </p:sp>
      <p:sp>
        <p:nvSpPr>
          <p:cNvPr id="8" name="Text 6"/>
          <p:cNvSpPr txBox="1"/>
          <p:nvPr/>
        </p:nvSpPr>
        <p:spPr>
          <a:xfrm>
            <a:off x="822960" y="4937760"/>
            <a:ext cx="3749040" cy="731520"/>
          </a:xfrm>
          <a:prstGeom prst="rect">
            <a:avLst/>
          </a:prstGeom>
          <a:noFill/>
          <a:ln/>
        </p:spPr>
        <p:txBody>
          <a:bodyPr wrap="square" lIns="0" tIns="0" rIns="0" bIns="0" rtlCol="0" anchor="t"/>
          <a:lstStyle/>
          <a:p>
            <a:pPr indent="0" marL="0">
              <a:buNone/>
            </a:pPr>
            <a:r>
              <a:rPr lang="en-US" sz="1400" dirty="0">
                <a:solidFill>
                  <a:schemeClr val="accent3"/>
                </a:solidFill>
              </a:rPr>
              <a:t>Tenant model, operations, support and cost per home</a:t>
            </a:r>
            <a:endParaRPr lang="en-US" sz="1400" dirty="0"/>
          </a:p>
        </p:txBody>
      </p:sp>
      <p:sp>
        <p:nvSpPr>
          <p:cNvPr id="9" name="card-218"/>
          <p:cNvSpPr/>
          <p:nvPr/>
        </p:nvSpPr>
        <p:spPr>
          <a:xfrm>
            <a:off x="5120640" y="1508760"/>
            <a:ext cx="6519672" cy="1371600"/>
          </a:xfrm>
          <a:prstGeom prst="roundRect">
            <a:avLst>
              <a:gd name="adj" fmla="val 8000"/>
            </a:avLst>
          </a:prstGeom>
          <a:solidFill>
            <a:schemeClr val="bg2"/>
          </a:solidFill>
          <a:ln/>
        </p:spPr>
      </p:sp>
      <p:sp>
        <p:nvSpPr>
          <p:cNvPr id="10" name="icon-circle-219"/>
          <p:cNvSpPr/>
          <p:nvPr/>
        </p:nvSpPr>
        <p:spPr>
          <a:xfrm>
            <a:off x="5394960" y="1874520"/>
            <a:ext cx="640080" cy="640080"/>
          </a:xfrm>
          <a:prstGeom prst="ellipse">
            <a:avLst/>
          </a:prstGeom>
          <a:solidFill>
            <a:schemeClr val="accent2"/>
          </a:solidFill>
          <a:ln/>
        </p:spPr>
      </p:sp>
      <p:pic>
        <p:nvPicPr>
          <p:cNvPr id="11" name="icon-plug-220" descr="plug icon">    </p:cNvPr>
          <p:cNvPicPr>
            <a:picLocks noChangeAspect="1"/>
          </p:cNvPicPr>
          <p:nvPr/>
        </p:nvPicPr>
        <p:blipFill>
          <a:blip r:embed="rId1"/>
          <a:stretch>
            <a:fillRect/>
          </a:stretch>
        </p:blipFill>
        <p:spPr>
          <a:xfrm>
            <a:off x="5554980" y="2034540"/>
            <a:ext cx="320040" cy="320040"/>
          </a:xfrm>
          <a:prstGeom prst="rect">
            <a:avLst/>
          </a:prstGeom>
        </p:spPr>
      </p:pic>
      <p:sp>
        <p:nvSpPr>
          <p:cNvPr id="12" name="Text 9"/>
          <p:cNvSpPr txBox="1"/>
          <p:nvPr/>
        </p:nvSpPr>
        <p:spPr>
          <a:xfrm>
            <a:off x="6309360" y="1645920"/>
            <a:ext cx="5120640" cy="365760"/>
          </a:xfrm>
          <a:prstGeom prst="rect">
            <a:avLst/>
          </a:prstGeom>
          <a:noFill/>
          <a:ln/>
        </p:spPr>
        <p:txBody>
          <a:bodyPr wrap="square" lIns="0" tIns="0" rIns="0" bIns="0" rtlCol="0" anchor="t"/>
          <a:lstStyle/>
          <a:p>
            <a:pPr indent="0" marL="0">
              <a:buNone/>
            </a:pPr>
            <a:r>
              <a:rPr lang="en-US" sz="2000" b="1" dirty="0">
                <a:solidFill>
                  <a:schemeClr val="tx2"/>
                </a:solidFill>
              </a:rPr>
              <a:t>Device control</a:t>
            </a:r>
            <a:endParaRPr lang="en-US" sz="2000" dirty="0"/>
          </a:p>
        </p:txBody>
      </p:sp>
      <p:sp>
        <p:nvSpPr>
          <p:cNvPr id="13" name="Text 10"/>
          <p:cNvSpPr txBox="1"/>
          <p:nvPr/>
        </p:nvSpPr>
        <p:spPr>
          <a:xfrm>
            <a:off x="6309360" y="2057400"/>
            <a:ext cx="5120640" cy="731520"/>
          </a:xfrm>
          <a:prstGeom prst="rect">
            <a:avLst/>
          </a:prstGeom>
          <a:noFill/>
          <a:ln/>
        </p:spPr>
        <p:txBody>
          <a:bodyPr wrap="square" lIns="0" tIns="0" rIns="0" bIns="0" rtlCol="0" anchor="t"/>
          <a:lstStyle/>
          <a:p>
            <a:pPr indent="0" marL="0">
              <a:buNone/>
            </a:pPr>
            <a:r>
              <a:rPr lang="en-US" sz="1400" dirty="0">
                <a:solidFill>
                  <a:schemeClr val="tx1"/>
                </a:solidFill>
              </a:rPr>
              <a:t>Connections to home automation APIs, or any API, are already built into the framework, ready for integration and control.</a:t>
            </a:r>
            <a:endParaRPr lang="en-US" sz="1400" dirty="0"/>
          </a:p>
        </p:txBody>
      </p:sp>
      <p:sp>
        <p:nvSpPr>
          <p:cNvPr id="14" name="card-221"/>
          <p:cNvSpPr/>
          <p:nvPr/>
        </p:nvSpPr>
        <p:spPr>
          <a:xfrm>
            <a:off x="5120640" y="3017520"/>
            <a:ext cx="6519672" cy="1371600"/>
          </a:xfrm>
          <a:prstGeom prst="roundRect">
            <a:avLst>
              <a:gd name="adj" fmla="val 8000"/>
            </a:avLst>
          </a:prstGeom>
          <a:solidFill>
            <a:schemeClr val="bg2"/>
          </a:solidFill>
          <a:ln/>
        </p:spPr>
      </p:sp>
      <p:sp>
        <p:nvSpPr>
          <p:cNvPr id="15" name="icon-circle-222"/>
          <p:cNvSpPr/>
          <p:nvPr/>
        </p:nvSpPr>
        <p:spPr>
          <a:xfrm>
            <a:off x="5394960" y="3383280"/>
            <a:ext cx="640080" cy="640080"/>
          </a:xfrm>
          <a:prstGeom prst="ellipse">
            <a:avLst/>
          </a:prstGeom>
          <a:solidFill>
            <a:schemeClr val="accent2"/>
          </a:solidFill>
          <a:ln/>
        </p:spPr>
      </p:sp>
      <p:pic>
        <p:nvPicPr>
          <p:cNvPr id="16" name="icon-tools-223" descr="tools icon">    </p:cNvPr>
          <p:cNvPicPr>
            <a:picLocks noChangeAspect="1"/>
          </p:cNvPicPr>
          <p:nvPr/>
        </p:nvPicPr>
        <p:blipFill>
          <a:blip r:embed="rId2"/>
          <a:stretch>
            <a:fillRect/>
          </a:stretch>
        </p:blipFill>
        <p:spPr>
          <a:xfrm>
            <a:off x="5554980" y="3543300"/>
            <a:ext cx="320040" cy="320040"/>
          </a:xfrm>
          <a:prstGeom prst="rect">
            <a:avLst/>
          </a:prstGeom>
        </p:spPr>
      </p:pic>
      <p:sp>
        <p:nvSpPr>
          <p:cNvPr id="17" name="Text 13"/>
          <p:cNvSpPr txBox="1"/>
          <p:nvPr/>
        </p:nvSpPr>
        <p:spPr>
          <a:xfrm>
            <a:off x="6309360" y="3154680"/>
            <a:ext cx="5120640" cy="365760"/>
          </a:xfrm>
          <a:prstGeom prst="rect">
            <a:avLst/>
          </a:prstGeom>
          <a:noFill/>
          <a:ln/>
        </p:spPr>
        <p:txBody>
          <a:bodyPr wrap="square" lIns="0" tIns="0" rIns="0" bIns="0" rtlCol="0" anchor="t"/>
          <a:lstStyle/>
          <a:p>
            <a:pPr indent="0" marL="0">
              <a:buNone/>
            </a:pPr>
            <a:r>
              <a:rPr lang="en-US" sz="2000" b="1" dirty="0">
                <a:solidFill>
                  <a:schemeClr val="tx2"/>
                </a:solidFill>
              </a:rPr>
              <a:t>Testing, refinements and code clean-up</a:t>
            </a:r>
            <a:endParaRPr lang="en-US" sz="2000" dirty="0"/>
          </a:p>
        </p:txBody>
      </p:sp>
      <p:sp>
        <p:nvSpPr>
          <p:cNvPr id="18" name="Text 14"/>
          <p:cNvSpPr txBox="1"/>
          <p:nvPr/>
        </p:nvSpPr>
        <p:spPr>
          <a:xfrm>
            <a:off x="6309360" y="3566160"/>
            <a:ext cx="5120640" cy="731520"/>
          </a:xfrm>
          <a:prstGeom prst="rect">
            <a:avLst/>
          </a:prstGeom>
          <a:noFill/>
          <a:ln/>
        </p:spPr>
        <p:txBody>
          <a:bodyPr wrap="square" lIns="0" tIns="0" rIns="0" bIns="0" rtlCol="0" anchor="t"/>
          <a:lstStyle/>
          <a:p>
            <a:pPr indent="0" marL="0">
              <a:buNone/>
            </a:pPr>
            <a:r>
              <a:rPr lang="en-US" sz="1400" dirty="0">
                <a:solidFill>
                  <a:schemeClr val="tx1"/>
                </a:solidFill>
              </a:rPr>
              <a:t>Make domain creation agentic like workflow creation, harmonize features across the platform, polish help messages and the minds-eye to workflow handoff.</a:t>
            </a:r>
            <a:endParaRPr lang="en-US" sz="1400" dirty="0"/>
          </a:p>
        </p:txBody>
      </p:sp>
      <p:sp>
        <p:nvSpPr>
          <p:cNvPr id="19" name="card-224"/>
          <p:cNvSpPr/>
          <p:nvPr/>
        </p:nvSpPr>
        <p:spPr>
          <a:xfrm>
            <a:off x="5120640" y="4526280"/>
            <a:ext cx="6519672" cy="1371600"/>
          </a:xfrm>
          <a:prstGeom prst="roundRect">
            <a:avLst>
              <a:gd name="adj" fmla="val 8000"/>
            </a:avLst>
          </a:prstGeom>
          <a:solidFill>
            <a:schemeClr val="bg2"/>
          </a:solidFill>
          <a:ln/>
        </p:spPr>
      </p:sp>
      <p:sp>
        <p:nvSpPr>
          <p:cNvPr id="20" name="icon-circle-225"/>
          <p:cNvSpPr/>
          <p:nvPr/>
        </p:nvSpPr>
        <p:spPr>
          <a:xfrm>
            <a:off x="5394960" y="4892040"/>
            <a:ext cx="640080" cy="640080"/>
          </a:xfrm>
          <a:prstGeom prst="ellipse">
            <a:avLst/>
          </a:prstGeom>
          <a:solidFill>
            <a:schemeClr val="accent2"/>
          </a:solidFill>
          <a:ln/>
        </p:spPr>
      </p:sp>
      <p:pic>
        <p:nvPicPr>
          <p:cNvPr id="21" name="icon-shield-226" descr="shield icon">    </p:cNvPr>
          <p:cNvPicPr>
            <a:picLocks noChangeAspect="1"/>
          </p:cNvPicPr>
          <p:nvPr/>
        </p:nvPicPr>
        <p:blipFill>
          <a:blip r:embed="rId3"/>
          <a:stretch>
            <a:fillRect/>
          </a:stretch>
        </p:blipFill>
        <p:spPr>
          <a:xfrm>
            <a:off x="5554980" y="5052060"/>
            <a:ext cx="320040" cy="320040"/>
          </a:xfrm>
          <a:prstGeom prst="rect">
            <a:avLst/>
          </a:prstGeom>
        </p:spPr>
      </p:pic>
      <p:sp>
        <p:nvSpPr>
          <p:cNvPr id="22" name="Text 17"/>
          <p:cNvSpPr txBox="1"/>
          <p:nvPr/>
        </p:nvSpPr>
        <p:spPr>
          <a:xfrm>
            <a:off x="6309360" y="4663440"/>
            <a:ext cx="5120640" cy="365760"/>
          </a:xfrm>
          <a:prstGeom prst="rect">
            <a:avLst/>
          </a:prstGeom>
          <a:noFill/>
          <a:ln/>
        </p:spPr>
        <p:txBody>
          <a:bodyPr wrap="square" lIns="0" tIns="0" rIns="0" bIns="0" rtlCol="0" anchor="t"/>
          <a:lstStyle/>
          <a:p>
            <a:pPr indent="0" marL="0">
              <a:buNone/>
            </a:pPr>
            <a:r>
              <a:rPr lang="en-US" sz="2000" b="1" dirty="0">
                <a:solidFill>
                  <a:schemeClr val="tx2"/>
                </a:solidFill>
              </a:rPr>
              <a:t>Multi-tenant operation</a:t>
            </a:r>
            <a:endParaRPr lang="en-US" sz="2000" dirty="0"/>
          </a:p>
        </p:txBody>
      </p:sp>
      <p:sp>
        <p:nvSpPr>
          <p:cNvPr id="23" name="Text 18"/>
          <p:cNvSpPr txBox="1"/>
          <p:nvPr/>
        </p:nvSpPr>
        <p:spPr>
          <a:xfrm>
            <a:off x="6309360" y="5074920"/>
            <a:ext cx="5120640" cy="731520"/>
          </a:xfrm>
          <a:prstGeom prst="rect">
            <a:avLst/>
          </a:prstGeom>
          <a:noFill/>
          <a:ln/>
        </p:spPr>
        <p:txBody>
          <a:bodyPr wrap="square" lIns="0" tIns="0" rIns="0" bIns="0" rtlCol="0" anchor="t"/>
          <a:lstStyle/>
          <a:p>
            <a:pPr indent="0" marL="0">
              <a:buNone/>
            </a:pPr>
            <a:r>
              <a:rPr lang="en-US" sz="1400" dirty="0">
                <a:solidFill>
                  <a:schemeClr val="tx1"/>
                </a:solidFill>
              </a:rPr>
              <a:t>Account access management, isolation between homes, protection of home data and an identity firewall for AI calls (in development).</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Milestones from agreement to go-live</a:t>
            </a:r>
            <a:endParaRPr lang="en-US" sz="3600" dirty="0"/>
          </a:p>
        </p:txBody>
      </p:sp>
      <p:sp>
        <p:nvSpPr>
          <p:cNvPr id="3" name="line-227"/>
          <p:cNvSpPr/>
          <p:nvPr/>
        </p:nvSpPr>
        <p:spPr>
          <a:xfrm>
            <a:off x="868680" y="2011680"/>
            <a:ext cx="9395460" cy="0"/>
          </a:xfrm>
          <a:prstGeom prst="line">
            <a:avLst/>
          </a:prstGeom>
          <a:noFill/>
          <a:ln w="38100">
            <a:solidFill>
              <a:schemeClr val="accent3"/>
            </a:solidFill>
            <a:prstDash val="solid"/>
          </a:ln>
        </p:spPr>
      </p:sp>
      <p:sp>
        <p:nvSpPr>
          <p:cNvPr id="4" name="badge-228"/>
          <p:cNvSpPr txBox="1"/>
          <p:nvPr/>
        </p:nvSpPr>
        <p:spPr>
          <a:xfrm>
            <a:off x="548640" y="169164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card-229"/>
          <p:cNvSpPr/>
          <p:nvPr/>
        </p:nvSpPr>
        <p:spPr>
          <a:xfrm>
            <a:off x="548640" y="2606040"/>
            <a:ext cx="1696212" cy="2514600"/>
          </a:xfrm>
          <a:prstGeom prst="roundRect">
            <a:avLst>
              <a:gd name="adj" fmla="val 6469"/>
            </a:avLst>
          </a:prstGeom>
          <a:solidFill>
            <a:schemeClr val="bg2"/>
          </a:solidFill>
          <a:ln/>
        </p:spPr>
      </p:sp>
      <p:sp>
        <p:nvSpPr>
          <p:cNvPr id="6" name="Text 4"/>
          <p:cNvSpPr txBox="1"/>
          <p:nvPr/>
        </p:nvSpPr>
        <p:spPr>
          <a:xfrm>
            <a:off x="731520" y="2788920"/>
            <a:ext cx="1330452" cy="868680"/>
          </a:xfrm>
          <a:prstGeom prst="rect">
            <a:avLst/>
          </a:prstGeom>
          <a:noFill/>
          <a:ln/>
        </p:spPr>
        <p:txBody>
          <a:bodyPr wrap="square" lIns="0" tIns="0" rIns="0" bIns="0" rtlCol="0" anchor="t"/>
          <a:lstStyle/>
          <a:p>
            <a:pPr indent="0" marL="0">
              <a:buNone/>
            </a:pPr>
            <a:r>
              <a:rPr lang="en-US" sz="1600" b="1" dirty="0">
                <a:solidFill>
                  <a:schemeClr val="tx2"/>
                </a:solidFill>
              </a:rPr>
              <a:t>Partnership agreement</a:t>
            </a:r>
            <a:endParaRPr lang="en-US" sz="1600" dirty="0"/>
          </a:p>
        </p:txBody>
      </p:sp>
      <p:sp>
        <p:nvSpPr>
          <p:cNvPr id="7" name="Text 5"/>
          <p:cNvSpPr txBox="1"/>
          <p:nvPr/>
        </p:nvSpPr>
        <p:spPr>
          <a:xfrm>
            <a:off x="731520" y="3611880"/>
            <a:ext cx="1330452" cy="1371600"/>
          </a:xfrm>
          <a:prstGeom prst="rect">
            <a:avLst/>
          </a:prstGeom>
          <a:noFill/>
          <a:ln/>
        </p:spPr>
        <p:txBody>
          <a:bodyPr wrap="square" lIns="0" tIns="0" rIns="0" bIns="0" rtlCol="0" anchor="t"/>
          <a:lstStyle/>
          <a:p>
            <a:pPr indent="0" marL="0">
              <a:buNone/>
            </a:pPr>
            <a:r>
              <a:rPr lang="en-US" sz="1400" dirty="0">
                <a:solidFill>
                  <a:schemeClr val="tx1"/>
                </a:solidFill>
              </a:rPr>
              <a:t>Ownership, funding and pay settled with David</a:t>
            </a:r>
            <a:endParaRPr lang="en-US" sz="1400" dirty="0"/>
          </a:p>
        </p:txBody>
      </p:sp>
      <p:sp>
        <p:nvSpPr>
          <p:cNvPr id="8" name="badge-230"/>
          <p:cNvSpPr txBox="1"/>
          <p:nvPr/>
        </p:nvSpPr>
        <p:spPr>
          <a:xfrm>
            <a:off x="2427732" y="169164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card-231"/>
          <p:cNvSpPr/>
          <p:nvPr/>
        </p:nvSpPr>
        <p:spPr>
          <a:xfrm>
            <a:off x="2427732" y="2606040"/>
            <a:ext cx="1696212" cy="2514600"/>
          </a:xfrm>
          <a:prstGeom prst="roundRect">
            <a:avLst>
              <a:gd name="adj" fmla="val 6469"/>
            </a:avLst>
          </a:prstGeom>
          <a:solidFill>
            <a:schemeClr val="bg2"/>
          </a:solidFill>
          <a:ln/>
        </p:spPr>
      </p:sp>
      <p:sp>
        <p:nvSpPr>
          <p:cNvPr id="10" name="Text 8"/>
          <p:cNvSpPr txBox="1"/>
          <p:nvPr/>
        </p:nvSpPr>
        <p:spPr>
          <a:xfrm>
            <a:off x="2610612" y="2788920"/>
            <a:ext cx="1330452" cy="868680"/>
          </a:xfrm>
          <a:prstGeom prst="rect">
            <a:avLst/>
          </a:prstGeom>
          <a:noFill/>
          <a:ln/>
        </p:spPr>
        <p:txBody>
          <a:bodyPr wrap="square" lIns="0" tIns="0" rIns="0" bIns="0" rtlCol="0" anchor="t"/>
          <a:lstStyle/>
          <a:p>
            <a:pPr indent="0" marL="0">
              <a:buNone/>
            </a:pPr>
            <a:r>
              <a:rPr lang="en-US" sz="1600" b="1" dirty="0">
                <a:solidFill>
                  <a:schemeClr val="tx2"/>
                </a:solidFill>
              </a:rPr>
              <a:t>MVP complete</a:t>
            </a:r>
            <a:endParaRPr lang="en-US" sz="1600" dirty="0"/>
          </a:p>
        </p:txBody>
      </p:sp>
      <p:sp>
        <p:nvSpPr>
          <p:cNvPr id="11" name="Text 9"/>
          <p:cNvSpPr txBox="1"/>
          <p:nvPr/>
        </p:nvSpPr>
        <p:spPr>
          <a:xfrm>
            <a:off x="2610612" y="3611880"/>
            <a:ext cx="1330452" cy="1371600"/>
          </a:xfrm>
          <a:prstGeom prst="rect">
            <a:avLst/>
          </a:prstGeom>
          <a:noFill/>
          <a:ln/>
        </p:spPr>
        <p:txBody>
          <a:bodyPr wrap="square" lIns="0" tIns="0" rIns="0" bIns="0" rtlCol="0" anchor="t"/>
          <a:lstStyle/>
          <a:p>
            <a:pPr indent="0" marL="0">
              <a:buNone/>
            </a:pPr>
            <a:r>
              <a:rPr lang="en-US" sz="1400" dirty="0">
                <a:solidFill>
                  <a:schemeClr val="tx1"/>
                </a:solidFill>
              </a:rPr>
              <a:t>Core domains work end to end; homes are isolated</a:t>
            </a:r>
            <a:endParaRPr lang="en-US" sz="1400" dirty="0"/>
          </a:p>
        </p:txBody>
      </p:sp>
      <p:sp>
        <p:nvSpPr>
          <p:cNvPr id="12" name="badge-232"/>
          <p:cNvSpPr txBox="1"/>
          <p:nvPr/>
        </p:nvSpPr>
        <p:spPr>
          <a:xfrm>
            <a:off x="4306824" y="169164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card-233"/>
          <p:cNvSpPr/>
          <p:nvPr/>
        </p:nvSpPr>
        <p:spPr>
          <a:xfrm>
            <a:off x="4306824" y="2606040"/>
            <a:ext cx="1696212" cy="2514600"/>
          </a:xfrm>
          <a:prstGeom prst="roundRect">
            <a:avLst>
              <a:gd name="adj" fmla="val 6469"/>
            </a:avLst>
          </a:prstGeom>
          <a:solidFill>
            <a:schemeClr val="bg2"/>
          </a:solidFill>
          <a:ln/>
        </p:spPr>
      </p:sp>
      <p:sp>
        <p:nvSpPr>
          <p:cNvPr id="14" name="Text 12"/>
          <p:cNvSpPr txBox="1"/>
          <p:nvPr/>
        </p:nvSpPr>
        <p:spPr>
          <a:xfrm>
            <a:off x="4489704" y="2788920"/>
            <a:ext cx="1330452" cy="868680"/>
          </a:xfrm>
          <a:prstGeom prst="rect">
            <a:avLst/>
          </a:prstGeom>
          <a:noFill/>
          <a:ln/>
        </p:spPr>
        <p:txBody>
          <a:bodyPr wrap="square" lIns="0" tIns="0" rIns="0" bIns="0" rtlCol="0" anchor="t"/>
          <a:lstStyle/>
          <a:p>
            <a:pPr indent="0" marL="0">
              <a:buNone/>
            </a:pPr>
            <a:r>
              <a:rPr lang="en-US" sz="1600" b="1" dirty="0">
                <a:solidFill>
                  <a:schemeClr val="tx2"/>
                </a:solidFill>
              </a:rPr>
              <a:t>Rollout to known testers</a:t>
            </a:r>
            <a:endParaRPr lang="en-US" sz="1600" dirty="0"/>
          </a:p>
        </p:txBody>
      </p:sp>
      <p:sp>
        <p:nvSpPr>
          <p:cNvPr id="15" name="Text 13"/>
          <p:cNvSpPr txBox="1"/>
          <p:nvPr/>
        </p:nvSpPr>
        <p:spPr>
          <a:xfrm>
            <a:off x="4489704" y="3611880"/>
            <a:ext cx="1330452" cy="1371600"/>
          </a:xfrm>
          <a:prstGeom prst="rect">
            <a:avLst/>
          </a:prstGeom>
          <a:noFill/>
          <a:ln/>
        </p:spPr>
        <p:txBody>
          <a:bodyPr wrap="square" lIns="0" tIns="0" rIns="0" bIns="0" rtlCol="0" anchor="t"/>
          <a:lstStyle/>
          <a:p>
            <a:pPr indent="0" marL="0">
              <a:buNone/>
            </a:pPr>
            <a:r>
              <a:rPr lang="en-US" sz="1400" dirty="0">
                <a:solidFill>
                  <a:schemeClr val="tx1"/>
                </a:solidFill>
              </a:rPr>
              <a:t>Employees, friends and testers use it for real</a:t>
            </a:r>
            <a:endParaRPr lang="en-US" sz="1400" dirty="0"/>
          </a:p>
        </p:txBody>
      </p:sp>
      <p:sp>
        <p:nvSpPr>
          <p:cNvPr id="16" name="badge-234"/>
          <p:cNvSpPr txBox="1"/>
          <p:nvPr/>
        </p:nvSpPr>
        <p:spPr>
          <a:xfrm>
            <a:off x="6185916" y="169164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card-235"/>
          <p:cNvSpPr/>
          <p:nvPr/>
        </p:nvSpPr>
        <p:spPr>
          <a:xfrm>
            <a:off x="6185916" y="2606040"/>
            <a:ext cx="1696212" cy="2514600"/>
          </a:xfrm>
          <a:prstGeom prst="roundRect">
            <a:avLst>
              <a:gd name="adj" fmla="val 6469"/>
            </a:avLst>
          </a:prstGeom>
          <a:solidFill>
            <a:schemeClr val="bg2"/>
          </a:solidFill>
          <a:ln/>
        </p:spPr>
      </p:sp>
      <p:sp>
        <p:nvSpPr>
          <p:cNvPr id="18" name="Text 16"/>
          <p:cNvSpPr txBox="1"/>
          <p:nvPr/>
        </p:nvSpPr>
        <p:spPr>
          <a:xfrm>
            <a:off x="6368796" y="2788920"/>
            <a:ext cx="1330452" cy="868680"/>
          </a:xfrm>
          <a:prstGeom prst="rect">
            <a:avLst/>
          </a:prstGeom>
          <a:noFill/>
          <a:ln/>
        </p:spPr>
        <p:txBody>
          <a:bodyPr wrap="square" lIns="0" tIns="0" rIns="0" bIns="0" rtlCol="0" anchor="t"/>
          <a:lstStyle/>
          <a:p>
            <a:pPr indent="0" marL="0">
              <a:buNone/>
            </a:pPr>
            <a:r>
              <a:rPr lang="en-US" sz="1600" b="1" dirty="0">
                <a:solidFill>
                  <a:schemeClr val="tx2"/>
                </a:solidFill>
              </a:rPr>
              <a:t>Feedback and hardening</a:t>
            </a:r>
            <a:endParaRPr lang="en-US" sz="1600" dirty="0"/>
          </a:p>
        </p:txBody>
      </p:sp>
      <p:sp>
        <p:nvSpPr>
          <p:cNvPr id="19" name="Text 17"/>
          <p:cNvSpPr txBox="1"/>
          <p:nvPr/>
        </p:nvSpPr>
        <p:spPr>
          <a:xfrm>
            <a:off x="6368796" y="3611880"/>
            <a:ext cx="1330452" cy="1371600"/>
          </a:xfrm>
          <a:prstGeom prst="rect">
            <a:avLst/>
          </a:prstGeom>
          <a:noFill/>
          <a:ln/>
        </p:spPr>
        <p:txBody>
          <a:bodyPr wrap="square" lIns="0" tIns="0" rIns="0" bIns="0" rtlCol="0" anchor="t"/>
          <a:lstStyle/>
          <a:p>
            <a:pPr indent="0" marL="0">
              <a:buNone/>
            </a:pPr>
            <a:r>
              <a:rPr lang="en-US" sz="1400" dirty="0">
                <a:solidFill>
                  <a:schemeClr val="tx1"/>
                </a:solidFill>
              </a:rPr>
              <a:t>Tester fixes; real cost per home; security, legal and privacy review</a:t>
            </a:r>
            <a:endParaRPr lang="en-US" sz="1400" dirty="0"/>
          </a:p>
        </p:txBody>
      </p:sp>
      <p:sp>
        <p:nvSpPr>
          <p:cNvPr id="20" name="badge-236"/>
          <p:cNvSpPr txBox="1"/>
          <p:nvPr/>
        </p:nvSpPr>
        <p:spPr>
          <a:xfrm>
            <a:off x="8065008" y="169164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card-237"/>
          <p:cNvSpPr/>
          <p:nvPr/>
        </p:nvSpPr>
        <p:spPr>
          <a:xfrm>
            <a:off x="8065008" y="2606040"/>
            <a:ext cx="1696212" cy="2514600"/>
          </a:xfrm>
          <a:prstGeom prst="roundRect">
            <a:avLst>
              <a:gd name="adj" fmla="val 6469"/>
            </a:avLst>
          </a:prstGeom>
          <a:solidFill>
            <a:schemeClr val="bg2"/>
          </a:solidFill>
          <a:ln/>
        </p:spPr>
      </p:sp>
      <p:sp>
        <p:nvSpPr>
          <p:cNvPr id="22" name="Text 20"/>
          <p:cNvSpPr txBox="1"/>
          <p:nvPr/>
        </p:nvSpPr>
        <p:spPr>
          <a:xfrm>
            <a:off x="8247888" y="2788920"/>
            <a:ext cx="1330452" cy="868680"/>
          </a:xfrm>
          <a:prstGeom prst="rect">
            <a:avLst/>
          </a:prstGeom>
          <a:noFill/>
          <a:ln/>
        </p:spPr>
        <p:txBody>
          <a:bodyPr wrap="square" lIns="0" tIns="0" rIns="0" bIns="0" rtlCol="0" anchor="t"/>
          <a:lstStyle/>
          <a:p>
            <a:pPr indent="0" marL="0">
              <a:buNone/>
            </a:pPr>
            <a:r>
              <a:rPr lang="en-US" sz="1600" b="1" dirty="0">
                <a:solidFill>
                  <a:schemeClr val="tx2"/>
                </a:solidFill>
              </a:rPr>
              <a:t>Go-live</a:t>
            </a:r>
            <a:endParaRPr lang="en-US" sz="1600" dirty="0"/>
          </a:p>
        </p:txBody>
      </p:sp>
      <p:sp>
        <p:nvSpPr>
          <p:cNvPr id="23" name="Text 21"/>
          <p:cNvSpPr txBox="1"/>
          <p:nvPr/>
        </p:nvSpPr>
        <p:spPr>
          <a:xfrm>
            <a:off x="8247888" y="3611880"/>
            <a:ext cx="1330452" cy="1371600"/>
          </a:xfrm>
          <a:prstGeom prst="rect">
            <a:avLst/>
          </a:prstGeom>
          <a:noFill/>
          <a:ln/>
        </p:spPr>
        <p:txBody>
          <a:bodyPr wrap="square" lIns="0" tIns="0" rIns="0" bIns="0" rtlCol="0" anchor="t"/>
          <a:lstStyle/>
          <a:p>
            <a:pPr indent="0" marL="0">
              <a:buNone/>
            </a:pPr>
            <a:r>
              <a:rPr lang="en-US" sz="1400" dirty="0">
                <a:solidFill>
                  <a:schemeClr val="tx1"/>
                </a:solidFill>
              </a:rPr>
              <a:t>Open to new customers with sign-up, billing and support</a:t>
            </a:r>
            <a:endParaRPr lang="en-US" sz="1400" dirty="0"/>
          </a:p>
        </p:txBody>
      </p:sp>
      <p:sp>
        <p:nvSpPr>
          <p:cNvPr id="24" name="badge-238"/>
          <p:cNvSpPr txBox="1"/>
          <p:nvPr/>
        </p:nvSpPr>
        <p:spPr>
          <a:xfrm>
            <a:off x="9944100" y="1691640"/>
            <a:ext cx="640080" cy="64008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5" name="card-239"/>
          <p:cNvSpPr/>
          <p:nvPr/>
        </p:nvSpPr>
        <p:spPr>
          <a:xfrm>
            <a:off x="9944100" y="2606040"/>
            <a:ext cx="1696212" cy="2514600"/>
          </a:xfrm>
          <a:prstGeom prst="roundRect">
            <a:avLst>
              <a:gd name="adj" fmla="val 6469"/>
            </a:avLst>
          </a:prstGeom>
          <a:solidFill>
            <a:schemeClr val="bg2"/>
          </a:solidFill>
          <a:ln/>
        </p:spPr>
      </p:sp>
      <p:sp>
        <p:nvSpPr>
          <p:cNvPr id="26" name="Text 24"/>
          <p:cNvSpPr txBox="1"/>
          <p:nvPr/>
        </p:nvSpPr>
        <p:spPr>
          <a:xfrm>
            <a:off x="10126980" y="2788920"/>
            <a:ext cx="1330452" cy="868680"/>
          </a:xfrm>
          <a:prstGeom prst="rect">
            <a:avLst/>
          </a:prstGeom>
          <a:noFill/>
          <a:ln/>
        </p:spPr>
        <p:txBody>
          <a:bodyPr wrap="square" lIns="0" tIns="0" rIns="0" bIns="0" rtlCol="0" anchor="t"/>
          <a:lstStyle/>
          <a:p>
            <a:pPr indent="0" marL="0">
              <a:buNone/>
            </a:pPr>
            <a:r>
              <a:rPr lang="en-US" sz="1600" b="1" dirty="0">
                <a:solidFill>
                  <a:schemeClr val="tx2"/>
                </a:solidFill>
              </a:rPr>
              <a:t>Marketing and distribution</a:t>
            </a:r>
            <a:endParaRPr lang="en-US" sz="1600" dirty="0"/>
          </a:p>
        </p:txBody>
      </p:sp>
      <p:sp>
        <p:nvSpPr>
          <p:cNvPr id="27" name="Text 25"/>
          <p:cNvSpPr txBox="1"/>
          <p:nvPr/>
        </p:nvSpPr>
        <p:spPr>
          <a:xfrm>
            <a:off x="10126980" y="3611880"/>
            <a:ext cx="1330452" cy="1371600"/>
          </a:xfrm>
          <a:prstGeom prst="rect">
            <a:avLst/>
          </a:prstGeom>
          <a:noFill/>
          <a:ln/>
        </p:spPr>
        <p:txBody>
          <a:bodyPr wrap="square" lIns="0" tIns="0" rIns="0" bIns="0" rtlCol="0" anchor="t"/>
          <a:lstStyle/>
          <a:p>
            <a:pPr indent="0" marL="0">
              <a:buNone/>
            </a:pPr>
            <a:r>
              <a:rPr lang="en-US" sz="1400" dirty="0">
                <a:solidFill>
                  <a:schemeClr val="tx1"/>
                </a:solidFill>
              </a:rPr>
              <a:t>Growth channels running, including builders if agreed</a:t>
            </a:r>
            <a:endParaRPr lang="en-US" sz="1400" dirty="0"/>
          </a:p>
        </p:txBody>
      </p:sp>
      <p:sp>
        <p:nvSpPr>
          <p:cNvPr id="28" name="chip-240"/>
          <p:cNvSpPr txBox="1"/>
          <p:nvPr/>
        </p:nvSpPr>
        <p:spPr>
          <a:xfrm>
            <a:off x="4306824" y="1325880"/>
            <a:ext cx="1371600" cy="274320"/>
          </a:xfrm>
          <a:prstGeom prst="roundRect">
            <a:avLst>
              <a:gd name="adj" fmla="val 33333"/>
            </a:avLst>
          </a:prstGeom>
          <a:solidFill>
            <a:schemeClr val="accent4"/>
          </a:solidFill>
          <a:ln/>
        </p:spPr>
        <p:txBody>
          <a:bodyPr wrap="square" lIns="0" tIns="0" rIns="0" bIns="0" rtlCol="0" anchor="ctr"/>
          <a:lstStyle/>
          <a:p>
            <a:pPr algn="ctr" indent="0" marL="0">
              <a:buNone/>
            </a:pPr>
            <a:r>
              <a:rPr lang="en-US" sz="1200" b="1" dirty="0">
                <a:solidFill>
                  <a:schemeClr val="tx1"/>
                </a:solidFill>
              </a:rPr>
              <a:t>First customers</a:t>
            </a:r>
            <a:endParaRPr lang="en-US" sz="1200" dirty="0"/>
          </a:p>
        </p:txBody>
      </p:sp>
      <p:sp>
        <p:nvSpPr>
          <p:cNvPr id="29" name="Text 27"/>
          <p:cNvSpPr txBox="1"/>
          <p:nvPr/>
        </p:nvSpPr>
        <p:spPr>
          <a:xfrm>
            <a:off x="548640" y="5349240"/>
            <a:ext cx="11091672" cy="274320"/>
          </a:xfrm>
          <a:prstGeom prst="rect">
            <a:avLst/>
          </a:prstGeom>
          <a:noFill/>
          <a:ln/>
        </p:spPr>
        <p:txBody>
          <a:bodyPr wrap="square" lIns="0" tIns="0" rIns="0" bIns="0" rtlCol="0" anchor="t"/>
          <a:lstStyle/>
          <a:p>
            <a:pPr indent="0" marL="0">
              <a:buNone/>
            </a:pPr>
            <a:r>
              <a:rPr lang="en-US" sz="1200" dirty="0">
                <a:solidFill>
                  <a:schemeClr val="accent5"/>
                </a:solidFill>
              </a:rPr>
              <a:t>No dates or durations by design. The exit criteria are a proposal to refine.</a:t>
            </a:r>
            <a:endParaRPr lang="en-US" sz="12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Business plan: what is known and open</a:t>
            </a:r>
            <a:endParaRPr lang="en-US" sz="3600" dirty="0"/>
          </a:p>
        </p:txBody>
      </p:sp>
      <p:sp>
        <p:nvSpPr>
          <p:cNvPr id="3" name="card-241"/>
          <p:cNvSpPr/>
          <p:nvPr/>
        </p:nvSpPr>
        <p:spPr>
          <a:xfrm>
            <a:off x="548640" y="1508760"/>
            <a:ext cx="5408676" cy="4434840"/>
          </a:xfrm>
          <a:prstGeom prst="roundRect">
            <a:avLst>
              <a:gd name="adj" fmla="val 2474"/>
            </a:avLst>
          </a:prstGeom>
          <a:solidFill>
            <a:schemeClr val="bg2"/>
          </a:solidFill>
          <a:ln/>
        </p:spPr>
      </p:sp>
      <p:sp>
        <p:nvSpPr>
          <p:cNvPr id="4" name="Text 2"/>
          <p:cNvSpPr txBox="1"/>
          <p:nvPr/>
        </p:nvSpPr>
        <p:spPr>
          <a:xfrm>
            <a:off x="822960" y="1691640"/>
            <a:ext cx="4846320" cy="457200"/>
          </a:xfrm>
          <a:prstGeom prst="rect">
            <a:avLst/>
          </a:prstGeom>
          <a:noFill/>
          <a:ln/>
        </p:spPr>
        <p:txBody>
          <a:bodyPr wrap="square" lIns="0" tIns="0" rIns="0" bIns="0" rtlCol="0" anchor="t"/>
          <a:lstStyle/>
          <a:p>
            <a:pPr indent="0" marL="0">
              <a:buNone/>
            </a:pPr>
            <a:r>
              <a:rPr lang="en-US" sz="2000" b="1" dirty="0">
                <a:solidFill>
                  <a:schemeClr val="tx2"/>
                </a:solidFill>
              </a:rPr>
              <a:t>What we know</a:t>
            </a:r>
            <a:endParaRPr lang="en-US" sz="2000" dirty="0"/>
          </a:p>
        </p:txBody>
      </p:sp>
      <p:sp>
        <p:nvSpPr>
          <p:cNvPr id="5" name="icon-circle-242"/>
          <p:cNvSpPr/>
          <p:nvPr/>
        </p:nvSpPr>
        <p:spPr>
          <a:xfrm>
            <a:off x="822960" y="2286000"/>
            <a:ext cx="502920" cy="502920"/>
          </a:xfrm>
          <a:prstGeom prst="ellipse">
            <a:avLst/>
          </a:prstGeom>
          <a:solidFill>
            <a:schemeClr val="accent2"/>
          </a:solidFill>
          <a:ln/>
        </p:spPr>
      </p:sp>
      <p:pic>
        <p:nvPicPr>
          <p:cNvPr id="6" name="icon-check-243" descr="check icon">    </p:cNvPr>
          <p:cNvPicPr>
            <a:picLocks noChangeAspect="1"/>
          </p:cNvPicPr>
          <p:nvPr/>
        </p:nvPicPr>
        <p:blipFill>
          <a:blip r:embed="rId1"/>
          <a:stretch>
            <a:fillRect/>
          </a:stretch>
        </p:blipFill>
        <p:spPr>
          <a:xfrm>
            <a:off x="948690" y="2411730"/>
            <a:ext cx="251460" cy="251460"/>
          </a:xfrm>
          <a:prstGeom prst="rect">
            <a:avLst/>
          </a:prstGeom>
        </p:spPr>
      </p:pic>
      <p:sp>
        <p:nvSpPr>
          <p:cNvPr id="7" name="Text 4"/>
          <p:cNvSpPr txBox="1"/>
          <p:nvPr/>
        </p:nvSpPr>
        <p:spPr>
          <a:xfrm>
            <a:off x="1554480" y="2286000"/>
            <a:ext cx="4128516" cy="548640"/>
          </a:xfrm>
          <a:prstGeom prst="rect">
            <a:avLst/>
          </a:prstGeom>
          <a:noFill/>
          <a:ln/>
        </p:spPr>
        <p:txBody>
          <a:bodyPr wrap="square" lIns="0" tIns="0" rIns="0" bIns="0" rtlCol="0" anchor="ctr"/>
          <a:lstStyle/>
          <a:p>
            <a:pPr indent="0" marL="0">
              <a:buNone/>
            </a:pPr>
            <a:r>
              <a:rPr lang="en-US" sz="1400" dirty="0">
                <a:solidFill>
                  <a:schemeClr val="tx1"/>
                </a:solidFill>
              </a:rPr>
              <a:t>Target price: €20 per home, per month</a:t>
            </a:r>
            <a:endParaRPr lang="en-US" sz="1400" dirty="0"/>
          </a:p>
        </p:txBody>
      </p:sp>
      <p:sp>
        <p:nvSpPr>
          <p:cNvPr id="8" name="icon-circle-244"/>
          <p:cNvSpPr/>
          <p:nvPr/>
        </p:nvSpPr>
        <p:spPr>
          <a:xfrm>
            <a:off x="822960" y="3017520"/>
            <a:ext cx="502920" cy="502920"/>
          </a:xfrm>
          <a:prstGeom prst="ellipse">
            <a:avLst/>
          </a:prstGeom>
          <a:solidFill>
            <a:schemeClr val="accent2"/>
          </a:solidFill>
          <a:ln/>
        </p:spPr>
      </p:sp>
      <p:pic>
        <p:nvPicPr>
          <p:cNvPr id="9" name="icon-check-245" descr="check icon">    </p:cNvPr>
          <p:cNvPicPr>
            <a:picLocks noChangeAspect="1"/>
          </p:cNvPicPr>
          <p:nvPr/>
        </p:nvPicPr>
        <p:blipFill>
          <a:blip r:embed="rId2"/>
          <a:stretch>
            <a:fillRect/>
          </a:stretch>
        </p:blipFill>
        <p:spPr>
          <a:xfrm>
            <a:off x="948690" y="3143250"/>
            <a:ext cx="251460" cy="251460"/>
          </a:xfrm>
          <a:prstGeom prst="rect">
            <a:avLst/>
          </a:prstGeom>
        </p:spPr>
      </p:pic>
      <p:sp>
        <p:nvSpPr>
          <p:cNvPr id="10" name="Text 6"/>
          <p:cNvSpPr txBox="1"/>
          <p:nvPr/>
        </p:nvSpPr>
        <p:spPr>
          <a:xfrm>
            <a:off x="1554480" y="3017520"/>
            <a:ext cx="4128516" cy="548640"/>
          </a:xfrm>
          <a:prstGeom prst="rect">
            <a:avLst/>
          </a:prstGeom>
          <a:noFill/>
          <a:ln/>
        </p:spPr>
        <p:txBody>
          <a:bodyPr wrap="square" lIns="0" tIns="0" rIns="0" bIns="0" rtlCol="0" anchor="ctr"/>
          <a:lstStyle/>
          <a:p>
            <a:pPr indent="0" marL="0">
              <a:buNone/>
            </a:pPr>
            <a:r>
              <a:rPr lang="en-US" sz="1400" dirty="0">
                <a:solidFill>
                  <a:schemeClr val="tx1"/>
                </a:solidFill>
              </a:rPr>
              <a:t>Target running cost: €10 per home, per month</a:t>
            </a:r>
            <a:endParaRPr lang="en-US" sz="1400" dirty="0"/>
          </a:p>
        </p:txBody>
      </p:sp>
      <p:sp>
        <p:nvSpPr>
          <p:cNvPr id="11" name="icon-circle-246"/>
          <p:cNvSpPr/>
          <p:nvPr/>
        </p:nvSpPr>
        <p:spPr>
          <a:xfrm>
            <a:off x="822960" y="3749040"/>
            <a:ext cx="502920" cy="502920"/>
          </a:xfrm>
          <a:prstGeom prst="ellipse">
            <a:avLst/>
          </a:prstGeom>
          <a:solidFill>
            <a:schemeClr val="accent2"/>
          </a:solidFill>
          <a:ln/>
        </p:spPr>
      </p:sp>
      <p:pic>
        <p:nvPicPr>
          <p:cNvPr id="12" name="icon-check-247" descr="check icon">    </p:cNvPr>
          <p:cNvPicPr>
            <a:picLocks noChangeAspect="1"/>
          </p:cNvPicPr>
          <p:nvPr/>
        </p:nvPicPr>
        <p:blipFill>
          <a:blip r:embed="rId3"/>
          <a:stretch>
            <a:fillRect/>
          </a:stretch>
        </p:blipFill>
        <p:spPr>
          <a:xfrm>
            <a:off x="948690" y="3874770"/>
            <a:ext cx="251460" cy="251460"/>
          </a:xfrm>
          <a:prstGeom prst="rect">
            <a:avLst/>
          </a:prstGeom>
        </p:spPr>
      </p:pic>
      <p:sp>
        <p:nvSpPr>
          <p:cNvPr id="13" name="Text 8"/>
          <p:cNvSpPr txBox="1"/>
          <p:nvPr/>
        </p:nvSpPr>
        <p:spPr>
          <a:xfrm>
            <a:off x="1554480" y="3749040"/>
            <a:ext cx="4128516" cy="548640"/>
          </a:xfrm>
          <a:prstGeom prst="rect">
            <a:avLst/>
          </a:prstGeom>
          <a:noFill/>
          <a:ln/>
        </p:spPr>
        <p:txBody>
          <a:bodyPr wrap="square" lIns="0" tIns="0" rIns="0" bIns="0" rtlCol="0" anchor="ctr"/>
          <a:lstStyle/>
          <a:p>
            <a:pPr indent="0" marL="0">
              <a:buNone/>
            </a:pPr>
            <a:r>
              <a:rPr lang="en-US" sz="1400" dirty="0">
                <a:solidFill>
                  <a:schemeClr val="tx1"/>
                </a:solidFill>
              </a:rPr>
              <a:t>Revenue: subscription only, no advertising or data sales</a:t>
            </a:r>
            <a:endParaRPr lang="en-US" sz="1400" dirty="0"/>
          </a:p>
        </p:txBody>
      </p:sp>
      <p:sp>
        <p:nvSpPr>
          <p:cNvPr id="14" name="icon-circle-248"/>
          <p:cNvSpPr/>
          <p:nvPr/>
        </p:nvSpPr>
        <p:spPr>
          <a:xfrm>
            <a:off x="822960" y="4480560"/>
            <a:ext cx="502920" cy="502920"/>
          </a:xfrm>
          <a:prstGeom prst="ellipse">
            <a:avLst/>
          </a:prstGeom>
          <a:solidFill>
            <a:schemeClr val="accent2"/>
          </a:solidFill>
          <a:ln/>
        </p:spPr>
      </p:sp>
      <p:pic>
        <p:nvPicPr>
          <p:cNvPr id="15" name="icon-check-249" descr="check icon">    </p:cNvPr>
          <p:cNvPicPr>
            <a:picLocks noChangeAspect="1"/>
          </p:cNvPicPr>
          <p:nvPr/>
        </p:nvPicPr>
        <p:blipFill>
          <a:blip r:embed="rId4"/>
          <a:stretch>
            <a:fillRect/>
          </a:stretch>
        </p:blipFill>
        <p:spPr>
          <a:xfrm>
            <a:off x="948690" y="4606290"/>
            <a:ext cx="251460" cy="251460"/>
          </a:xfrm>
          <a:prstGeom prst="rect">
            <a:avLst/>
          </a:prstGeom>
        </p:spPr>
      </p:pic>
      <p:sp>
        <p:nvSpPr>
          <p:cNvPr id="16" name="Text 10"/>
          <p:cNvSpPr txBox="1"/>
          <p:nvPr/>
        </p:nvSpPr>
        <p:spPr>
          <a:xfrm>
            <a:off x="1554480" y="4480560"/>
            <a:ext cx="4128516" cy="548640"/>
          </a:xfrm>
          <a:prstGeom prst="rect">
            <a:avLst/>
          </a:prstGeom>
          <a:noFill/>
          <a:ln/>
        </p:spPr>
        <p:txBody>
          <a:bodyPr wrap="square" lIns="0" tIns="0" rIns="0" bIns="0" rtlCol="0" anchor="ctr"/>
          <a:lstStyle/>
          <a:p>
            <a:pPr indent="0" marL="0">
              <a:buNone/>
            </a:pPr>
            <a:r>
              <a:rPr lang="en-US" sz="1400" dirty="0">
                <a:solidFill>
                  <a:schemeClr val="tx1"/>
                </a:solidFill>
              </a:rPr>
              <a:t>Delivery by milestones, from partnership agreement to go-live</a:t>
            </a:r>
            <a:endParaRPr lang="en-US" sz="1400" dirty="0"/>
          </a:p>
        </p:txBody>
      </p:sp>
      <p:sp>
        <p:nvSpPr>
          <p:cNvPr id="17" name="icon-circle-250"/>
          <p:cNvSpPr/>
          <p:nvPr/>
        </p:nvSpPr>
        <p:spPr>
          <a:xfrm>
            <a:off x="822960" y="5212080"/>
            <a:ext cx="502920" cy="502920"/>
          </a:xfrm>
          <a:prstGeom prst="ellipse">
            <a:avLst/>
          </a:prstGeom>
          <a:solidFill>
            <a:schemeClr val="accent2"/>
          </a:solidFill>
          <a:ln/>
        </p:spPr>
      </p:sp>
      <p:pic>
        <p:nvPicPr>
          <p:cNvPr id="18" name="icon-check-251" descr="check icon">    </p:cNvPr>
          <p:cNvPicPr>
            <a:picLocks noChangeAspect="1"/>
          </p:cNvPicPr>
          <p:nvPr/>
        </p:nvPicPr>
        <p:blipFill>
          <a:blip r:embed="rId5"/>
          <a:stretch>
            <a:fillRect/>
          </a:stretch>
        </p:blipFill>
        <p:spPr>
          <a:xfrm>
            <a:off x="948690" y="5337810"/>
            <a:ext cx="251460" cy="251460"/>
          </a:xfrm>
          <a:prstGeom prst="rect">
            <a:avLst/>
          </a:prstGeom>
        </p:spPr>
      </p:pic>
      <p:sp>
        <p:nvSpPr>
          <p:cNvPr id="19" name="Text 12"/>
          <p:cNvSpPr txBox="1"/>
          <p:nvPr/>
        </p:nvSpPr>
        <p:spPr>
          <a:xfrm>
            <a:off x="1554480" y="5212080"/>
            <a:ext cx="4128516" cy="548640"/>
          </a:xfrm>
          <a:prstGeom prst="rect">
            <a:avLst/>
          </a:prstGeom>
          <a:noFill/>
          <a:ln/>
        </p:spPr>
        <p:txBody>
          <a:bodyPr wrap="square" lIns="0" tIns="0" rIns="0" bIns="0" rtlCol="0" anchor="ctr"/>
          <a:lstStyle/>
          <a:p>
            <a:pPr indent="0" marL="0">
              <a:buNone/>
            </a:pPr>
            <a:r>
              <a:rPr lang="en-US" sz="1400" dirty="0">
                <a:solidFill>
                  <a:schemeClr val="tx1"/>
                </a:solidFill>
              </a:rPr>
              <a:t>Cost drivers: AWS, AI services (Claude, Perplexity), Claude Code and people</a:t>
            </a:r>
            <a:endParaRPr lang="en-US" sz="1400" dirty="0"/>
          </a:p>
        </p:txBody>
      </p:sp>
      <p:sp>
        <p:nvSpPr>
          <p:cNvPr id="20" name="card-252"/>
          <p:cNvSpPr/>
          <p:nvPr/>
        </p:nvSpPr>
        <p:spPr>
          <a:xfrm>
            <a:off x="6231636" y="1508760"/>
            <a:ext cx="5408676" cy="4434840"/>
          </a:xfrm>
          <a:prstGeom prst="roundRect">
            <a:avLst>
              <a:gd name="adj" fmla="val 2474"/>
            </a:avLst>
          </a:prstGeom>
          <a:solidFill>
            <a:schemeClr val="tx2"/>
          </a:solidFill>
          <a:ln/>
        </p:spPr>
      </p:sp>
      <p:sp>
        <p:nvSpPr>
          <p:cNvPr id="21" name="Text 14"/>
          <p:cNvSpPr txBox="1"/>
          <p:nvPr/>
        </p:nvSpPr>
        <p:spPr>
          <a:xfrm>
            <a:off x="6505956" y="1691640"/>
            <a:ext cx="4846320" cy="457200"/>
          </a:xfrm>
          <a:prstGeom prst="rect">
            <a:avLst/>
          </a:prstGeom>
          <a:noFill/>
          <a:ln/>
        </p:spPr>
        <p:txBody>
          <a:bodyPr wrap="square" lIns="0" tIns="0" rIns="0" bIns="0" rtlCol="0" anchor="t"/>
          <a:lstStyle/>
          <a:p>
            <a:pPr indent="0" marL="0">
              <a:buNone/>
            </a:pPr>
            <a:r>
              <a:rPr lang="en-US" sz="2000" b="1" dirty="0">
                <a:solidFill>
                  <a:schemeClr val="bg1"/>
                </a:solidFill>
              </a:rPr>
              <a:t>To define with David</a:t>
            </a:r>
            <a:endParaRPr lang="en-US" sz="2000" dirty="0"/>
          </a:p>
        </p:txBody>
      </p:sp>
      <p:sp>
        <p:nvSpPr>
          <p:cNvPr id="22" name="icon-circle-253"/>
          <p:cNvSpPr/>
          <p:nvPr/>
        </p:nvSpPr>
        <p:spPr>
          <a:xfrm>
            <a:off x="6505956" y="2377440"/>
            <a:ext cx="502920" cy="502920"/>
          </a:xfrm>
          <a:prstGeom prst="ellipse">
            <a:avLst/>
          </a:prstGeom>
          <a:solidFill>
            <a:schemeClr val="accent1"/>
          </a:solidFill>
          <a:ln/>
        </p:spPr>
      </p:sp>
      <p:pic>
        <p:nvPicPr>
          <p:cNvPr id="23" name="icon-question-254" descr="question icon">    </p:cNvPr>
          <p:cNvPicPr>
            <a:picLocks noChangeAspect="1"/>
          </p:cNvPicPr>
          <p:nvPr/>
        </p:nvPicPr>
        <p:blipFill>
          <a:blip r:embed="rId6"/>
          <a:stretch>
            <a:fillRect/>
          </a:stretch>
        </p:blipFill>
        <p:spPr>
          <a:xfrm>
            <a:off x="6631686" y="2503170"/>
            <a:ext cx="251460" cy="251460"/>
          </a:xfrm>
          <a:prstGeom prst="rect">
            <a:avLst/>
          </a:prstGeom>
        </p:spPr>
      </p:pic>
      <p:sp>
        <p:nvSpPr>
          <p:cNvPr id="24" name="Text 16"/>
          <p:cNvSpPr txBox="1"/>
          <p:nvPr/>
        </p:nvSpPr>
        <p:spPr>
          <a:xfrm>
            <a:off x="7237476" y="2377440"/>
            <a:ext cx="4128516" cy="685800"/>
          </a:xfrm>
          <a:prstGeom prst="rect">
            <a:avLst/>
          </a:prstGeom>
          <a:noFill/>
          <a:ln/>
        </p:spPr>
        <p:txBody>
          <a:bodyPr wrap="square" lIns="0" tIns="0" rIns="0" bIns="0" rtlCol="0" anchor="ctr"/>
          <a:lstStyle/>
          <a:p>
            <a:pPr indent="0" marL="0">
              <a:buNone/>
            </a:pPr>
            <a:r>
              <a:rPr lang="en-US" sz="1400" dirty="0">
                <a:solidFill>
                  <a:schemeClr val="bg1"/>
                </a:solidFill>
              </a:rPr>
              <a:t>Who owns the product</a:t>
            </a:r>
            <a:endParaRPr lang="en-US" sz="1400" dirty="0"/>
          </a:p>
        </p:txBody>
      </p:sp>
      <p:sp>
        <p:nvSpPr>
          <p:cNvPr id="25" name="icon-circle-255"/>
          <p:cNvSpPr/>
          <p:nvPr/>
        </p:nvSpPr>
        <p:spPr>
          <a:xfrm>
            <a:off x="6505956" y="3246120"/>
            <a:ext cx="502920" cy="502920"/>
          </a:xfrm>
          <a:prstGeom prst="ellipse">
            <a:avLst/>
          </a:prstGeom>
          <a:solidFill>
            <a:schemeClr val="accent1"/>
          </a:solidFill>
          <a:ln/>
        </p:spPr>
      </p:sp>
      <p:pic>
        <p:nvPicPr>
          <p:cNvPr id="26" name="icon-question-256" descr="question icon">    </p:cNvPr>
          <p:cNvPicPr>
            <a:picLocks noChangeAspect="1"/>
          </p:cNvPicPr>
          <p:nvPr/>
        </p:nvPicPr>
        <p:blipFill>
          <a:blip r:embed="rId7"/>
          <a:stretch>
            <a:fillRect/>
          </a:stretch>
        </p:blipFill>
        <p:spPr>
          <a:xfrm>
            <a:off x="6631686" y="3371850"/>
            <a:ext cx="251460" cy="251460"/>
          </a:xfrm>
          <a:prstGeom prst="rect">
            <a:avLst/>
          </a:prstGeom>
        </p:spPr>
      </p:pic>
      <p:sp>
        <p:nvSpPr>
          <p:cNvPr id="27" name="Text 18"/>
          <p:cNvSpPr txBox="1"/>
          <p:nvPr/>
        </p:nvSpPr>
        <p:spPr>
          <a:xfrm>
            <a:off x="7237476" y="3246120"/>
            <a:ext cx="4128516" cy="685800"/>
          </a:xfrm>
          <a:prstGeom prst="rect">
            <a:avLst/>
          </a:prstGeom>
          <a:noFill/>
          <a:ln/>
        </p:spPr>
        <p:txBody>
          <a:bodyPr wrap="square" lIns="0" tIns="0" rIns="0" bIns="0" rtlCol="0" anchor="ctr"/>
          <a:lstStyle/>
          <a:p>
            <a:pPr indent="0" marL="0">
              <a:buNone/>
            </a:pPr>
            <a:r>
              <a:rPr lang="en-US" sz="1400" dirty="0">
                <a:solidFill>
                  <a:schemeClr val="bg1"/>
                </a:solidFill>
              </a:rPr>
              <a:t>How development is funded</a:t>
            </a:r>
            <a:endParaRPr lang="en-US" sz="1400" dirty="0"/>
          </a:p>
        </p:txBody>
      </p:sp>
      <p:sp>
        <p:nvSpPr>
          <p:cNvPr id="28" name="icon-circle-257"/>
          <p:cNvSpPr/>
          <p:nvPr/>
        </p:nvSpPr>
        <p:spPr>
          <a:xfrm>
            <a:off x="6505956" y="4114800"/>
            <a:ext cx="502920" cy="502920"/>
          </a:xfrm>
          <a:prstGeom prst="ellipse">
            <a:avLst/>
          </a:prstGeom>
          <a:solidFill>
            <a:schemeClr val="accent1"/>
          </a:solidFill>
          <a:ln/>
        </p:spPr>
      </p:sp>
      <p:pic>
        <p:nvPicPr>
          <p:cNvPr id="29" name="icon-question-258" descr="question icon">    </p:cNvPr>
          <p:cNvPicPr>
            <a:picLocks noChangeAspect="1"/>
          </p:cNvPicPr>
          <p:nvPr/>
        </p:nvPicPr>
        <p:blipFill>
          <a:blip r:embed="rId8"/>
          <a:stretch>
            <a:fillRect/>
          </a:stretch>
        </p:blipFill>
        <p:spPr>
          <a:xfrm>
            <a:off x="6631686" y="4240530"/>
            <a:ext cx="251460" cy="251460"/>
          </a:xfrm>
          <a:prstGeom prst="rect">
            <a:avLst/>
          </a:prstGeom>
        </p:spPr>
      </p:pic>
      <p:sp>
        <p:nvSpPr>
          <p:cNvPr id="30" name="Text 20"/>
          <p:cNvSpPr txBox="1"/>
          <p:nvPr/>
        </p:nvSpPr>
        <p:spPr>
          <a:xfrm>
            <a:off x="7237476" y="4114800"/>
            <a:ext cx="4128516" cy="685800"/>
          </a:xfrm>
          <a:prstGeom prst="rect">
            <a:avLst/>
          </a:prstGeom>
          <a:noFill/>
          <a:ln/>
        </p:spPr>
        <p:txBody>
          <a:bodyPr wrap="square" lIns="0" tIns="0" rIns="0" bIns="0" rtlCol="0" anchor="ctr"/>
          <a:lstStyle/>
          <a:p>
            <a:pPr indent="0" marL="0">
              <a:buNone/>
            </a:pPr>
            <a:r>
              <a:rPr lang="en-US" sz="1400" dirty="0">
                <a:solidFill>
                  <a:schemeClr val="bg1"/>
                </a:solidFill>
              </a:rPr>
              <a:t>Compensation and hiring</a:t>
            </a:r>
            <a:endParaRPr lang="en-US" sz="1400" dirty="0"/>
          </a:p>
        </p:txBody>
      </p:sp>
      <p:sp>
        <p:nvSpPr>
          <p:cNvPr id="31" name="icon-circle-259"/>
          <p:cNvSpPr/>
          <p:nvPr/>
        </p:nvSpPr>
        <p:spPr>
          <a:xfrm>
            <a:off x="6505956" y="4983480"/>
            <a:ext cx="502920" cy="502920"/>
          </a:xfrm>
          <a:prstGeom prst="ellipse">
            <a:avLst/>
          </a:prstGeom>
          <a:solidFill>
            <a:schemeClr val="accent1"/>
          </a:solidFill>
          <a:ln/>
        </p:spPr>
      </p:sp>
      <p:pic>
        <p:nvPicPr>
          <p:cNvPr id="32" name="icon-question-260" descr="question icon">    </p:cNvPr>
          <p:cNvPicPr>
            <a:picLocks noChangeAspect="1"/>
          </p:cNvPicPr>
          <p:nvPr/>
        </p:nvPicPr>
        <p:blipFill>
          <a:blip r:embed="rId9"/>
          <a:stretch>
            <a:fillRect/>
          </a:stretch>
        </p:blipFill>
        <p:spPr>
          <a:xfrm>
            <a:off x="6631686" y="5109210"/>
            <a:ext cx="251460" cy="251460"/>
          </a:xfrm>
          <a:prstGeom prst="rect">
            <a:avLst/>
          </a:prstGeom>
        </p:spPr>
      </p:pic>
      <p:sp>
        <p:nvSpPr>
          <p:cNvPr id="33" name="Text 22"/>
          <p:cNvSpPr txBox="1"/>
          <p:nvPr/>
        </p:nvSpPr>
        <p:spPr>
          <a:xfrm>
            <a:off x="7237476" y="4983480"/>
            <a:ext cx="4128516" cy="685800"/>
          </a:xfrm>
          <a:prstGeom prst="rect">
            <a:avLst/>
          </a:prstGeom>
          <a:noFill/>
          <a:ln/>
        </p:spPr>
        <p:txBody>
          <a:bodyPr wrap="square" lIns="0" tIns="0" rIns="0" bIns="0" rtlCol="0" anchor="ctr"/>
          <a:lstStyle/>
          <a:p>
            <a:pPr indent="0" marL="0">
              <a:buNone/>
            </a:pPr>
            <a:r>
              <a:rPr lang="en-US" sz="1400" dirty="0">
                <a:solidFill>
                  <a:schemeClr val="bg1"/>
                </a:solidFill>
              </a:rPr>
              <a:t>Payback and ROI: modelled once the structure is agreed</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Where David fits</a:t>
            </a:r>
            <a:endParaRPr lang="en-US" sz="3600" dirty="0"/>
          </a:p>
        </p:txBody>
      </p:sp>
      <p:sp>
        <p:nvSpPr>
          <p:cNvPr id="3" name="Text 1"/>
          <p:cNvSpPr txBox="1"/>
          <p:nvPr/>
        </p:nvSpPr>
        <p:spPr>
          <a:xfrm>
            <a:off x="548640" y="1207008"/>
            <a:ext cx="11091672" cy="365760"/>
          </a:xfrm>
          <a:prstGeom prst="rect">
            <a:avLst/>
          </a:prstGeom>
          <a:noFill/>
          <a:ln/>
        </p:spPr>
        <p:txBody>
          <a:bodyPr wrap="square" lIns="0" tIns="0" rIns="0" bIns="0" rtlCol="0" anchor="t"/>
          <a:lstStyle/>
          <a:p>
            <a:pPr indent="0" marL="0">
              <a:buNone/>
            </a:pPr>
            <a:r>
              <a:rPr lang="en-US" sz="2000" b="1" dirty="0">
                <a:solidFill>
                  <a:schemeClr val="accent1"/>
                </a:solidFill>
              </a:rPr>
              <a:t>Distribution and sales</a:t>
            </a:r>
            <a:endParaRPr lang="en-US" sz="2000" dirty="0"/>
          </a:p>
        </p:txBody>
      </p:sp>
      <p:sp>
        <p:nvSpPr>
          <p:cNvPr id="4" name="card-261"/>
          <p:cNvSpPr/>
          <p:nvPr/>
        </p:nvSpPr>
        <p:spPr>
          <a:xfrm>
            <a:off x="548640" y="1783080"/>
            <a:ext cx="2635758" cy="2926080"/>
          </a:xfrm>
          <a:prstGeom prst="roundRect">
            <a:avLst>
              <a:gd name="adj" fmla="val 4163"/>
            </a:avLst>
          </a:prstGeom>
          <a:solidFill>
            <a:schemeClr val="bg2"/>
          </a:solidFill>
          <a:ln/>
        </p:spPr>
      </p:sp>
      <p:sp>
        <p:nvSpPr>
          <p:cNvPr id="5" name="icon-circle-262"/>
          <p:cNvSpPr/>
          <p:nvPr/>
        </p:nvSpPr>
        <p:spPr>
          <a:xfrm>
            <a:off x="822960" y="2011680"/>
            <a:ext cx="731520" cy="731520"/>
          </a:xfrm>
          <a:prstGeom prst="ellipse">
            <a:avLst/>
          </a:prstGeom>
          <a:solidFill>
            <a:schemeClr val="accent2"/>
          </a:solidFill>
          <a:ln/>
        </p:spPr>
      </p:sp>
      <p:pic>
        <p:nvPicPr>
          <p:cNvPr id="6" name="icon-home-263" descr="home icon">    </p:cNvPr>
          <p:cNvPicPr>
            <a:picLocks noChangeAspect="1"/>
          </p:cNvPicPr>
          <p:nvPr/>
        </p:nvPicPr>
        <p:blipFill>
          <a:blip r:embed="rId1"/>
          <a:stretch>
            <a:fillRect/>
          </a:stretch>
        </p:blipFill>
        <p:spPr>
          <a:xfrm>
            <a:off x="1005840" y="2194560"/>
            <a:ext cx="365760" cy="365760"/>
          </a:xfrm>
          <a:prstGeom prst="rect">
            <a:avLst/>
          </a:prstGeom>
        </p:spPr>
      </p:pic>
      <p:sp>
        <p:nvSpPr>
          <p:cNvPr id="7" name="Text 4"/>
          <p:cNvSpPr txBox="1"/>
          <p:nvPr/>
        </p:nvSpPr>
        <p:spPr>
          <a:xfrm>
            <a:off x="822960" y="2971800"/>
            <a:ext cx="2087118" cy="685800"/>
          </a:xfrm>
          <a:prstGeom prst="rect">
            <a:avLst/>
          </a:prstGeom>
          <a:noFill/>
          <a:ln/>
        </p:spPr>
        <p:txBody>
          <a:bodyPr wrap="square" lIns="0" tIns="0" rIns="0" bIns="0" rtlCol="0" anchor="t"/>
          <a:lstStyle/>
          <a:p>
            <a:pPr indent="0" marL="0">
              <a:buNone/>
            </a:pPr>
            <a:r>
              <a:rPr lang="en-US" sz="1800" b="1" dirty="0">
                <a:solidFill>
                  <a:schemeClr val="tx2"/>
                </a:solidFill>
              </a:rPr>
              <a:t>Bundled in the home</a:t>
            </a:r>
            <a:endParaRPr lang="en-US" sz="1800" dirty="0"/>
          </a:p>
        </p:txBody>
      </p:sp>
      <p:sp>
        <p:nvSpPr>
          <p:cNvPr id="8" name="Text 5"/>
          <p:cNvSpPr txBox="1"/>
          <p:nvPr/>
        </p:nvSpPr>
        <p:spPr>
          <a:xfrm>
            <a:off x="822960" y="3703320"/>
            <a:ext cx="2087118" cy="914400"/>
          </a:xfrm>
          <a:prstGeom prst="rect">
            <a:avLst/>
          </a:prstGeom>
          <a:noFill/>
          <a:ln/>
        </p:spPr>
        <p:txBody>
          <a:bodyPr wrap="square" lIns="0" tIns="0" rIns="0" bIns="0" rtlCol="0" anchor="t"/>
          <a:lstStyle/>
          <a:p>
            <a:pPr indent="0" marL="0">
              <a:buNone/>
            </a:pPr>
            <a:r>
              <a:rPr lang="en-US" sz="1400" dirty="0">
                <a:solidFill>
                  <a:schemeClr val="tx1"/>
                </a:solidFill>
              </a:rPr>
              <a:t>A first-year subscription included in the price of each home built or reformed.</a:t>
            </a:r>
            <a:endParaRPr lang="en-US" sz="1400" dirty="0"/>
          </a:p>
        </p:txBody>
      </p:sp>
      <p:sp>
        <p:nvSpPr>
          <p:cNvPr id="9" name="card-264"/>
          <p:cNvSpPr/>
          <p:nvPr/>
        </p:nvSpPr>
        <p:spPr>
          <a:xfrm>
            <a:off x="3367278" y="1783080"/>
            <a:ext cx="2635758" cy="2926080"/>
          </a:xfrm>
          <a:prstGeom prst="roundRect">
            <a:avLst>
              <a:gd name="adj" fmla="val 4163"/>
            </a:avLst>
          </a:prstGeom>
          <a:solidFill>
            <a:schemeClr val="bg2"/>
          </a:solidFill>
          <a:ln/>
        </p:spPr>
      </p:sp>
      <p:sp>
        <p:nvSpPr>
          <p:cNvPr id="10" name="icon-circle-265"/>
          <p:cNvSpPr/>
          <p:nvPr/>
        </p:nvSpPr>
        <p:spPr>
          <a:xfrm>
            <a:off x="3641598" y="2011680"/>
            <a:ext cx="731520" cy="731520"/>
          </a:xfrm>
          <a:prstGeom prst="ellipse">
            <a:avLst/>
          </a:prstGeom>
          <a:solidFill>
            <a:schemeClr val="accent2"/>
          </a:solidFill>
          <a:ln/>
        </p:spPr>
      </p:sp>
      <p:pic>
        <p:nvPicPr>
          <p:cNvPr id="11" name="icon-euro-266" descr="euro icon">    </p:cNvPr>
          <p:cNvPicPr>
            <a:picLocks noChangeAspect="1"/>
          </p:cNvPicPr>
          <p:nvPr/>
        </p:nvPicPr>
        <p:blipFill>
          <a:blip r:embed="rId2"/>
          <a:stretch>
            <a:fillRect/>
          </a:stretch>
        </p:blipFill>
        <p:spPr>
          <a:xfrm>
            <a:off x="3824478" y="2194560"/>
            <a:ext cx="365760" cy="365760"/>
          </a:xfrm>
          <a:prstGeom prst="rect">
            <a:avLst/>
          </a:prstGeom>
        </p:spPr>
      </p:pic>
      <p:sp>
        <p:nvSpPr>
          <p:cNvPr id="12" name="Text 8"/>
          <p:cNvSpPr txBox="1"/>
          <p:nvPr/>
        </p:nvSpPr>
        <p:spPr>
          <a:xfrm>
            <a:off x="3641598" y="2971800"/>
            <a:ext cx="2087118" cy="685800"/>
          </a:xfrm>
          <a:prstGeom prst="rect">
            <a:avLst/>
          </a:prstGeom>
          <a:noFill/>
          <a:ln/>
        </p:spPr>
        <p:txBody>
          <a:bodyPr wrap="square" lIns="0" tIns="0" rIns="0" bIns="0" rtlCol="0" anchor="t"/>
          <a:lstStyle/>
          <a:p>
            <a:pPr indent="0" marL="0">
              <a:buNone/>
            </a:pPr>
            <a:r>
              <a:rPr lang="en-US" sz="1800" b="1" dirty="0">
                <a:solidFill>
                  <a:schemeClr val="tx2"/>
                </a:solidFill>
              </a:rPr>
              <a:t>Setup fee per home</a:t>
            </a:r>
            <a:endParaRPr lang="en-US" sz="1800" dirty="0"/>
          </a:p>
        </p:txBody>
      </p:sp>
      <p:sp>
        <p:nvSpPr>
          <p:cNvPr id="13" name="Text 9"/>
          <p:cNvSpPr txBox="1"/>
          <p:nvPr/>
        </p:nvSpPr>
        <p:spPr>
          <a:xfrm>
            <a:off x="3641598" y="3703320"/>
            <a:ext cx="2087118" cy="914400"/>
          </a:xfrm>
          <a:prstGeom prst="rect">
            <a:avLst/>
          </a:prstGeom>
          <a:noFill/>
          <a:ln/>
        </p:spPr>
        <p:txBody>
          <a:bodyPr wrap="square" lIns="0" tIns="0" rIns="0" bIns="0" rtlCol="0" anchor="t"/>
          <a:lstStyle/>
          <a:p>
            <a:pPr indent="0" marL="0">
              <a:buNone/>
            </a:pPr>
            <a:r>
              <a:rPr lang="en-US" sz="1400" dirty="0">
                <a:solidFill>
                  <a:schemeClr val="tx1"/>
                </a:solidFill>
              </a:rPr>
              <a:t>A one-time fee for installing and configuring each home.</a:t>
            </a:r>
            <a:endParaRPr lang="en-US" sz="1400" dirty="0"/>
          </a:p>
        </p:txBody>
      </p:sp>
      <p:sp>
        <p:nvSpPr>
          <p:cNvPr id="14" name="card-267"/>
          <p:cNvSpPr/>
          <p:nvPr/>
        </p:nvSpPr>
        <p:spPr>
          <a:xfrm>
            <a:off x="6185916" y="1783080"/>
            <a:ext cx="2635758" cy="2926080"/>
          </a:xfrm>
          <a:prstGeom prst="roundRect">
            <a:avLst>
              <a:gd name="adj" fmla="val 4163"/>
            </a:avLst>
          </a:prstGeom>
          <a:solidFill>
            <a:schemeClr val="bg2"/>
          </a:solidFill>
          <a:ln/>
        </p:spPr>
      </p:sp>
      <p:sp>
        <p:nvSpPr>
          <p:cNvPr id="15" name="icon-circle-268"/>
          <p:cNvSpPr/>
          <p:nvPr/>
        </p:nvSpPr>
        <p:spPr>
          <a:xfrm>
            <a:off x="6460236" y="2011680"/>
            <a:ext cx="731520" cy="731520"/>
          </a:xfrm>
          <a:prstGeom prst="ellipse">
            <a:avLst/>
          </a:prstGeom>
          <a:solidFill>
            <a:schemeClr val="accent2"/>
          </a:solidFill>
          <a:ln/>
        </p:spPr>
      </p:sp>
      <p:pic>
        <p:nvPicPr>
          <p:cNvPr id="16" name="icon-handshake-269" descr="handshake icon">    </p:cNvPr>
          <p:cNvPicPr>
            <a:picLocks noChangeAspect="1"/>
          </p:cNvPicPr>
          <p:nvPr/>
        </p:nvPicPr>
        <p:blipFill>
          <a:blip r:embed="rId3"/>
          <a:stretch>
            <a:fillRect/>
          </a:stretch>
        </p:blipFill>
        <p:spPr>
          <a:xfrm>
            <a:off x="6643116" y="2194560"/>
            <a:ext cx="365760" cy="365760"/>
          </a:xfrm>
          <a:prstGeom prst="rect">
            <a:avLst/>
          </a:prstGeom>
        </p:spPr>
      </p:pic>
      <p:sp>
        <p:nvSpPr>
          <p:cNvPr id="17" name="Text 12"/>
          <p:cNvSpPr txBox="1"/>
          <p:nvPr/>
        </p:nvSpPr>
        <p:spPr>
          <a:xfrm>
            <a:off x="6460236" y="2971800"/>
            <a:ext cx="2087118" cy="685800"/>
          </a:xfrm>
          <a:prstGeom prst="rect">
            <a:avLst/>
          </a:prstGeom>
          <a:noFill/>
          <a:ln/>
        </p:spPr>
        <p:txBody>
          <a:bodyPr wrap="square" lIns="0" tIns="0" rIns="0" bIns="0" rtlCol="0" anchor="t"/>
          <a:lstStyle/>
          <a:p>
            <a:pPr indent="0" marL="0">
              <a:buNone/>
            </a:pPr>
            <a:r>
              <a:rPr lang="en-US" sz="1800" b="1" dirty="0">
                <a:solidFill>
                  <a:schemeClr val="tx2"/>
                </a:solidFill>
              </a:rPr>
              <a:t>Co-funding development</a:t>
            </a:r>
            <a:endParaRPr lang="en-US" sz="1800" dirty="0"/>
          </a:p>
        </p:txBody>
      </p:sp>
      <p:sp>
        <p:nvSpPr>
          <p:cNvPr id="18" name="Text 13"/>
          <p:cNvSpPr txBox="1"/>
          <p:nvPr/>
        </p:nvSpPr>
        <p:spPr>
          <a:xfrm>
            <a:off x="6460236" y="3703320"/>
            <a:ext cx="2087118" cy="914400"/>
          </a:xfrm>
          <a:prstGeom prst="rect">
            <a:avLst/>
          </a:prstGeom>
          <a:noFill/>
          <a:ln/>
        </p:spPr>
        <p:txBody>
          <a:bodyPr wrap="square" lIns="0" tIns="0" rIns="0" bIns="0" rtlCol="0" anchor="t"/>
          <a:lstStyle/>
          <a:p>
            <a:pPr indent="0" marL="0">
              <a:buNone/>
            </a:pPr>
            <a:r>
              <a:rPr lang="en-US" sz="1400" dirty="0">
                <a:solidFill>
                  <a:schemeClr val="tx1"/>
                </a:solidFill>
              </a:rPr>
              <a:t>Shared investment in exchange for a stake or preferred access.</a:t>
            </a:r>
            <a:endParaRPr lang="en-US" sz="1400" dirty="0"/>
          </a:p>
        </p:txBody>
      </p:sp>
      <p:sp>
        <p:nvSpPr>
          <p:cNvPr id="19" name="card-270"/>
          <p:cNvSpPr/>
          <p:nvPr/>
        </p:nvSpPr>
        <p:spPr>
          <a:xfrm>
            <a:off x="9004554" y="1783080"/>
            <a:ext cx="2635758" cy="2926080"/>
          </a:xfrm>
          <a:prstGeom prst="roundRect">
            <a:avLst>
              <a:gd name="adj" fmla="val 4163"/>
            </a:avLst>
          </a:prstGeom>
          <a:solidFill>
            <a:schemeClr val="bg2"/>
          </a:solidFill>
          <a:ln/>
        </p:spPr>
      </p:sp>
      <p:sp>
        <p:nvSpPr>
          <p:cNvPr id="20" name="icon-circle-271"/>
          <p:cNvSpPr/>
          <p:nvPr/>
        </p:nvSpPr>
        <p:spPr>
          <a:xfrm>
            <a:off x="9278874" y="2011680"/>
            <a:ext cx="731520" cy="731520"/>
          </a:xfrm>
          <a:prstGeom prst="ellipse">
            <a:avLst/>
          </a:prstGeom>
          <a:solidFill>
            <a:schemeClr val="accent2"/>
          </a:solidFill>
          <a:ln/>
        </p:spPr>
      </p:sp>
      <p:pic>
        <p:nvPicPr>
          <p:cNvPr id="21" name="icon-users-272" descr="users icon">    </p:cNvPr>
          <p:cNvPicPr>
            <a:picLocks noChangeAspect="1"/>
          </p:cNvPicPr>
          <p:nvPr/>
        </p:nvPicPr>
        <p:blipFill>
          <a:blip r:embed="rId4"/>
          <a:stretch>
            <a:fillRect/>
          </a:stretch>
        </p:blipFill>
        <p:spPr>
          <a:xfrm>
            <a:off x="9461754" y="2194560"/>
            <a:ext cx="365760" cy="365760"/>
          </a:xfrm>
          <a:prstGeom prst="rect">
            <a:avLst/>
          </a:prstGeom>
        </p:spPr>
      </p:pic>
      <p:sp>
        <p:nvSpPr>
          <p:cNvPr id="22" name="Text 16"/>
          <p:cNvSpPr txBox="1"/>
          <p:nvPr/>
        </p:nvSpPr>
        <p:spPr>
          <a:xfrm>
            <a:off x="9278874" y="2971800"/>
            <a:ext cx="2087118" cy="685800"/>
          </a:xfrm>
          <a:prstGeom prst="rect">
            <a:avLst/>
          </a:prstGeom>
          <a:noFill/>
          <a:ln/>
        </p:spPr>
        <p:txBody>
          <a:bodyPr wrap="square" lIns="0" tIns="0" rIns="0" bIns="0" rtlCol="0" anchor="t"/>
          <a:lstStyle/>
          <a:p>
            <a:pPr indent="0" marL="0">
              <a:buNone/>
            </a:pPr>
            <a:r>
              <a:rPr lang="en-US" sz="1800" b="1" dirty="0">
                <a:solidFill>
                  <a:schemeClr val="tx2"/>
                </a:solidFill>
              </a:rPr>
              <a:t>Pilot sites and channel</a:t>
            </a:r>
            <a:endParaRPr lang="en-US" sz="1800" dirty="0"/>
          </a:p>
        </p:txBody>
      </p:sp>
      <p:sp>
        <p:nvSpPr>
          <p:cNvPr id="23" name="Text 17"/>
          <p:cNvSpPr txBox="1"/>
          <p:nvPr/>
        </p:nvSpPr>
        <p:spPr>
          <a:xfrm>
            <a:off x="9278874" y="3703320"/>
            <a:ext cx="2087118" cy="914400"/>
          </a:xfrm>
          <a:prstGeom prst="rect">
            <a:avLst/>
          </a:prstGeom>
          <a:noFill/>
          <a:ln/>
        </p:spPr>
        <p:txBody>
          <a:bodyPr wrap="square" lIns="0" tIns="0" rIns="0" bIns="0" rtlCol="0" anchor="t"/>
          <a:lstStyle/>
          <a:p>
            <a:pPr indent="0" marL="0">
              <a:buNone/>
            </a:pPr>
            <a:r>
              <a:rPr lang="en-US" sz="1400" dirty="0">
                <a:solidFill>
                  <a:schemeClr val="tx1"/>
                </a:solidFill>
              </a:rPr>
              <a:t>Homes he delivers become pilot sites and first subscribers.</a:t>
            </a:r>
            <a:endParaRPr lang="en-US" sz="1400" dirty="0"/>
          </a:p>
        </p:txBody>
      </p:sp>
      <p:sp>
        <p:nvSpPr>
          <p:cNvPr id="24" name="card-273"/>
          <p:cNvSpPr/>
          <p:nvPr/>
        </p:nvSpPr>
        <p:spPr>
          <a:xfrm>
            <a:off x="548640" y="4937760"/>
            <a:ext cx="11091672" cy="1005840"/>
          </a:xfrm>
          <a:prstGeom prst="roundRect">
            <a:avLst>
              <a:gd name="adj" fmla="val 10909"/>
            </a:avLst>
          </a:prstGeom>
          <a:solidFill>
            <a:schemeClr val="tx2"/>
          </a:solidFill>
          <a:ln/>
        </p:spPr>
      </p:sp>
      <p:sp>
        <p:nvSpPr>
          <p:cNvPr id="25" name="icon-circle-274"/>
          <p:cNvSpPr/>
          <p:nvPr/>
        </p:nvSpPr>
        <p:spPr>
          <a:xfrm>
            <a:off x="822960" y="5166360"/>
            <a:ext cx="548640" cy="548640"/>
          </a:xfrm>
          <a:prstGeom prst="ellipse">
            <a:avLst/>
          </a:prstGeom>
          <a:solidFill>
            <a:schemeClr val="accent1"/>
          </a:solidFill>
          <a:ln/>
        </p:spPr>
      </p:sp>
      <p:pic>
        <p:nvPicPr>
          <p:cNvPr id="26" name="icon-building-275" descr="building icon">    </p:cNvPr>
          <p:cNvPicPr>
            <a:picLocks noChangeAspect="1"/>
          </p:cNvPicPr>
          <p:nvPr/>
        </p:nvPicPr>
        <p:blipFill>
          <a:blip r:embed="rId5"/>
          <a:stretch>
            <a:fillRect/>
          </a:stretch>
        </p:blipFill>
        <p:spPr>
          <a:xfrm>
            <a:off x="960120" y="5303520"/>
            <a:ext cx="274320" cy="274320"/>
          </a:xfrm>
          <a:prstGeom prst="rect">
            <a:avLst/>
          </a:prstGeom>
        </p:spPr>
      </p:pic>
      <p:sp>
        <p:nvSpPr>
          <p:cNvPr id="27" name="Text 20"/>
          <p:cNvSpPr txBox="1"/>
          <p:nvPr/>
        </p:nvSpPr>
        <p:spPr>
          <a:xfrm>
            <a:off x="1645920" y="4937760"/>
            <a:ext cx="9601200" cy="1005840"/>
          </a:xfrm>
          <a:prstGeom prst="rect">
            <a:avLst/>
          </a:prstGeom>
          <a:noFill/>
          <a:ln/>
        </p:spPr>
        <p:txBody>
          <a:bodyPr wrap="square" lIns="0" tIns="0" rIns="0" bIns="0" rtlCol="0" anchor="ctr"/>
          <a:lstStyle/>
          <a:p>
            <a:pPr indent="0" marL="0">
              <a:buNone/>
            </a:pPr>
            <a:r>
              <a:rPr lang="en-US" sz="1400" b="1" dirty="0">
                <a:solidFill>
                  <a:schemeClr val="bg1"/>
                </a:solidFill>
              </a:rPr>
              <a:t>Options to discuss; nothing is decided.</a:t>
            </a:r>
            <a:endParaRPr lang="en-US" sz="1400" dirty="0"/>
          </a:p>
          <a:p>
            <a:pPr indent="0" marL="0">
              <a:buNone/>
            </a:pPr>
            <a:r>
              <a:rPr lang="en-US" sz="1400" dirty="0">
                <a:solidFill>
                  <a:schemeClr val="bg1"/>
                </a:solidFill>
              </a:rPr>
              <a:t>In a new build or reform, wiring for lighting and climate devices can be planned from day one.</a:t>
            </a:r>
            <a:endParaRPr lang="en-US" sz="14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tx2"/>
                </a:solidFill>
              </a:rPr>
              <a:t>What I need to move forward</a:t>
            </a:r>
            <a:endParaRPr lang="en-US" sz="3600" dirty="0"/>
          </a:p>
        </p:txBody>
      </p:sp>
      <p:sp>
        <p:nvSpPr>
          <p:cNvPr id="3" name="Text 1"/>
          <p:cNvSpPr txBox="1"/>
          <p:nvPr/>
        </p:nvSpPr>
        <p:spPr>
          <a:xfrm>
            <a:off x="548640" y="1463040"/>
            <a:ext cx="5669280" cy="365760"/>
          </a:xfrm>
          <a:prstGeom prst="rect">
            <a:avLst/>
          </a:prstGeom>
          <a:noFill/>
          <a:ln/>
        </p:spPr>
        <p:txBody>
          <a:bodyPr wrap="square" lIns="0" tIns="0" rIns="0" bIns="0" rtlCol="0" anchor="t"/>
          <a:lstStyle/>
          <a:p>
            <a:pPr indent="0" marL="0">
              <a:buNone/>
            </a:pPr>
            <a:r>
              <a:rPr lang="en-US" sz="2000" b="1" dirty="0">
                <a:solidFill>
                  <a:schemeClr val="tx2"/>
                </a:solidFill>
              </a:rPr>
              <a:t>Three asks</a:t>
            </a:r>
            <a:endParaRPr lang="en-US" sz="2000" dirty="0"/>
          </a:p>
        </p:txBody>
      </p:sp>
      <p:sp>
        <p:nvSpPr>
          <p:cNvPr id="4" name="card-276"/>
          <p:cNvSpPr/>
          <p:nvPr/>
        </p:nvSpPr>
        <p:spPr>
          <a:xfrm>
            <a:off x="548640" y="2011680"/>
            <a:ext cx="5669280" cy="1143000"/>
          </a:xfrm>
          <a:prstGeom prst="roundRect">
            <a:avLst>
              <a:gd name="adj" fmla="val 9600"/>
            </a:avLst>
          </a:prstGeom>
          <a:solidFill>
            <a:schemeClr val="bg2"/>
          </a:solidFill>
          <a:ln/>
        </p:spPr>
      </p:sp>
      <p:sp>
        <p:nvSpPr>
          <p:cNvPr id="5" name="badge-277"/>
          <p:cNvSpPr txBox="1"/>
          <p:nvPr/>
        </p:nvSpPr>
        <p:spPr>
          <a:xfrm>
            <a:off x="777240" y="230886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554480" y="2148840"/>
            <a:ext cx="4480560" cy="365760"/>
          </a:xfrm>
          <a:prstGeom prst="rect">
            <a:avLst/>
          </a:prstGeom>
          <a:noFill/>
          <a:ln/>
        </p:spPr>
        <p:txBody>
          <a:bodyPr wrap="square" lIns="0" tIns="0" rIns="0" bIns="0" rtlCol="0" anchor="t"/>
          <a:lstStyle/>
          <a:p>
            <a:pPr indent="0" marL="0">
              <a:buNone/>
            </a:pPr>
            <a:r>
              <a:rPr lang="en-US" sz="1800" b="1" dirty="0">
                <a:solidFill>
                  <a:schemeClr val="tx2"/>
                </a:solidFill>
              </a:rPr>
              <a:t>Agreement to proceed</a:t>
            </a:r>
            <a:endParaRPr lang="en-US" sz="1800" dirty="0"/>
          </a:p>
        </p:txBody>
      </p:sp>
      <p:sp>
        <p:nvSpPr>
          <p:cNvPr id="7" name="Text 5"/>
          <p:cNvSpPr txBox="1"/>
          <p:nvPr/>
        </p:nvSpPr>
        <p:spPr>
          <a:xfrm>
            <a:off x="1554480" y="2560320"/>
            <a:ext cx="4480560" cy="548640"/>
          </a:xfrm>
          <a:prstGeom prst="rect">
            <a:avLst/>
          </a:prstGeom>
          <a:noFill/>
          <a:ln/>
        </p:spPr>
        <p:txBody>
          <a:bodyPr wrap="square" lIns="0" tIns="0" rIns="0" bIns="0" rtlCol="0" anchor="t"/>
          <a:lstStyle/>
          <a:p>
            <a:pPr indent="0" marL="0">
              <a:buNone/>
            </a:pPr>
            <a:r>
              <a:rPr lang="en-US" sz="1400" dirty="0">
                <a:solidFill>
                  <a:schemeClr val="tx1"/>
                </a:solidFill>
              </a:rPr>
              <a:t>A clear go-ahead to build toward the proposal.</a:t>
            </a:r>
            <a:endParaRPr lang="en-US" sz="1400" dirty="0"/>
          </a:p>
        </p:txBody>
      </p:sp>
      <p:sp>
        <p:nvSpPr>
          <p:cNvPr id="8" name="card-278"/>
          <p:cNvSpPr/>
          <p:nvPr/>
        </p:nvSpPr>
        <p:spPr>
          <a:xfrm>
            <a:off x="548640" y="3337560"/>
            <a:ext cx="5669280" cy="1143000"/>
          </a:xfrm>
          <a:prstGeom prst="roundRect">
            <a:avLst>
              <a:gd name="adj" fmla="val 9600"/>
            </a:avLst>
          </a:prstGeom>
          <a:solidFill>
            <a:schemeClr val="bg2"/>
          </a:solidFill>
          <a:ln/>
        </p:spPr>
      </p:sp>
      <p:sp>
        <p:nvSpPr>
          <p:cNvPr id="9" name="badge-279"/>
          <p:cNvSpPr txBox="1"/>
          <p:nvPr/>
        </p:nvSpPr>
        <p:spPr>
          <a:xfrm>
            <a:off x="777240" y="363474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554480" y="3474720"/>
            <a:ext cx="4480560" cy="365760"/>
          </a:xfrm>
          <a:prstGeom prst="rect">
            <a:avLst/>
          </a:prstGeom>
          <a:noFill/>
          <a:ln/>
        </p:spPr>
        <p:txBody>
          <a:bodyPr wrap="square" lIns="0" tIns="0" rIns="0" bIns="0" rtlCol="0" anchor="t"/>
          <a:lstStyle/>
          <a:p>
            <a:pPr indent="0" marL="0">
              <a:buNone/>
            </a:pPr>
            <a:r>
              <a:rPr lang="en-US" sz="1800" b="1" dirty="0">
                <a:solidFill>
                  <a:schemeClr val="tx2"/>
                </a:solidFill>
              </a:rPr>
              <a:t>Initial coverage of expenses</a:t>
            </a:r>
            <a:endParaRPr lang="en-US" sz="1800" dirty="0"/>
          </a:p>
        </p:txBody>
      </p:sp>
      <p:sp>
        <p:nvSpPr>
          <p:cNvPr id="11" name="Text 9"/>
          <p:cNvSpPr txBox="1"/>
          <p:nvPr/>
        </p:nvSpPr>
        <p:spPr>
          <a:xfrm>
            <a:off x="1554480" y="3886200"/>
            <a:ext cx="4480560" cy="548640"/>
          </a:xfrm>
          <a:prstGeom prst="rect">
            <a:avLst/>
          </a:prstGeom>
          <a:noFill/>
          <a:ln/>
        </p:spPr>
        <p:txBody>
          <a:bodyPr wrap="square" lIns="0" tIns="0" rIns="0" bIns="0" rtlCol="0" anchor="t"/>
          <a:lstStyle/>
          <a:p>
            <a:pPr indent="0" marL="0">
              <a:buNone/>
            </a:pPr>
            <a:r>
              <a:rPr lang="en-US" sz="1400" dirty="0">
                <a:solidFill>
                  <a:schemeClr val="tx1"/>
                </a:solidFill>
              </a:rPr>
              <a:t>AWS, Claude Code and Perplexity.</a:t>
            </a:r>
            <a:endParaRPr lang="en-US" sz="1400" dirty="0"/>
          </a:p>
        </p:txBody>
      </p:sp>
      <p:sp>
        <p:nvSpPr>
          <p:cNvPr id="12" name="card-280"/>
          <p:cNvSpPr/>
          <p:nvPr/>
        </p:nvSpPr>
        <p:spPr>
          <a:xfrm>
            <a:off x="548640" y="4663440"/>
            <a:ext cx="5669280" cy="1143000"/>
          </a:xfrm>
          <a:prstGeom prst="roundRect">
            <a:avLst>
              <a:gd name="adj" fmla="val 9600"/>
            </a:avLst>
          </a:prstGeom>
          <a:solidFill>
            <a:schemeClr val="bg2"/>
          </a:solidFill>
          <a:ln/>
        </p:spPr>
      </p:sp>
      <p:sp>
        <p:nvSpPr>
          <p:cNvPr id="13" name="badge-281"/>
          <p:cNvSpPr txBox="1"/>
          <p:nvPr/>
        </p:nvSpPr>
        <p:spPr>
          <a:xfrm>
            <a:off x="777240" y="496062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554480" y="4800600"/>
            <a:ext cx="4480560" cy="365760"/>
          </a:xfrm>
          <a:prstGeom prst="rect">
            <a:avLst/>
          </a:prstGeom>
          <a:noFill/>
          <a:ln/>
        </p:spPr>
        <p:txBody>
          <a:bodyPr wrap="square" lIns="0" tIns="0" rIns="0" bIns="0" rtlCol="0" anchor="t"/>
          <a:lstStyle/>
          <a:p>
            <a:pPr indent="0" marL="0">
              <a:buNone/>
            </a:pPr>
            <a:r>
              <a:rPr lang="en-US" sz="1800" b="1" dirty="0">
                <a:solidFill>
                  <a:schemeClr val="tx2"/>
                </a:solidFill>
              </a:rPr>
              <a:t>Weekly access to a visionary</a:t>
            </a:r>
            <a:endParaRPr lang="en-US" sz="1800" dirty="0"/>
          </a:p>
        </p:txBody>
      </p:sp>
      <p:sp>
        <p:nvSpPr>
          <p:cNvPr id="15" name="Text 13"/>
          <p:cNvSpPr txBox="1"/>
          <p:nvPr/>
        </p:nvSpPr>
        <p:spPr>
          <a:xfrm>
            <a:off x="1554480" y="5212080"/>
            <a:ext cx="4480560" cy="548640"/>
          </a:xfrm>
          <a:prstGeom prst="rect">
            <a:avLst/>
          </a:prstGeom>
          <a:noFill/>
          <a:ln/>
        </p:spPr>
        <p:txBody>
          <a:bodyPr wrap="square" lIns="0" tIns="0" rIns="0" bIns="0" rtlCol="0" anchor="t"/>
          <a:lstStyle/>
          <a:p>
            <a:pPr indent="0" marL="0">
              <a:buNone/>
            </a:pPr>
            <a:r>
              <a:rPr lang="en-US" sz="1400" dirty="0">
                <a:solidFill>
                  <a:schemeClr val="tx1"/>
                </a:solidFill>
              </a:rPr>
              <a:t>David or another person to bounce ideas off and give creative direction.</a:t>
            </a:r>
            <a:endParaRPr lang="en-US" sz="1400" dirty="0"/>
          </a:p>
        </p:txBody>
      </p:sp>
      <p:sp>
        <p:nvSpPr>
          <p:cNvPr id="16" name="card-282"/>
          <p:cNvSpPr/>
          <p:nvPr/>
        </p:nvSpPr>
        <p:spPr>
          <a:xfrm>
            <a:off x="6492240" y="1463040"/>
            <a:ext cx="5148072" cy="4480560"/>
          </a:xfrm>
          <a:prstGeom prst="roundRect">
            <a:avLst>
              <a:gd name="adj" fmla="val 2449"/>
            </a:avLst>
          </a:prstGeom>
          <a:solidFill>
            <a:schemeClr val="tx2"/>
          </a:solidFill>
          <a:ln/>
        </p:spPr>
      </p:sp>
      <p:sp>
        <p:nvSpPr>
          <p:cNvPr id="17" name="Text 15"/>
          <p:cNvSpPr txBox="1"/>
          <p:nvPr/>
        </p:nvSpPr>
        <p:spPr>
          <a:xfrm>
            <a:off x="6766560" y="1645920"/>
            <a:ext cx="4572000" cy="457200"/>
          </a:xfrm>
          <a:prstGeom prst="rect">
            <a:avLst/>
          </a:prstGeom>
          <a:noFill/>
          <a:ln/>
        </p:spPr>
        <p:txBody>
          <a:bodyPr wrap="square" lIns="0" tIns="0" rIns="0" bIns="0" rtlCol="0" anchor="t"/>
          <a:lstStyle/>
          <a:p>
            <a:pPr indent="0" marL="0">
              <a:buNone/>
            </a:pPr>
            <a:r>
              <a:rPr lang="en-US" sz="2000" b="1" dirty="0">
                <a:solidFill>
                  <a:schemeClr val="bg1"/>
                </a:solidFill>
              </a:rPr>
              <a:t>To settle with David</a:t>
            </a:r>
            <a:endParaRPr lang="en-US" sz="2000" dirty="0"/>
          </a:p>
        </p:txBody>
      </p:sp>
      <p:sp>
        <p:nvSpPr>
          <p:cNvPr id="18" name="Text 16"/>
          <p:cNvSpPr txBox="1"/>
          <p:nvPr/>
        </p:nvSpPr>
        <p:spPr>
          <a:xfrm>
            <a:off x="6766560" y="2286000"/>
            <a:ext cx="457200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Who owns the product: me, David or a partnership?</a:t>
            </a:r>
            <a:endParaRPr lang="en-US" sz="1600" dirty="0"/>
          </a:p>
          <a:p>
            <a:pPr marL="342900" indent="-342900">
              <a:spcAft>
                <a:spcPts val="800"/>
              </a:spcAft>
              <a:buSzPct val="100000"/>
              <a:buChar char="•"/>
            </a:pPr>
            <a:r>
              <a:rPr lang="en-US" sz="1600" dirty="0">
                <a:solidFill>
                  <a:schemeClr val="bg1"/>
                </a:solidFill>
              </a:rPr>
              <a:t>How is it funded: 100% funding, a hired helper, or pay per user added?</a:t>
            </a:r>
            <a:endParaRPr lang="en-US" sz="1600" dirty="0"/>
          </a:p>
          <a:p>
            <a:pPr marL="342900" indent="-342900">
              <a:spcAft>
                <a:spcPts val="800"/>
              </a:spcAft>
              <a:buSzPct val="100000"/>
              <a:buChar char="•"/>
            </a:pPr>
            <a:r>
              <a:rPr lang="en-US" sz="1600" dirty="0">
                <a:solidFill>
                  <a:schemeClr val="bg1"/>
                </a:solidFill>
              </a:rPr>
              <a:t>How is my work compensated?</a:t>
            </a:r>
            <a:endParaRPr lang="en-US" sz="1600" dirty="0"/>
          </a:p>
          <a:p>
            <a:pPr marL="342900" indent="-342900">
              <a:spcAft>
                <a:spcPts val="800"/>
              </a:spcAft>
              <a:buSzPct val="100000"/>
              <a:buChar char="•"/>
            </a:pPr>
            <a:r>
              <a:rPr lang="en-US" sz="1600" dirty="0">
                <a:solidFill>
                  <a:schemeClr val="bg1"/>
                </a:solidFill>
              </a:rPr>
              <a:t>How many homes a year does he build or reform, and which can be pilots?</a:t>
            </a:r>
            <a:endParaRPr lang="en-US" sz="1600" dirty="0"/>
          </a:p>
          <a:p>
            <a:pPr marL="342900" indent="-342900">
              <a:buSzPct val="100000"/>
              <a:buChar char="•"/>
            </a:pPr>
            <a:r>
              <a:rPr lang="en-US" sz="1600" dirty="0">
                <a:solidFill>
                  <a:schemeClr val="bg1"/>
                </a:solidFill>
              </a:rPr>
              <a:t>Who holds the intellectual property? The code is open source (AGPL-3.0); a separate commercial license is an option to discuss</a:t>
            </a:r>
            <a:endParaRPr lang="en-US" sz="16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766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600" b="1" dirty="0">
                <a:solidFill>
                  <a:schemeClr val="bg1"/>
                </a:solidFill>
              </a:rPr>
              <a:t>Next steps</a:t>
            </a:r>
            <a:endParaRPr lang="en-US" sz="3600" dirty="0"/>
          </a:p>
        </p:txBody>
      </p:sp>
      <p:sp>
        <p:nvSpPr>
          <p:cNvPr id="3" name="badge-283"/>
          <p:cNvSpPr txBox="1"/>
          <p:nvPr/>
        </p:nvSpPr>
        <p:spPr>
          <a:xfrm>
            <a:off x="548640" y="173736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Text 2"/>
          <p:cNvSpPr txBox="1"/>
          <p:nvPr/>
        </p:nvSpPr>
        <p:spPr>
          <a:xfrm>
            <a:off x="1554480" y="1737360"/>
            <a:ext cx="9601200" cy="640080"/>
          </a:xfrm>
          <a:prstGeom prst="rect">
            <a:avLst/>
          </a:prstGeom>
          <a:noFill/>
          <a:ln/>
        </p:spPr>
        <p:txBody>
          <a:bodyPr wrap="square" lIns="0" tIns="0" rIns="0" bIns="0" rtlCol="0" anchor="ctr"/>
          <a:lstStyle/>
          <a:p>
            <a:pPr indent="0" marL="0">
              <a:buNone/>
            </a:pPr>
            <a:r>
              <a:rPr lang="en-US" sz="2000" dirty="0">
                <a:solidFill>
                  <a:schemeClr val="bg1"/>
                </a:solidFill>
              </a:rPr>
              <a:t>Settle the partnership model with David</a:t>
            </a:r>
            <a:endParaRPr lang="en-US" sz="2000" dirty="0"/>
          </a:p>
        </p:txBody>
      </p:sp>
      <p:sp>
        <p:nvSpPr>
          <p:cNvPr id="5" name="badge-284"/>
          <p:cNvSpPr txBox="1"/>
          <p:nvPr/>
        </p:nvSpPr>
        <p:spPr>
          <a:xfrm>
            <a:off x="548640" y="283464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6" name="Text 4"/>
          <p:cNvSpPr txBox="1"/>
          <p:nvPr/>
        </p:nvSpPr>
        <p:spPr>
          <a:xfrm>
            <a:off x="1554480" y="2834640"/>
            <a:ext cx="9601200" cy="640080"/>
          </a:xfrm>
          <a:prstGeom prst="rect">
            <a:avLst/>
          </a:prstGeom>
          <a:noFill/>
          <a:ln/>
        </p:spPr>
        <p:txBody>
          <a:bodyPr wrap="square" lIns="0" tIns="0" rIns="0" bIns="0" rtlCol="0" anchor="ctr"/>
          <a:lstStyle/>
          <a:p>
            <a:pPr indent="0" marL="0">
              <a:buNone/>
            </a:pPr>
            <a:r>
              <a:rPr lang="en-US" sz="2000" dirty="0">
                <a:solidFill>
                  <a:schemeClr val="bg1"/>
                </a:solidFill>
              </a:rPr>
              <a:t>Agree the initial expenses and start the weekly sessions</a:t>
            </a:r>
            <a:endParaRPr lang="en-US" sz="2000" dirty="0"/>
          </a:p>
        </p:txBody>
      </p:sp>
      <p:sp>
        <p:nvSpPr>
          <p:cNvPr id="7" name="badge-285"/>
          <p:cNvSpPr txBox="1"/>
          <p:nvPr/>
        </p:nvSpPr>
        <p:spPr>
          <a:xfrm>
            <a:off x="548640" y="393192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8" name="Text 6"/>
          <p:cNvSpPr txBox="1"/>
          <p:nvPr/>
        </p:nvSpPr>
        <p:spPr>
          <a:xfrm>
            <a:off x="1554480" y="3931920"/>
            <a:ext cx="9601200" cy="640080"/>
          </a:xfrm>
          <a:prstGeom prst="rect">
            <a:avLst/>
          </a:prstGeom>
          <a:noFill/>
          <a:ln/>
        </p:spPr>
        <p:txBody>
          <a:bodyPr wrap="square" lIns="0" tIns="0" rIns="0" bIns="0" rtlCol="0" anchor="ctr"/>
          <a:lstStyle/>
          <a:p>
            <a:pPr indent="0" marL="0">
              <a:buNone/>
            </a:pPr>
            <a:r>
              <a:rPr lang="en-US" sz="2000" dirty="0">
                <a:solidFill>
                  <a:schemeClr val="bg1"/>
                </a:solidFill>
              </a:rPr>
              <a:t>Verify the competitor details and build the per-home cost model</a:t>
            </a:r>
            <a:endParaRPr lang="en-US" sz="2000" dirty="0"/>
          </a:p>
        </p:txBody>
      </p:sp>
      <p:sp>
        <p:nvSpPr>
          <p:cNvPr id="9" name="badge-286"/>
          <p:cNvSpPr txBox="1"/>
          <p:nvPr/>
        </p:nvSpPr>
        <p:spPr>
          <a:xfrm>
            <a:off x="548640" y="5029200"/>
            <a:ext cx="640080" cy="64008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0" name="Text 8"/>
          <p:cNvSpPr txBox="1"/>
          <p:nvPr/>
        </p:nvSpPr>
        <p:spPr>
          <a:xfrm>
            <a:off x="1554480" y="5029200"/>
            <a:ext cx="9601200" cy="640080"/>
          </a:xfrm>
          <a:prstGeom prst="rect">
            <a:avLst/>
          </a:prstGeom>
          <a:noFill/>
          <a:ln/>
        </p:spPr>
        <p:txBody>
          <a:bodyPr wrap="square" lIns="0" tIns="0" rIns="0" bIns="0" rtlCol="0" anchor="ctr"/>
          <a:lstStyle/>
          <a:p>
            <a:pPr indent="0" marL="0">
              <a:buNone/>
            </a:pPr>
            <a:r>
              <a:rPr lang="en-US" sz="2000" dirty="0">
                <a:solidFill>
                  <a:schemeClr val="bg1"/>
                </a:solidFill>
              </a:rPr>
              <a:t>Define the small known customer base for the first rollout</a:t>
            </a:r>
            <a:endParaRPr lang="en-US" sz="2000" dirty="0"/>
          </a:p>
        </p:txBody>
      </p:sp>
      <p:sp>
        <p:nvSpPr>
          <p:cNvPr id="25" name="Slide Number Placeholder 0"/>
          <p:cNvSpPr>
            <a:spLocks noGrp="1"/>
          </p:cNvSpPr>
          <p:nvPr>
            <p:ph type="sldNum" sz="quarter" idx="4294967295"/>
          </p:nvPr>
        </p:nvSpPr>
        <p:spPr>
          <a:xfrm>
            <a:off x="11155680" y="644652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7C4B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Home Brain">
  <a:themeElements>
    <a:clrScheme name="Home Brain">
      <a:dk1>
        <a:srgbClr val="1B2B2A"/>
      </a:dk1>
      <a:lt1>
        <a:srgbClr val="FFFFFF"/>
      </a:lt1>
      <a:dk2>
        <a:srgbClr val="1D3B3A"/>
      </a:dk2>
      <a:lt2>
        <a:srgbClr val="EDF3F1"/>
      </a:lt2>
      <a:accent1>
        <a:srgbClr val="C4532F"/>
      </a:accent1>
      <a:accent2>
        <a:srgbClr val="2F7F76"/>
      </a:accent2>
      <a:accent3>
        <a:srgbClr val="A7C4B5"/>
      </a:accent3>
      <a:accent4>
        <a:srgbClr val="E3A857"/>
      </a:accent4>
      <a:accent5>
        <a:srgbClr val="56766F"/>
      </a:accent5>
      <a:accent6>
        <a:srgbClr val="8C4A3A"/>
      </a:accent6>
      <a:hlink>
        <a:srgbClr val="2F7F76"/>
      </a:hlink>
      <a:folHlink>
        <a:srgbClr val="56766F"/>
      </a:folHlink>
    </a:clrScheme>
    <a:fontScheme name="Home Br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evolving-ai-mind: household assistant proposal (draft v1)</dc:title>
  <dc:subject>PptxGenJS Presentation</dc:subject>
  <dc:creator>Javea Guiri</dc:creator>
  <cp:lastModifiedBy>Javea Guiri</cp:lastModifiedBy>
  <cp:revision>1</cp:revision>
  <dcterms:created xsi:type="dcterms:W3CDTF">2026-10-06T10:15:09Z</dcterms:created>
  <dcterms:modified xsi:type="dcterms:W3CDTF">2026-10-06T10:15:09Z</dcterms:modified>
</cp:coreProperties>
</file>